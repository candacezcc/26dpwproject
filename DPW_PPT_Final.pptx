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87" r:id="rId4"/>
    <p:sldId id="258" r:id="rId5"/>
    <p:sldId id="259" r:id="rId6"/>
    <p:sldId id="260" r:id="rId7"/>
    <p:sldId id="261" r:id="rId8"/>
    <p:sldId id="280" r:id="rId9"/>
    <p:sldId id="284" r:id="rId10"/>
    <p:sldId id="285" r:id="rId11"/>
    <p:sldId id="286" r:id="rId12"/>
    <p:sldId id="265" r:id="rId13"/>
    <p:sldId id="276" r:id="rId14"/>
    <p:sldId id="277" r:id="rId15"/>
    <p:sldId id="278" r:id="rId16"/>
    <p:sldId id="279" r:id="rId17"/>
    <p:sldId id="282" r:id="rId18"/>
    <p:sldId id="268" r:id="rId19"/>
    <p:sldId id="269" r:id="rId20"/>
    <p:sldId id="270" r:id="rId21"/>
    <p:sldId id="271" r:id="rId22"/>
    <p:sldId id="281" r:id="rId23"/>
    <p:sldId id="273" r:id="rId24"/>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8" userDrawn="1">
          <p15:clr>
            <a:srgbClr val="A4A3A4"/>
          </p15:clr>
        </p15:guide>
        <p15:guide id="2" pos="283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98"/>
        <p:guide pos="2836"/>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4.png"/><Relationship Id="rId3"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5.jpeg"/><Relationship Id="rId3"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6.jpeg"/><Relationship Id="rId3" Type="http://schemas.openxmlformats.org/officeDocument/2006/relationships/image" Target="../media/image7.jpeg"/><Relationship Id="rId4"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8.jpeg"/><Relationship Id="rId3" Type="http://schemas.openxmlformats.org/officeDocument/2006/relationships/image" Target="../media/image9.jpeg"/><Relationship Id="rId4" Type="http://schemas.openxmlformats.org/officeDocument/2006/relationships/image" Target="../media/image10.jpeg"/><Relationship Id="rId5"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27.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image" Target="../media/image35.png"/><Relationship Id="rId2"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image" Target="../media/image36.png"/><Relationship Id="rId2"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44.png"/><Relationship Id="rId10" Type="http://schemas.openxmlformats.org/officeDocument/2006/relationships/image" Target="../media/image45.png"/><Relationship Id="rId1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46.png"/><Relationship Id="rId3"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p:pic>
        <p:nvPicPr>
          <p:cNvPr id="24" name="图片 23"/>
          <p:cNvPicPr>
            <a:picLocks noChangeAspect="1"/>
          </p:cNvPicPr>
          <p:nvPr/>
        </p:nvPicPr>
        <p:blipFill>
          <a:blip r:embed="rId1"/>
          <a:stretch>
            <a:fillRect/>
          </a:stretch>
        </p:blipFill>
        <p:spPr>
          <a:xfrm>
            <a:off x="-540" y="-317"/>
            <a:ext cx="12216782" cy="6858305"/>
          </a:xfrm>
          <a:prstGeom prst="rect">
            <a:avLst/>
          </a:prstGeom>
        </p:spPr>
      </p:pic>
      <p:sp>
        <p:nvSpPr>
          <p:cNvPr id="2" name="TextBox 1"/>
          <p:cNvSpPr txBox="1"/>
          <p:nvPr/>
        </p:nvSpPr>
        <p:spPr>
          <a:xfrm>
            <a:off x="685800" y="502920"/>
            <a:ext cx="5303520" cy="228600"/>
          </a:xfrm>
          <a:prstGeom prst="rect">
            <a:avLst/>
          </a:prstGeom>
          <a:noFill/>
        </p:spPr>
        <p:txBody>
          <a:bodyPr wrap="none" lIns="0" tIns="0" rIns="0" bIns="0">
            <a:spAutoFit/>
          </a:bodyPr>
          <a:lstStyle/>
          <a:p>
            <a:pPr algn="l"/>
            <a:r>
              <a:rPr sz="1000" b="1">
                <a:solidFill>
                  <a:srgbClr val="3B82F6"/>
                </a:solidFill>
                <a:latin typeface="Arial" panose="020B0604020202020204"/>
              </a:rPr>
              <a:t>26DPWPROJECT · FINAL PRESENTATION</a:t>
            </a:r>
            <a:endParaRPr sz="1000" b="1">
              <a:solidFill>
                <a:srgbClr val="3B82F6"/>
              </a:solidFill>
              <a:latin typeface="Arial" panose="020B0604020202020204"/>
            </a:endParaRPr>
          </a:p>
        </p:txBody>
      </p:sp>
      <p:sp>
        <p:nvSpPr>
          <p:cNvPr id="3" name="TextBox 2"/>
          <p:cNvSpPr txBox="1"/>
          <p:nvPr/>
        </p:nvSpPr>
        <p:spPr>
          <a:xfrm>
            <a:off x="685800" y="1143000"/>
            <a:ext cx="6858000" cy="1417320"/>
          </a:xfrm>
          <a:prstGeom prst="rect">
            <a:avLst/>
          </a:prstGeom>
          <a:noFill/>
        </p:spPr>
        <p:txBody>
          <a:bodyPr wrap="none" lIns="0" tIns="0" rIns="0" bIns="0">
            <a:spAutoFit/>
          </a:bodyPr>
          <a:lstStyle/>
          <a:p>
            <a:pPr algn="l"/>
            <a:r>
              <a:rPr sz="3900" b="1">
                <a:solidFill>
                  <a:srgbClr val="F2F6FF"/>
                </a:solidFill>
                <a:latin typeface="Arial" panose="020B0604020202020204"/>
              </a:rPr>
              <a:t>TMDB Movie Analytics
Dashboard</a:t>
            </a:r>
            <a:endParaRPr sz="3900" b="1">
              <a:solidFill>
                <a:srgbClr val="F2F6FF"/>
              </a:solidFill>
              <a:latin typeface="Arial" panose="020B0604020202020204"/>
            </a:endParaRPr>
          </a:p>
        </p:txBody>
      </p:sp>
      <p:sp>
        <p:nvSpPr>
          <p:cNvPr id="5" name="Rectangle 4"/>
          <p:cNvSpPr/>
          <p:nvPr/>
        </p:nvSpPr>
        <p:spPr>
          <a:xfrm>
            <a:off x="731520" y="3977639"/>
            <a:ext cx="2148840" cy="1051560"/>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4123944"/>
            <a:ext cx="1819656" cy="201168"/>
          </a:xfrm>
          <a:prstGeom prst="rect">
            <a:avLst/>
          </a:prstGeom>
          <a:noFill/>
        </p:spPr>
        <p:txBody>
          <a:bodyPr wrap="none" lIns="0" tIns="0" rIns="0" bIns="0">
            <a:spAutoFit/>
          </a:bodyPr>
          <a:lstStyle/>
          <a:p>
            <a:pPr algn="l"/>
            <a:r>
              <a:rPr sz="800" b="1">
                <a:solidFill>
                  <a:srgbClr val="9AA9BD"/>
                </a:solidFill>
                <a:latin typeface="Arial" panose="020B0604020202020204"/>
              </a:rPr>
              <a:t>DATASET</a:t>
            </a:r>
            <a:endParaRPr sz="800" b="1">
              <a:solidFill>
                <a:srgbClr val="9AA9BD"/>
              </a:solidFill>
              <a:latin typeface="Arial" panose="020B0604020202020204"/>
            </a:endParaRPr>
          </a:p>
        </p:txBody>
      </p:sp>
      <p:sp>
        <p:nvSpPr>
          <p:cNvPr id="7" name="TextBox 6"/>
          <p:cNvSpPr txBox="1"/>
          <p:nvPr/>
        </p:nvSpPr>
        <p:spPr>
          <a:xfrm>
            <a:off x="896112" y="4379976"/>
            <a:ext cx="1819656" cy="402336"/>
          </a:xfrm>
          <a:prstGeom prst="rect">
            <a:avLst/>
          </a:prstGeom>
          <a:noFill/>
        </p:spPr>
        <p:txBody>
          <a:bodyPr wrap="none" lIns="0" tIns="0" rIns="0" bIns="0">
            <a:spAutoFit/>
          </a:bodyPr>
          <a:lstStyle/>
          <a:p>
            <a:pPr algn="l"/>
            <a:r>
              <a:rPr sz="2200" b="1">
                <a:solidFill>
                  <a:srgbClr val="2DD4BF"/>
                </a:solidFill>
                <a:latin typeface="Arial" panose="020B0604020202020204"/>
              </a:rPr>
              <a:t>45,346</a:t>
            </a:r>
            <a:endParaRPr sz="2200" b="1">
              <a:solidFill>
                <a:srgbClr val="2DD4BF"/>
              </a:solidFill>
              <a:latin typeface="Arial" panose="020B0604020202020204"/>
            </a:endParaRPr>
          </a:p>
        </p:txBody>
      </p:sp>
      <p:sp>
        <p:nvSpPr>
          <p:cNvPr id="8" name="TextBox 7"/>
          <p:cNvSpPr txBox="1"/>
          <p:nvPr/>
        </p:nvSpPr>
        <p:spPr>
          <a:xfrm>
            <a:off x="896112" y="4828031"/>
            <a:ext cx="1819656" cy="310896"/>
          </a:xfrm>
          <a:prstGeom prst="rect">
            <a:avLst/>
          </a:prstGeom>
          <a:noFill/>
        </p:spPr>
        <p:txBody>
          <a:bodyPr wrap="none" lIns="0" tIns="0" rIns="0" bIns="0">
            <a:spAutoFit/>
          </a:bodyPr>
          <a:lstStyle/>
          <a:p>
            <a:pPr algn="l"/>
            <a:r>
              <a:rPr sz="900" b="0">
                <a:solidFill>
                  <a:srgbClr val="9AA9BD"/>
                </a:solidFill>
                <a:latin typeface="Arial" panose="020B0604020202020204"/>
              </a:rPr>
              <a:t>analysis-ready films</a:t>
            </a:r>
            <a:endParaRPr sz="900" b="0">
              <a:solidFill>
                <a:srgbClr val="9AA9BD"/>
              </a:solidFill>
              <a:latin typeface="Arial" panose="020B0604020202020204"/>
            </a:endParaRPr>
          </a:p>
        </p:txBody>
      </p:sp>
      <p:sp>
        <p:nvSpPr>
          <p:cNvPr id="9" name="Rectangle 8"/>
          <p:cNvSpPr/>
          <p:nvPr/>
        </p:nvSpPr>
        <p:spPr>
          <a:xfrm>
            <a:off x="3154680" y="3977639"/>
            <a:ext cx="2148840" cy="1051560"/>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19272" y="4123944"/>
            <a:ext cx="1819656" cy="201168"/>
          </a:xfrm>
          <a:prstGeom prst="rect">
            <a:avLst/>
          </a:prstGeom>
          <a:noFill/>
        </p:spPr>
        <p:txBody>
          <a:bodyPr wrap="none" lIns="0" tIns="0" rIns="0" bIns="0">
            <a:spAutoFit/>
          </a:bodyPr>
          <a:lstStyle/>
          <a:p>
            <a:pPr algn="l"/>
            <a:r>
              <a:rPr sz="800" b="1">
                <a:solidFill>
                  <a:srgbClr val="9AA9BD"/>
                </a:solidFill>
                <a:latin typeface="Arial" panose="020B0604020202020204"/>
              </a:rPr>
              <a:t>FINANCIAL ROWS</a:t>
            </a:r>
            <a:endParaRPr sz="800" b="1">
              <a:solidFill>
                <a:srgbClr val="9AA9BD"/>
              </a:solidFill>
              <a:latin typeface="Arial" panose="020B0604020202020204"/>
            </a:endParaRPr>
          </a:p>
        </p:txBody>
      </p:sp>
      <p:sp>
        <p:nvSpPr>
          <p:cNvPr id="11" name="TextBox 10"/>
          <p:cNvSpPr txBox="1"/>
          <p:nvPr/>
        </p:nvSpPr>
        <p:spPr>
          <a:xfrm>
            <a:off x="3319272" y="4379976"/>
            <a:ext cx="1819656" cy="402336"/>
          </a:xfrm>
          <a:prstGeom prst="rect">
            <a:avLst/>
          </a:prstGeom>
          <a:noFill/>
        </p:spPr>
        <p:txBody>
          <a:bodyPr wrap="none" lIns="0" tIns="0" rIns="0" bIns="0">
            <a:spAutoFit/>
          </a:bodyPr>
          <a:lstStyle/>
          <a:p>
            <a:pPr algn="l"/>
            <a:r>
              <a:rPr sz="2200" b="1">
                <a:solidFill>
                  <a:srgbClr val="3B82F6"/>
                </a:solidFill>
                <a:latin typeface="Arial" panose="020B0604020202020204"/>
              </a:rPr>
              <a:t>5,375</a:t>
            </a:r>
            <a:endParaRPr sz="2200" b="1">
              <a:solidFill>
                <a:srgbClr val="3B82F6"/>
              </a:solidFill>
              <a:latin typeface="Arial" panose="020B0604020202020204"/>
            </a:endParaRPr>
          </a:p>
        </p:txBody>
      </p:sp>
      <p:sp>
        <p:nvSpPr>
          <p:cNvPr id="12" name="TextBox 11"/>
          <p:cNvSpPr txBox="1"/>
          <p:nvPr/>
        </p:nvSpPr>
        <p:spPr>
          <a:xfrm>
            <a:off x="3319272" y="4828031"/>
            <a:ext cx="1819656" cy="310896"/>
          </a:xfrm>
          <a:prstGeom prst="rect">
            <a:avLst/>
          </a:prstGeom>
          <a:noFill/>
        </p:spPr>
        <p:txBody>
          <a:bodyPr wrap="none" lIns="0" tIns="0" rIns="0" bIns="0">
            <a:spAutoFit/>
          </a:bodyPr>
          <a:lstStyle/>
          <a:p>
            <a:pPr algn="l"/>
            <a:r>
              <a:rPr sz="900" b="0">
                <a:solidFill>
                  <a:srgbClr val="9AA9BD"/>
                </a:solidFill>
                <a:latin typeface="Arial" panose="020B0604020202020204"/>
              </a:rPr>
              <a:t>budget + revenue</a:t>
            </a:r>
            <a:endParaRPr sz="900" b="0">
              <a:solidFill>
                <a:srgbClr val="9AA9BD"/>
              </a:solidFill>
              <a:latin typeface="Arial" panose="020B0604020202020204"/>
            </a:endParaRPr>
          </a:p>
        </p:txBody>
      </p:sp>
      <p:sp>
        <p:nvSpPr>
          <p:cNvPr id="13" name="Rectangle 12"/>
          <p:cNvSpPr/>
          <p:nvPr/>
        </p:nvSpPr>
        <p:spPr>
          <a:xfrm>
            <a:off x="5577840" y="3977639"/>
            <a:ext cx="2148840" cy="1051560"/>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42431" y="4123944"/>
            <a:ext cx="1819656" cy="201168"/>
          </a:xfrm>
          <a:prstGeom prst="rect">
            <a:avLst/>
          </a:prstGeom>
          <a:noFill/>
        </p:spPr>
        <p:txBody>
          <a:bodyPr wrap="none" lIns="0" tIns="0" rIns="0" bIns="0">
            <a:spAutoFit/>
          </a:bodyPr>
          <a:lstStyle/>
          <a:p>
            <a:pPr algn="l"/>
            <a:r>
              <a:rPr sz="800" b="1">
                <a:solidFill>
                  <a:srgbClr val="9AA9BD"/>
                </a:solidFill>
                <a:latin typeface="Arial" panose="020B0604020202020204"/>
              </a:rPr>
              <a:t>VIEWS</a:t>
            </a:r>
            <a:endParaRPr sz="800" b="1">
              <a:solidFill>
                <a:srgbClr val="9AA9BD"/>
              </a:solidFill>
              <a:latin typeface="Arial" panose="020B0604020202020204"/>
            </a:endParaRPr>
          </a:p>
        </p:txBody>
      </p:sp>
      <p:sp>
        <p:nvSpPr>
          <p:cNvPr id="15" name="TextBox 14"/>
          <p:cNvSpPr txBox="1"/>
          <p:nvPr/>
        </p:nvSpPr>
        <p:spPr>
          <a:xfrm>
            <a:off x="5742431" y="4379976"/>
            <a:ext cx="1819656" cy="402336"/>
          </a:xfrm>
          <a:prstGeom prst="rect">
            <a:avLst/>
          </a:prstGeom>
          <a:noFill/>
        </p:spPr>
        <p:txBody>
          <a:bodyPr wrap="none" lIns="0" tIns="0" rIns="0" bIns="0">
            <a:spAutoFit/>
          </a:bodyPr>
          <a:lstStyle/>
          <a:p>
            <a:pPr algn="l"/>
            <a:r>
              <a:rPr sz="2200" b="1">
                <a:solidFill>
                  <a:srgbClr val="A855F7"/>
                </a:solidFill>
                <a:latin typeface="Arial" panose="020B0604020202020204"/>
              </a:rPr>
              <a:t>8</a:t>
            </a:r>
            <a:endParaRPr sz="2200" b="1">
              <a:solidFill>
                <a:srgbClr val="A855F7"/>
              </a:solidFill>
              <a:latin typeface="Arial" panose="020B0604020202020204"/>
            </a:endParaRPr>
          </a:p>
        </p:txBody>
      </p:sp>
      <p:sp>
        <p:nvSpPr>
          <p:cNvPr id="16" name="TextBox 15"/>
          <p:cNvSpPr txBox="1"/>
          <p:nvPr/>
        </p:nvSpPr>
        <p:spPr>
          <a:xfrm>
            <a:off x="5742431" y="4828031"/>
            <a:ext cx="1819656" cy="310896"/>
          </a:xfrm>
          <a:prstGeom prst="rect">
            <a:avLst/>
          </a:prstGeom>
          <a:noFill/>
        </p:spPr>
        <p:txBody>
          <a:bodyPr wrap="none" lIns="0" tIns="0" rIns="0" bIns="0">
            <a:spAutoFit/>
          </a:bodyPr>
          <a:lstStyle/>
          <a:p>
            <a:pPr algn="l"/>
            <a:r>
              <a:rPr sz="900" b="0">
                <a:solidFill>
                  <a:srgbClr val="9AA9BD"/>
                </a:solidFill>
                <a:latin typeface="Arial" panose="020B0604020202020204"/>
              </a:rPr>
              <a:t>dashboard sections</a:t>
            </a:r>
            <a:endParaRPr sz="900" b="0">
              <a:solidFill>
                <a:srgbClr val="9AA9BD"/>
              </a:solidFill>
              <a:latin typeface="Arial" panose="020B0604020202020204"/>
            </a:endParaRPr>
          </a:p>
        </p:txBody>
      </p:sp>
      <p:sp>
        <p:nvSpPr>
          <p:cNvPr id="17" name="Rectangle 16"/>
          <p:cNvSpPr/>
          <p:nvPr/>
        </p:nvSpPr>
        <p:spPr>
          <a:xfrm>
            <a:off x="8001000" y="3977639"/>
            <a:ext cx="2148840" cy="1051560"/>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65592" y="4123944"/>
            <a:ext cx="1819656" cy="201168"/>
          </a:xfrm>
          <a:prstGeom prst="rect">
            <a:avLst/>
          </a:prstGeom>
          <a:noFill/>
        </p:spPr>
        <p:txBody>
          <a:bodyPr wrap="none" lIns="0" tIns="0" rIns="0" bIns="0">
            <a:spAutoFit/>
          </a:bodyPr>
          <a:lstStyle/>
          <a:p>
            <a:pPr algn="l"/>
            <a:r>
              <a:rPr sz="800" b="1">
                <a:solidFill>
                  <a:srgbClr val="9AA9BD"/>
                </a:solidFill>
                <a:latin typeface="Arial" panose="020B0604020202020204"/>
              </a:rPr>
              <a:t>DEMO</a:t>
            </a:r>
            <a:endParaRPr sz="800" b="1">
              <a:solidFill>
                <a:srgbClr val="9AA9BD"/>
              </a:solidFill>
              <a:latin typeface="Arial" panose="020B0604020202020204"/>
            </a:endParaRPr>
          </a:p>
        </p:txBody>
      </p:sp>
      <p:sp>
        <p:nvSpPr>
          <p:cNvPr id="19" name="TextBox 18"/>
          <p:cNvSpPr txBox="1"/>
          <p:nvPr/>
        </p:nvSpPr>
        <p:spPr>
          <a:xfrm>
            <a:off x="8165592" y="4379976"/>
            <a:ext cx="1819656" cy="402336"/>
          </a:xfrm>
          <a:prstGeom prst="rect">
            <a:avLst/>
          </a:prstGeom>
          <a:noFill/>
        </p:spPr>
        <p:txBody>
          <a:bodyPr wrap="none" lIns="0" tIns="0" rIns="0" bIns="0">
            <a:spAutoFit/>
          </a:bodyPr>
          <a:lstStyle/>
          <a:p>
            <a:pPr algn="l"/>
            <a:r>
              <a:rPr sz="2200" b="1">
                <a:solidFill>
                  <a:srgbClr val="FBBF24"/>
                </a:solidFill>
                <a:latin typeface="Arial" panose="020B0604020202020204"/>
              </a:rPr>
              <a:t>5 min</a:t>
            </a:r>
            <a:endParaRPr sz="2200" b="1">
              <a:solidFill>
                <a:srgbClr val="FBBF24"/>
              </a:solidFill>
              <a:latin typeface="Arial" panose="020B0604020202020204"/>
            </a:endParaRPr>
          </a:p>
        </p:txBody>
      </p:sp>
      <p:sp>
        <p:nvSpPr>
          <p:cNvPr id="20" name="TextBox 19"/>
          <p:cNvSpPr txBox="1"/>
          <p:nvPr/>
        </p:nvSpPr>
        <p:spPr>
          <a:xfrm>
            <a:off x="8165592" y="4828031"/>
            <a:ext cx="1819656" cy="310896"/>
          </a:xfrm>
          <a:prstGeom prst="rect">
            <a:avLst/>
          </a:prstGeom>
          <a:noFill/>
        </p:spPr>
        <p:txBody>
          <a:bodyPr wrap="none" lIns="0" tIns="0" rIns="0" bIns="0">
            <a:spAutoFit/>
          </a:bodyPr>
          <a:lstStyle/>
          <a:p>
            <a:pPr algn="l"/>
            <a:r>
              <a:rPr sz="900" b="0">
                <a:solidFill>
                  <a:srgbClr val="9AA9BD"/>
                </a:solidFill>
                <a:latin typeface="Arial" panose="020B0604020202020204"/>
              </a:rPr>
              <a:t>live system walkthrough</a:t>
            </a:r>
            <a:endParaRPr sz="900" b="0">
              <a:solidFill>
                <a:srgbClr val="9AA9BD"/>
              </a:solidFill>
              <a:latin typeface="Arial" panose="020B0604020202020204"/>
            </a:endParaRPr>
          </a:p>
        </p:txBody>
      </p:sp>
      <p:sp>
        <p:nvSpPr>
          <p:cNvPr id="21" name="TextBox 20"/>
          <p:cNvSpPr txBox="1"/>
          <p:nvPr/>
        </p:nvSpPr>
        <p:spPr>
          <a:xfrm>
            <a:off x="731520" y="5687568"/>
            <a:ext cx="8961120" cy="237744"/>
          </a:xfrm>
          <a:prstGeom prst="rect">
            <a:avLst/>
          </a:prstGeom>
          <a:noFill/>
        </p:spPr>
        <p:txBody>
          <a:bodyPr wrap="none" lIns="0" tIns="0" rIns="0" bIns="0">
            <a:spAutoFit/>
          </a:bodyPr>
          <a:lstStyle/>
          <a:p>
            <a:pPr algn="l"/>
            <a:r>
              <a:rPr sz="1100" b="0">
                <a:solidFill>
                  <a:srgbClr val="9AA9BD"/>
                </a:solidFill>
                <a:latin typeface="Arial" panose="020B0604020202020204"/>
              </a:rPr>
              <a:t>ZHOU Can · CHEN Ziming · DAI Ling · LIAO Shuaiyu · PAN Meihao · ZHU Junyu</a:t>
            </a:r>
            <a:endParaRPr sz="1100" b="0">
              <a:solidFill>
                <a:srgbClr val="9AA9BD"/>
              </a:solidFill>
              <a:latin typeface="Arial" panose="020B0604020202020204"/>
            </a:endParaRPr>
          </a:p>
        </p:txBody>
      </p:sp>
      <p:sp>
        <p:nvSpPr>
          <p:cNvPr id="25" name="final-page-marker"/>
          <p:cNvSpPr txBox="1"/>
          <p:nvPr/>
        </p:nvSpPr>
        <p:spPr>
          <a:xfrm>
            <a:off x="10378440" y="6345936"/>
            <a:ext cx="658368" cy="201168"/>
          </a:xfrm>
          <a:prstGeom prst="rect">
            <a:avLst/>
          </a:prstGeom>
          <a:noFill/>
        </p:spPr>
        <p:txBody>
          <a:bodyPr wrap="none">
            <a:spAutoFit/>
          </a:bodyPr>
          <a:lstStyle/>
          <a:p>
            <a:pPr algn="r"/>
            <a:r>
              <a:t>01 / 22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stretch>
            <a:fillRect t="-170" b="-170"/>
          </a:stretch>
        </a:blipFill>
        <a:effectLst/>
      </p:bgPr>
    </p:bg>
    <p:spTree>
      <p:nvGrpSpPr>
        <p:cNvPr id="1" name=""/>
        <p:cNvGrpSpPr/>
        <p:nvPr/>
      </p:nvGrpSpPr>
      <p:grpSpPr/>
      <p:sp>
        <p:nvSpPr>
          <p:cNvPr id="2" name="TextBox 1"/>
          <p:cNvSpPr txBox="1"/>
          <p:nvPr/>
        </p:nvSpPr>
        <p:spPr>
          <a:xfrm>
            <a:off x="502920" y="292608"/>
            <a:ext cx="3840480" cy="219456"/>
          </a:xfrm>
          <a:prstGeom prst="rect">
            <a:avLst/>
          </a:prstGeom>
          <a:noFill/>
        </p:spPr>
        <p:txBody>
          <a:bodyPr wrap="none" lIns="0" tIns="0" rIns="0" bIns="0">
            <a:spAutoFit/>
          </a:bodyPr>
          <a:lstStyle/>
          <a:p>
            <a:pPr algn="l"/>
            <a:r>
              <a:rPr sz="900" b="1">
                <a:solidFill>
                  <a:srgbClr val="3B82F6"/>
                </a:solidFill>
                <a:latin typeface="Arial" panose="020B0604020202020204"/>
              </a:rPr>
              <a:t>TALK MAP</a:t>
            </a:r>
            <a:endParaRPr sz="900" b="1">
              <a:solidFill>
                <a:srgbClr val="3B82F6"/>
              </a:solidFill>
              <a:latin typeface="Arial" panose="020B0604020202020204"/>
            </a:endParaRPr>
          </a:p>
        </p:txBody>
      </p:sp>
      <p:sp>
        <p:nvSpPr>
          <p:cNvPr id="3" name="TextBox 2"/>
          <p:cNvSpPr txBox="1"/>
          <p:nvPr/>
        </p:nvSpPr>
        <p:spPr>
          <a:xfrm>
            <a:off x="10607040" y="292608"/>
            <a:ext cx="1005840" cy="219456"/>
          </a:xfrm>
          <a:prstGeom prst="rect">
            <a:avLst/>
          </a:prstGeom>
          <a:noFill/>
        </p:spPr>
        <p:txBody>
          <a:bodyPr wrap="none" lIns="0" tIns="0" rIns="0" bIns="0">
            <a:spAutoFit/>
          </a:bodyPr>
          <a:lstStyle/>
          <a:p>
            <a:pPr algn="r"/>
            <a:r>
              <a:t>02 / 22</a:t>
            </a:r>
            <a:endParaRPr sz="900" b="1">
              <a:solidFill>
                <a:srgbClr val="9AA9BD"/>
              </a:solidFill>
              <a:latin typeface="Arial" panose="020B0604020202020204"/>
            </a:endParaRPr>
          </a:p>
        </p:txBody>
      </p:sp>
      <p:sp>
        <p:nvSpPr>
          <p:cNvPr id="6" name="Rectangle 5"/>
          <p:cNvSpPr/>
          <p:nvPr/>
        </p:nvSpPr>
        <p:spPr>
          <a:xfrm>
            <a:off x="685800" y="1600200"/>
            <a:ext cx="1600200" cy="3246120"/>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1746504"/>
            <a:ext cx="1271016" cy="201168"/>
          </a:xfrm>
          <a:prstGeom prst="rect">
            <a:avLst/>
          </a:prstGeom>
          <a:noFill/>
        </p:spPr>
        <p:txBody>
          <a:bodyPr wrap="none" lIns="0" tIns="0" rIns="0" bIns="0">
            <a:spAutoFit/>
          </a:bodyPr>
          <a:lstStyle/>
          <a:p>
            <a:pPr algn="l"/>
            <a:r>
              <a:rPr sz="800" b="1">
                <a:solidFill>
                  <a:srgbClr val="9AA9BD"/>
                </a:solidFill>
                <a:latin typeface="Arial" panose="020B0604020202020204"/>
              </a:rPr>
              <a:t>1</a:t>
            </a:r>
            <a:endParaRPr sz="800" b="1">
              <a:solidFill>
                <a:srgbClr val="9AA9BD"/>
              </a:solidFill>
              <a:latin typeface="Arial" panose="020B0604020202020204"/>
            </a:endParaRPr>
          </a:p>
        </p:txBody>
      </p:sp>
      <p:sp>
        <p:nvSpPr>
          <p:cNvPr id="8" name="TextBox 7"/>
          <p:cNvSpPr txBox="1"/>
          <p:nvPr/>
        </p:nvSpPr>
        <p:spPr>
          <a:xfrm>
            <a:off x="850392" y="2002536"/>
            <a:ext cx="1271016" cy="402336"/>
          </a:xfrm>
          <a:prstGeom prst="rect">
            <a:avLst/>
          </a:prstGeom>
          <a:noFill/>
        </p:spPr>
        <p:txBody>
          <a:bodyPr wrap="none" lIns="0" tIns="0" rIns="0" bIns="0">
            <a:spAutoFit/>
          </a:bodyPr>
          <a:lstStyle/>
          <a:p>
            <a:pPr algn="l"/>
            <a:r>
              <a:rPr sz="2200" b="1">
                <a:solidFill>
                  <a:srgbClr val="3B82F6"/>
                </a:solidFill>
                <a:latin typeface="Arial" panose="020B0604020202020204"/>
              </a:rPr>
              <a:t>Project + Data Cleaning</a:t>
            </a:r>
            <a:endParaRPr sz="2200" b="1">
              <a:solidFill>
                <a:srgbClr val="3B82F6"/>
              </a:solidFill>
              <a:latin typeface="Arial" panose="020B0604020202020204"/>
            </a:endParaRPr>
          </a:p>
        </p:txBody>
      </p:sp>
      <p:sp>
        <p:nvSpPr>
          <p:cNvPr id="10" name="Rectangle 9"/>
          <p:cNvSpPr/>
          <p:nvPr/>
        </p:nvSpPr>
        <p:spPr>
          <a:xfrm>
            <a:off x="2514600" y="1600200"/>
            <a:ext cx="1600200" cy="3246120"/>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79192" y="1746504"/>
            <a:ext cx="1271016" cy="201168"/>
          </a:xfrm>
          <a:prstGeom prst="rect">
            <a:avLst/>
          </a:prstGeom>
          <a:noFill/>
        </p:spPr>
        <p:txBody>
          <a:bodyPr wrap="none" lIns="0" tIns="0" rIns="0" bIns="0">
            <a:spAutoFit/>
          </a:bodyPr>
          <a:lstStyle/>
          <a:p>
            <a:pPr algn="l"/>
            <a:r>
              <a:rPr sz="800" b="1">
                <a:solidFill>
                  <a:srgbClr val="9AA9BD"/>
                </a:solidFill>
                <a:latin typeface="Arial" panose="020B0604020202020204"/>
              </a:rPr>
              <a:t>2</a:t>
            </a:r>
            <a:endParaRPr sz="800" b="1">
              <a:solidFill>
                <a:srgbClr val="9AA9BD"/>
              </a:solidFill>
              <a:latin typeface="Arial" panose="020B0604020202020204"/>
            </a:endParaRPr>
          </a:p>
        </p:txBody>
      </p:sp>
      <p:sp>
        <p:nvSpPr>
          <p:cNvPr id="12" name="TextBox 11"/>
          <p:cNvSpPr txBox="1"/>
          <p:nvPr/>
        </p:nvSpPr>
        <p:spPr>
          <a:xfrm>
            <a:off x="2679192" y="2002536"/>
            <a:ext cx="1271016" cy="402336"/>
          </a:xfrm>
          <a:prstGeom prst="rect">
            <a:avLst/>
          </a:prstGeom>
          <a:noFill/>
        </p:spPr>
        <p:txBody>
          <a:bodyPr wrap="none" lIns="0" tIns="0" rIns="0" bIns="0">
            <a:spAutoFit/>
          </a:bodyPr>
          <a:lstStyle/>
          <a:p>
            <a:pPr algn="l"/>
            <a:r>
              <a:rPr sz="2200" b="1">
                <a:solidFill>
                  <a:srgbClr val="2DD4BF"/>
                </a:solidFill>
                <a:latin typeface="Arial" panose="020B0604020202020204"/>
              </a:rPr>
              <a:t>Database + ER Design</a:t>
            </a:r>
            <a:endParaRPr sz="2200" b="1">
              <a:solidFill>
                <a:srgbClr val="2DD4BF"/>
              </a:solidFill>
              <a:latin typeface="Arial" panose="020B0604020202020204"/>
            </a:endParaRPr>
          </a:p>
        </p:txBody>
      </p:sp>
      <p:sp>
        <p:nvSpPr>
          <p:cNvPr id="13" name="TextBox 12"/>
          <p:cNvSpPr txBox="1"/>
          <p:nvPr/>
        </p:nvSpPr>
        <p:spPr>
          <a:xfrm>
            <a:off x="2679192" y="2450592"/>
            <a:ext cx="1271016" cy="310896"/>
          </a:xfrm>
          <a:prstGeom prst="rect">
            <a:avLst/>
          </a:prstGeom>
          <a:noFill/>
        </p:spPr>
        <p:txBody>
          <a:bodyPr wrap="none" lIns="0" tIns="0" rIns="0" bIns="0">
            <a:spAutoFit/>
          </a:bodyPr>
          <a:lstStyle/>
          <a:p>
            <a:pPr algn="l"/>
            <a:r>
              <a:rPr sz="900" b="0">
                <a:solidFill>
                  <a:srgbClr val="9AA9BD"/>
                </a:solidFill>
                <a:latin typeface="Arial" panose="020B0604020202020204"/>
              </a:rPr>
              <a:t>2.5 min
Schema, core tables, SQL export</a:t>
            </a:r>
            <a:endParaRPr sz="900" b="0">
              <a:solidFill>
                <a:srgbClr val="9AA9BD"/>
              </a:solidFill>
              <a:latin typeface="Arial" panose="020B0604020202020204"/>
            </a:endParaRPr>
          </a:p>
        </p:txBody>
      </p:sp>
      <p:sp>
        <p:nvSpPr>
          <p:cNvPr id="14" name="Rectangle 13"/>
          <p:cNvSpPr/>
          <p:nvPr/>
        </p:nvSpPr>
        <p:spPr>
          <a:xfrm>
            <a:off x="4526280" y="1600200"/>
            <a:ext cx="1600200" cy="3246120"/>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90872" y="1746504"/>
            <a:ext cx="1271016" cy="201168"/>
          </a:xfrm>
          <a:prstGeom prst="rect">
            <a:avLst/>
          </a:prstGeom>
          <a:noFill/>
        </p:spPr>
        <p:txBody>
          <a:bodyPr wrap="none" lIns="0" tIns="0" rIns="0" bIns="0">
            <a:spAutoFit/>
          </a:bodyPr>
          <a:lstStyle/>
          <a:p>
            <a:pPr algn="l"/>
            <a:r>
              <a:rPr sz="800" b="1">
                <a:solidFill>
                  <a:srgbClr val="9AA9BD"/>
                </a:solidFill>
                <a:latin typeface="Arial" panose="020B0604020202020204"/>
              </a:rPr>
              <a:t>3</a:t>
            </a:r>
            <a:endParaRPr sz="800" b="1">
              <a:solidFill>
                <a:srgbClr val="9AA9BD"/>
              </a:solidFill>
              <a:latin typeface="Arial" panose="020B0604020202020204"/>
            </a:endParaRPr>
          </a:p>
        </p:txBody>
      </p:sp>
      <p:sp>
        <p:nvSpPr>
          <p:cNvPr id="16" name="TextBox 15"/>
          <p:cNvSpPr txBox="1"/>
          <p:nvPr/>
        </p:nvSpPr>
        <p:spPr>
          <a:xfrm>
            <a:off x="4690872" y="2002536"/>
            <a:ext cx="1271016" cy="402336"/>
          </a:xfrm>
          <a:prstGeom prst="rect">
            <a:avLst/>
          </a:prstGeom>
          <a:noFill/>
        </p:spPr>
        <p:txBody>
          <a:bodyPr wrap="none" lIns="0" tIns="0" rIns="0" bIns="0">
            <a:spAutoFit/>
          </a:bodyPr>
          <a:lstStyle/>
          <a:p>
            <a:pPr algn="l"/>
            <a:r>
              <a:rPr sz="2200" b="1">
                <a:solidFill>
                  <a:srgbClr val="A855F7"/>
                </a:solidFill>
                <a:latin typeface="Arial" panose="020B0604020202020204"/>
              </a:rPr>
              <a:t>Dashboard Exploration</a:t>
            </a:r>
            <a:endParaRPr sz="2200" b="1">
              <a:solidFill>
                <a:srgbClr val="A855F7"/>
              </a:solidFill>
              <a:latin typeface="Arial" panose="020B0604020202020204"/>
            </a:endParaRPr>
          </a:p>
        </p:txBody>
      </p:sp>
      <p:sp>
        <p:nvSpPr>
          <p:cNvPr id="17" name="TextBox 16"/>
          <p:cNvSpPr txBox="1"/>
          <p:nvPr/>
        </p:nvSpPr>
        <p:spPr>
          <a:xfrm>
            <a:off x="4690872" y="2450592"/>
            <a:ext cx="1271016" cy="310896"/>
          </a:xfrm>
          <a:prstGeom prst="rect">
            <a:avLst/>
          </a:prstGeom>
          <a:noFill/>
        </p:spPr>
        <p:txBody>
          <a:bodyPr wrap="none" lIns="0" tIns="0" rIns="0" bIns="0">
            <a:spAutoFit/>
          </a:bodyPr>
          <a:lstStyle/>
          <a:p>
            <a:pPr algn="l"/>
            <a:r>
              <a:rPr sz="900" b="0">
                <a:solidFill>
                  <a:srgbClr val="9AA9BD"/>
                </a:solidFill>
                <a:latin typeface="Arial" panose="020B0604020202020204"/>
              </a:rPr>
              <a:t>3 min
Overview, Revenue, Genres and Time</a:t>
            </a:r>
            <a:endParaRPr sz="900" b="0">
              <a:solidFill>
                <a:srgbClr val="9AA9BD"/>
              </a:solidFill>
              <a:latin typeface="Arial" panose="020B0604020202020204"/>
            </a:endParaRPr>
          </a:p>
        </p:txBody>
      </p:sp>
      <p:sp>
        <p:nvSpPr>
          <p:cNvPr id="18" name="Rectangle 17"/>
          <p:cNvSpPr/>
          <p:nvPr/>
        </p:nvSpPr>
        <p:spPr>
          <a:xfrm>
            <a:off x="6537960" y="1600200"/>
            <a:ext cx="1600200" cy="3246120"/>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02552" y="1746504"/>
            <a:ext cx="1271016" cy="201168"/>
          </a:xfrm>
          <a:prstGeom prst="rect">
            <a:avLst/>
          </a:prstGeom>
          <a:noFill/>
        </p:spPr>
        <p:txBody>
          <a:bodyPr wrap="none" lIns="0" tIns="0" rIns="0" bIns="0">
            <a:spAutoFit/>
          </a:bodyPr>
          <a:lstStyle/>
          <a:p>
            <a:pPr algn="l"/>
            <a:r>
              <a:rPr sz="800" b="1">
                <a:solidFill>
                  <a:srgbClr val="9AA9BD"/>
                </a:solidFill>
                <a:latin typeface="Arial" panose="020B0604020202020204"/>
              </a:rPr>
              <a:t>4</a:t>
            </a:r>
            <a:endParaRPr sz="800" b="1">
              <a:solidFill>
                <a:srgbClr val="9AA9BD"/>
              </a:solidFill>
              <a:latin typeface="Arial" panose="020B0604020202020204"/>
            </a:endParaRPr>
          </a:p>
        </p:txBody>
      </p:sp>
      <p:sp>
        <p:nvSpPr>
          <p:cNvPr id="20" name="TextBox 19"/>
          <p:cNvSpPr txBox="1"/>
          <p:nvPr/>
        </p:nvSpPr>
        <p:spPr>
          <a:xfrm>
            <a:off x="6702552" y="2002536"/>
            <a:ext cx="1271016" cy="402336"/>
          </a:xfrm>
          <a:prstGeom prst="rect">
            <a:avLst/>
          </a:prstGeom>
          <a:noFill/>
        </p:spPr>
        <p:txBody>
          <a:bodyPr wrap="none" lIns="0" tIns="0" rIns="0" bIns="0">
            <a:spAutoFit/>
          </a:bodyPr>
          <a:lstStyle/>
          <a:p>
            <a:pPr algn="l"/>
            <a:r>
              <a:rPr sz="2200" b="1">
                <a:solidFill>
                  <a:srgbClr val="FBBF24"/>
                </a:solidFill>
                <a:latin typeface="Arial" panose="020B0604020202020204"/>
              </a:rPr>
              <a:t>Chi-Square</a:t>
            </a:r>
            <a:endParaRPr sz="2200" b="1">
              <a:solidFill>
                <a:srgbClr val="FBBF24"/>
              </a:solidFill>
              <a:latin typeface="Arial" panose="020B0604020202020204"/>
            </a:endParaRPr>
          </a:p>
        </p:txBody>
      </p:sp>
      <p:sp>
        <p:nvSpPr>
          <p:cNvPr id="21" name="TextBox 20"/>
          <p:cNvSpPr txBox="1"/>
          <p:nvPr/>
        </p:nvSpPr>
        <p:spPr>
          <a:xfrm>
            <a:off x="6702552" y="2450592"/>
            <a:ext cx="1271016" cy="310896"/>
          </a:xfrm>
          <a:prstGeom prst="rect">
            <a:avLst/>
          </a:prstGeom>
          <a:noFill/>
        </p:spPr>
        <p:txBody>
          <a:bodyPr wrap="none" lIns="0" tIns="0" rIns="0" bIns="0">
            <a:spAutoFit/>
          </a:bodyPr>
          <a:lstStyle/>
          <a:p>
            <a:pPr algn="l"/>
            <a:r>
              <a:rPr sz="900" b="0">
                <a:solidFill>
                  <a:srgbClr val="9AA9BD"/>
                </a:solidFill>
                <a:latin typeface="Arial" panose="020B0604020202020204"/>
              </a:rPr>
              <a:t>2 min
Independence tests and residuals</a:t>
            </a:r>
            <a:endParaRPr sz="900" b="0">
              <a:solidFill>
                <a:srgbClr val="9AA9BD"/>
              </a:solidFill>
              <a:latin typeface="Arial" panose="020B0604020202020204"/>
            </a:endParaRPr>
          </a:p>
        </p:txBody>
      </p:sp>
      <p:sp>
        <p:nvSpPr>
          <p:cNvPr id="22" name="Rectangle 21"/>
          <p:cNvSpPr/>
          <p:nvPr/>
        </p:nvSpPr>
        <p:spPr>
          <a:xfrm>
            <a:off x="8549640" y="1600200"/>
            <a:ext cx="1600200" cy="3246120"/>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14232" y="1746504"/>
            <a:ext cx="1271016" cy="201168"/>
          </a:xfrm>
          <a:prstGeom prst="rect">
            <a:avLst/>
          </a:prstGeom>
          <a:noFill/>
        </p:spPr>
        <p:txBody>
          <a:bodyPr wrap="none" lIns="0" tIns="0" rIns="0" bIns="0">
            <a:spAutoFit/>
          </a:bodyPr>
          <a:lstStyle/>
          <a:p>
            <a:pPr algn="l"/>
            <a:r>
              <a:rPr sz="800" b="1">
                <a:solidFill>
                  <a:srgbClr val="9AA9BD"/>
                </a:solidFill>
                <a:latin typeface="Arial" panose="020B0604020202020204"/>
              </a:rPr>
              <a:t>5</a:t>
            </a:r>
            <a:endParaRPr sz="800" b="1">
              <a:solidFill>
                <a:srgbClr val="9AA9BD"/>
              </a:solidFill>
              <a:latin typeface="Arial" panose="020B0604020202020204"/>
            </a:endParaRPr>
          </a:p>
        </p:txBody>
      </p:sp>
      <p:sp>
        <p:nvSpPr>
          <p:cNvPr id="24" name="TextBox 23"/>
          <p:cNvSpPr txBox="1"/>
          <p:nvPr/>
        </p:nvSpPr>
        <p:spPr>
          <a:xfrm>
            <a:off x="8714232" y="2002536"/>
            <a:ext cx="1271016" cy="402336"/>
          </a:xfrm>
          <a:prstGeom prst="rect">
            <a:avLst/>
          </a:prstGeom>
          <a:noFill/>
        </p:spPr>
        <p:txBody>
          <a:bodyPr wrap="none" lIns="0" tIns="0" rIns="0" bIns="0">
            <a:spAutoFit/>
          </a:bodyPr>
          <a:lstStyle/>
          <a:p>
            <a:pPr algn="l"/>
            <a:r>
              <a:rPr sz="2200" b="1">
                <a:solidFill>
                  <a:srgbClr val="86EFAC"/>
                </a:solidFill>
                <a:latin typeface="Arial" panose="020B0604020202020204"/>
              </a:rPr>
              <a:t>Regression + Prediction</a:t>
            </a:r>
            <a:endParaRPr sz="2200" b="1">
              <a:solidFill>
                <a:srgbClr val="86EFAC"/>
              </a:solidFill>
              <a:latin typeface="Arial" panose="020B0604020202020204"/>
            </a:endParaRPr>
          </a:p>
        </p:txBody>
      </p:sp>
      <p:sp>
        <p:nvSpPr>
          <p:cNvPr id="25" name="TextBox 24"/>
          <p:cNvSpPr txBox="1"/>
          <p:nvPr/>
        </p:nvSpPr>
        <p:spPr>
          <a:xfrm>
            <a:off x="8714232" y="2450592"/>
            <a:ext cx="1271016" cy="310896"/>
          </a:xfrm>
          <a:prstGeom prst="rect">
            <a:avLst/>
          </a:prstGeom>
          <a:noFill/>
        </p:spPr>
        <p:txBody>
          <a:bodyPr wrap="none" lIns="0" tIns="0" rIns="0" bIns="0">
            <a:spAutoFit/>
          </a:bodyPr>
          <a:lstStyle/>
          <a:p>
            <a:pPr algn="l"/>
            <a:r>
              <a:rPr sz="900" b="0">
                <a:solidFill>
                  <a:srgbClr val="9AA9BD"/>
                </a:solidFill>
                <a:latin typeface="Arial" panose="020B0604020202020204"/>
              </a:rPr>
              <a:t>2.5 min
Regression and Gradient Boosting</a:t>
            </a:r>
            <a:endParaRPr sz="900" b="0">
              <a:solidFill>
                <a:srgbClr val="9AA9BD"/>
              </a:solidFill>
              <a:latin typeface="Arial" panose="020B0604020202020204"/>
            </a:endParaRPr>
          </a:p>
        </p:txBody>
      </p:sp>
      <p:sp>
        <p:nvSpPr>
          <p:cNvPr id="26" name="Rectangle 25"/>
          <p:cNvSpPr/>
          <p:nvPr/>
        </p:nvSpPr>
        <p:spPr>
          <a:xfrm>
            <a:off x="10058400" y="1600200"/>
            <a:ext cx="1600200" cy="3246120"/>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22992" y="1746504"/>
            <a:ext cx="1271016" cy="201168"/>
          </a:xfrm>
          <a:prstGeom prst="rect">
            <a:avLst/>
          </a:prstGeom>
          <a:noFill/>
        </p:spPr>
        <p:txBody>
          <a:bodyPr wrap="none" lIns="0" tIns="0" rIns="0" bIns="0">
            <a:spAutoFit/>
          </a:bodyPr>
          <a:lstStyle/>
          <a:p>
            <a:pPr algn="l"/>
            <a:r>
              <a:rPr sz="800" b="1">
                <a:solidFill>
                  <a:srgbClr val="9AA9BD"/>
                </a:solidFill>
                <a:latin typeface="Arial" panose="020B0604020202020204"/>
              </a:rPr>
              <a:t>6</a:t>
            </a:r>
            <a:endParaRPr sz="800" b="1">
              <a:solidFill>
                <a:srgbClr val="9AA9BD"/>
              </a:solidFill>
              <a:latin typeface="Arial" panose="020B0604020202020204"/>
            </a:endParaRPr>
          </a:p>
        </p:txBody>
      </p:sp>
      <p:sp>
        <p:nvSpPr>
          <p:cNvPr id="28" name="TextBox 27"/>
          <p:cNvSpPr txBox="1"/>
          <p:nvPr/>
        </p:nvSpPr>
        <p:spPr>
          <a:xfrm>
            <a:off x="10222992" y="2002536"/>
            <a:ext cx="1271016" cy="402336"/>
          </a:xfrm>
          <a:prstGeom prst="rect">
            <a:avLst/>
          </a:prstGeom>
          <a:noFill/>
        </p:spPr>
        <p:txBody>
          <a:bodyPr wrap="none" lIns="0" tIns="0" rIns="0" bIns="0">
            <a:spAutoFit/>
          </a:bodyPr>
          <a:lstStyle/>
          <a:p>
            <a:pPr algn="l"/>
            <a:r>
              <a:rPr sz="2200" b="1">
                <a:solidFill>
                  <a:srgbClr val="FB7185"/>
                </a:solidFill>
                <a:latin typeface="Arial" panose="020B0604020202020204"/>
              </a:rPr>
              <a:t>Insights + Export</a:t>
            </a:r>
            <a:endParaRPr sz="2200" b="1">
              <a:solidFill>
                <a:srgbClr val="FB7185"/>
              </a:solidFill>
              <a:latin typeface="Arial" panose="020B0604020202020204"/>
            </a:endParaRPr>
          </a:p>
        </p:txBody>
      </p:sp>
      <p:sp>
        <p:nvSpPr>
          <p:cNvPr id="29" name="TextBox 28"/>
          <p:cNvSpPr txBox="1"/>
          <p:nvPr/>
        </p:nvSpPr>
        <p:spPr>
          <a:xfrm>
            <a:off x="10222992" y="2450592"/>
            <a:ext cx="1271016" cy="310896"/>
          </a:xfrm>
          <a:prstGeom prst="rect">
            <a:avLst/>
          </a:prstGeom>
          <a:noFill/>
        </p:spPr>
        <p:txBody>
          <a:bodyPr wrap="none" lIns="0" tIns="0" rIns="0" bIns="0">
            <a:spAutoFit/>
          </a:bodyPr>
          <a:lstStyle/>
          <a:p>
            <a:pPr algn="l"/>
            <a:r>
              <a:rPr sz="900" b="0">
                <a:solidFill>
                  <a:srgbClr val="9AA9BD"/>
                </a:solidFill>
                <a:latin typeface="Arial" panose="020B0604020202020204"/>
              </a:rPr>
              <a:t>2.5 min
Findings, export, limits, future work</a:t>
            </a:r>
            <a:endParaRPr sz="900" b="0">
              <a:solidFill>
                <a:srgbClr val="9AA9BD"/>
              </a:solidFill>
              <a:latin typeface="Arial" panose="020B0604020202020204"/>
            </a:endParaRPr>
          </a:p>
        </p:txBody>
      </p:sp>
      <p:sp>
        <p:nvSpPr>
          <p:cNvPr id="31" name="Rectangle 30"/>
          <p:cNvSpPr/>
          <p:nvPr/>
        </p:nvSpPr>
        <p:spPr>
          <a:xfrm>
            <a:off x="0" y="0"/>
            <a:ext cx="12191695" cy="6181344"/>
          </a:xfrm>
          <a:prstGeom prst="rect">
            <a:avLst/>
          </a:prstGeom>
          <a:solidFill>
            <a:srgbClr val="07111F"/>
          </a:solidFill>
          <a:ln w="762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274320"/>
            <a:ext cx="4206240" cy="201168"/>
          </a:xfrm>
          <a:prstGeom prst="rect">
            <a:avLst/>
          </a:prstGeom>
          <a:noFill/>
        </p:spPr>
        <p:txBody>
          <a:bodyPr wrap="square" lIns="36576" tIns="18288" rIns="36576" bIns="18288">
            <a:normAutofit/>
          </a:bodyPr>
          <a:lstStyle/>
          <a:p>
            <a:pPr algn="l">
              <a:defRPr sz="900" b="1">
                <a:solidFill>
                  <a:srgbClr val="3B82F6"/>
                </a:solidFill>
                <a:latin typeface="Arial" panose="020B0604020202020204"/>
              </a:defRPr>
            </a:pPr>
            <a:r>
              <a:t>TALK MAP</a:t>
            </a:r>
          </a:p>
        </p:txBody>
      </p:sp>
      <p:sp>
        <p:nvSpPr>
          <p:cNvPr id="33" name="TextBox 32"/>
          <p:cNvSpPr txBox="1"/>
          <p:nvPr/>
        </p:nvSpPr>
        <p:spPr>
          <a:xfrm>
            <a:off x="10652760" y="274320"/>
            <a:ext cx="914400" cy="201168"/>
          </a:xfrm>
          <a:prstGeom prst="rect">
            <a:avLst/>
          </a:prstGeom>
          <a:noFill/>
        </p:spPr>
        <p:txBody>
          <a:bodyPr wrap="square" lIns="36576" tIns="18288" rIns="36576" bIns="18288">
            <a:normAutofit/>
          </a:bodyPr>
          <a:lstStyle/>
          <a:p>
            <a:pPr algn="r">
              <a:defRPr sz="900" b="1">
                <a:solidFill>
                  <a:srgbClr val="9AA9BD"/>
                </a:solidFill>
                <a:latin typeface="Arial" panose="020B0604020202020204"/>
              </a:defRPr>
            </a:pPr>
            <a:r>
              <a:t>02 / 22</a:t>
            </a:r>
          </a:p>
        </p:txBody>
      </p:sp>
      <p:sp>
        <p:nvSpPr>
          <p:cNvPr id="34" name="TextBox 33"/>
          <p:cNvSpPr txBox="1"/>
          <p:nvPr/>
        </p:nvSpPr>
        <p:spPr>
          <a:xfrm>
            <a:off x="502920" y="566928"/>
            <a:ext cx="9144000" cy="365760"/>
          </a:xfrm>
          <a:prstGeom prst="rect">
            <a:avLst/>
          </a:prstGeom>
          <a:noFill/>
        </p:spPr>
        <p:txBody>
          <a:bodyPr wrap="square" lIns="36576" tIns="18288" rIns="36576" bIns="18288">
            <a:normAutofit lnSpcReduction="20000"/>
          </a:bodyPr>
          <a:lstStyle/>
          <a:p>
            <a:pPr algn="l">
              <a:defRPr sz="2300" b="1">
                <a:solidFill>
                  <a:srgbClr val="F2F6FF"/>
                </a:solidFill>
                <a:latin typeface="Arial" panose="020B0604020202020204"/>
              </a:defRPr>
            </a:pPr>
            <a:r>
              <a:t>Presentation Flow Aligned with Team Responsibilities</a:t>
            </a:r>
          </a:p>
        </p:txBody>
      </p:sp>
      <p:sp>
        <p:nvSpPr>
          <p:cNvPr id="35" name="TextBox 34"/>
          <p:cNvSpPr txBox="1"/>
          <p:nvPr/>
        </p:nvSpPr>
        <p:spPr>
          <a:xfrm>
            <a:off x="521207" y="1005840"/>
            <a:ext cx="9966960" cy="219456"/>
          </a:xfrm>
          <a:prstGeom prst="rect">
            <a:avLst/>
          </a:prstGeom>
          <a:noFill/>
        </p:spPr>
        <p:txBody>
          <a:bodyPr wrap="square" lIns="36576" tIns="18288" rIns="36576" bIns="18288">
            <a:normAutofit/>
          </a:bodyPr>
          <a:lstStyle/>
          <a:p>
            <a:pPr algn="l">
              <a:defRPr sz="1050" b="0">
                <a:solidFill>
                  <a:srgbClr val="9AA9BD"/>
                </a:solidFill>
                <a:latin typeface="Arial" panose="020B0604020202020204"/>
              </a:defRPr>
            </a:pPr>
            <a:r>
              <a:t>A 15-minute technical narrative followed by a 5-minute live demo and Q&amp;A.</a:t>
            </a:r>
          </a:p>
        </p:txBody>
      </p:sp>
      <p:sp>
        <p:nvSpPr>
          <p:cNvPr id="36" name="Rectangle 35"/>
          <p:cNvSpPr/>
          <p:nvPr/>
        </p:nvSpPr>
        <p:spPr>
          <a:xfrm>
            <a:off x="676656" y="1627632"/>
            <a:ext cx="3218688" cy="1261872"/>
          </a:xfrm>
          <a:prstGeom prst="rect">
            <a:avLst/>
          </a:prstGeom>
          <a:solidFill>
            <a:srgbClr val="122033"/>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7" y="1783080"/>
            <a:ext cx="402336" cy="201168"/>
          </a:xfrm>
          <a:prstGeom prst="rect">
            <a:avLst/>
          </a:prstGeom>
          <a:noFill/>
        </p:spPr>
        <p:txBody>
          <a:bodyPr wrap="square" lIns="36576" tIns="18288" rIns="36576" bIns="18288">
            <a:normAutofit/>
          </a:bodyPr>
          <a:lstStyle/>
          <a:p>
            <a:pPr algn="l">
              <a:defRPr sz="950" b="1">
                <a:solidFill>
                  <a:srgbClr val="9AA9BD"/>
                </a:solidFill>
                <a:latin typeface="Arial" panose="020B0604020202020204"/>
              </a:defRPr>
            </a:pPr>
            <a:r>
              <a:t>01</a:t>
            </a:r>
          </a:p>
        </p:txBody>
      </p:sp>
      <p:sp>
        <p:nvSpPr>
          <p:cNvPr id="38" name="TextBox 37"/>
          <p:cNvSpPr txBox="1"/>
          <p:nvPr/>
        </p:nvSpPr>
        <p:spPr>
          <a:xfrm>
            <a:off x="1335024" y="1746504"/>
            <a:ext cx="2331720" cy="274320"/>
          </a:xfrm>
          <a:prstGeom prst="rect">
            <a:avLst/>
          </a:prstGeom>
          <a:noFill/>
        </p:spPr>
        <p:txBody>
          <a:bodyPr wrap="square" lIns="36576" tIns="18288" rIns="36576" bIns="18288">
            <a:normAutofit/>
          </a:bodyPr>
          <a:lstStyle/>
          <a:p>
            <a:pPr algn="l">
              <a:defRPr sz="1420" b="1">
                <a:solidFill>
                  <a:srgbClr val="3B82F6"/>
                </a:solidFill>
                <a:latin typeface="Arial" panose="020B0604020202020204"/>
              </a:defRPr>
            </a:pPr>
            <a:r>
              <a:t>Project + Data Cleaning</a:t>
            </a:r>
          </a:p>
        </p:txBody>
      </p:sp>
      <p:sp>
        <p:nvSpPr>
          <p:cNvPr id="39" name="TextBox 38"/>
          <p:cNvSpPr txBox="1"/>
          <p:nvPr/>
        </p:nvSpPr>
        <p:spPr>
          <a:xfrm>
            <a:off x="1335024" y="2084832"/>
            <a:ext cx="868680" cy="182880"/>
          </a:xfrm>
          <a:prstGeom prst="rect">
            <a:avLst/>
          </a:prstGeom>
          <a:noFill/>
        </p:spPr>
        <p:txBody>
          <a:bodyPr wrap="square" lIns="36576" tIns="18288" rIns="36576" bIns="18288">
            <a:normAutofit lnSpcReduction="10000"/>
          </a:bodyPr>
          <a:lstStyle/>
          <a:p>
            <a:pPr algn="l">
              <a:defRPr sz="1020" b="1">
                <a:solidFill>
                  <a:srgbClr val="9AA9BD"/>
                </a:solidFill>
                <a:latin typeface="Arial" panose="020B0604020202020204"/>
              </a:defRPr>
            </a:pPr>
            <a:r>
              <a:t>2.5 min</a:t>
            </a:r>
          </a:p>
        </p:txBody>
      </p:sp>
      <p:sp>
        <p:nvSpPr>
          <p:cNvPr id="40" name="TextBox 39"/>
          <p:cNvSpPr txBox="1"/>
          <p:nvPr/>
        </p:nvSpPr>
        <p:spPr>
          <a:xfrm>
            <a:off x="1335024" y="2340864"/>
            <a:ext cx="2240280" cy="384048"/>
          </a:xfrm>
          <a:prstGeom prst="rect">
            <a:avLst/>
          </a:prstGeom>
          <a:noFill/>
        </p:spPr>
        <p:txBody>
          <a:bodyPr wrap="square" lIns="36576" tIns="18288" rIns="36576" bIns="18288">
            <a:normAutofit/>
          </a:bodyPr>
          <a:lstStyle/>
          <a:p>
            <a:pPr algn="l">
              <a:defRPr sz="880" b="0">
                <a:solidFill>
                  <a:srgbClr val="9AA9BD"/>
                </a:solidFill>
                <a:latin typeface="Arial" panose="020B0604020202020204"/>
              </a:defRPr>
            </a:pPr>
            <a:r>
              <a:t>Problem framing, TMDB source data, SQL-to-CSV cleaning.</a:t>
            </a:r>
          </a:p>
        </p:txBody>
      </p:sp>
      <p:sp>
        <p:nvSpPr>
          <p:cNvPr id="41" name="Rectangle 40"/>
          <p:cNvSpPr/>
          <p:nvPr/>
        </p:nvSpPr>
        <p:spPr>
          <a:xfrm>
            <a:off x="4352544" y="1627632"/>
            <a:ext cx="3218688" cy="1261872"/>
          </a:xfrm>
          <a:prstGeom prst="rect">
            <a:avLst/>
          </a:prstGeom>
          <a:solidFill>
            <a:srgbClr val="122033"/>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17136" y="1783080"/>
            <a:ext cx="402336" cy="201168"/>
          </a:xfrm>
          <a:prstGeom prst="rect">
            <a:avLst/>
          </a:prstGeom>
          <a:noFill/>
        </p:spPr>
        <p:txBody>
          <a:bodyPr wrap="square" lIns="36576" tIns="18288" rIns="36576" bIns="18288">
            <a:normAutofit/>
          </a:bodyPr>
          <a:lstStyle/>
          <a:p>
            <a:pPr algn="l">
              <a:defRPr sz="950" b="1">
                <a:solidFill>
                  <a:srgbClr val="9AA9BD"/>
                </a:solidFill>
                <a:latin typeface="Arial" panose="020B0604020202020204"/>
              </a:defRPr>
            </a:pPr>
            <a:r>
              <a:t>02</a:t>
            </a:r>
          </a:p>
        </p:txBody>
      </p:sp>
      <p:sp>
        <p:nvSpPr>
          <p:cNvPr id="43" name="TextBox 42"/>
          <p:cNvSpPr txBox="1"/>
          <p:nvPr/>
        </p:nvSpPr>
        <p:spPr>
          <a:xfrm>
            <a:off x="5010912" y="1746504"/>
            <a:ext cx="2331720" cy="274320"/>
          </a:xfrm>
          <a:prstGeom prst="rect">
            <a:avLst/>
          </a:prstGeom>
          <a:noFill/>
        </p:spPr>
        <p:txBody>
          <a:bodyPr wrap="square" lIns="36576" tIns="18288" rIns="36576" bIns="18288">
            <a:normAutofit/>
          </a:bodyPr>
          <a:lstStyle/>
          <a:p>
            <a:pPr algn="l">
              <a:defRPr sz="1420" b="1">
                <a:solidFill>
                  <a:srgbClr val="2DD4BF"/>
                </a:solidFill>
                <a:latin typeface="Arial" panose="020B0604020202020204"/>
              </a:defRPr>
            </a:pPr>
            <a:r>
              <a:t>Database + ER Design</a:t>
            </a:r>
          </a:p>
        </p:txBody>
      </p:sp>
      <p:sp>
        <p:nvSpPr>
          <p:cNvPr id="44" name="TextBox 43"/>
          <p:cNvSpPr txBox="1"/>
          <p:nvPr/>
        </p:nvSpPr>
        <p:spPr>
          <a:xfrm>
            <a:off x="5010912" y="2084832"/>
            <a:ext cx="868680" cy="182880"/>
          </a:xfrm>
          <a:prstGeom prst="rect">
            <a:avLst/>
          </a:prstGeom>
          <a:noFill/>
        </p:spPr>
        <p:txBody>
          <a:bodyPr wrap="square" lIns="36576" tIns="18288" rIns="36576" bIns="18288">
            <a:normAutofit lnSpcReduction="10000"/>
          </a:bodyPr>
          <a:lstStyle/>
          <a:p>
            <a:pPr algn="l">
              <a:defRPr sz="1020" b="1">
                <a:solidFill>
                  <a:srgbClr val="9AA9BD"/>
                </a:solidFill>
                <a:latin typeface="Arial" panose="020B0604020202020204"/>
              </a:defRPr>
            </a:pPr>
            <a:r>
              <a:t>2.5 min</a:t>
            </a:r>
          </a:p>
        </p:txBody>
      </p:sp>
      <p:sp>
        <p:nvSpPr>
          <p:cNvPr id="45" name="TextBox 44"/>
          <p:cNvSpPr txBox="1"/>
          <p:nvPr/>
        </p:nvSpPr>
        <p:spPr>
          <a:xfrm>
            <a:off x="5010912" y="2340864"/>
            <a:ext cx="2240280" cy="384048"/>
          </a:xfrm>
          <a:prstGeom prst="rect">
            <a:avLst/>
          </a:prstGeom>
          <a:noFill/>
        </p:spPr>
        <p:txBody>
          <a:bodyPr wrap="square" lIns="36576" tIns="18288" rIns="36576" bIns="18288">
            <a:normAutofit/>
          </a:bodyPr>
          <a:lstStyle/>
          <a:p>
            <a:pPr algn="l">
              <a:defRPr sz="880" b="0">
                <a:solidFill>
                  <a:srgbClr val="9AA9BD"/>
                </a:solidFill>
                <a:latin typeface="Arial" panose="020B0604020202020204"/>
              </a:defRPr>
            </a:pPr>
            <a:r>
              <a:t>Relational schema, core tables, SQL export path.</a:t>
            </a:r>
          </a:p>
        </p:txBody>
      </p:sp>
      <p:sp>
        <p:nvSpPr>
          <p:cNvPr id="46" name="Rectangle 45"/>
          <p:cNvSpPr/>
          <p:nvPr/>
        </p:nvSpPr>
        <p:spPr>
          <a:xfrm>
            <a:off x="8028431" y="1627632"/>
            <a:ext cx="3218688" cy="1261872"/>
          </a:xfrm>
          <a:prstGeom prst="rect">
            <a:avLst/>
          </a:prstGeom>
          <a:solidFill>
            <a:srgbClr val="122033"/>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193023" y="1783080"/>
            <a:ext cx="402336" cy="201168"/>
          </a:xfrm>
          <a:prstGeom prst="rect">
            <a:avLst/>
          </a:prstGeom>
          <a:noFill/>
        </p:spPr>
        <p:txBody>
          <a:bodyPr wrap="square" lIns="36576" tIns="18288" rIns="36576" bIns="18288">
            <a:normAutofit/>
          </a:bodyPr>
          <a:lstStyle/>
          <a:p>
            <a:pPr algn="l">
              <a:defRPr sz="950" b="1">
                <a:solidFill>
                  <a:srgbClr val="9AA9BD"/>
                </a:solidFill>
                <a:latin typeface="Arial" panose="020B0604020202020204"/>
              </a:defRPr>
            </a:pPr>
            <a:r>
              <a:t>03</a:t>
            </a:r>
          </a:p>
        </p:txBody>
      </p:sp>
      <p:sp>
        <p:nvSpPr>
          <p:cNvPr id="48" name="TextBox 47"/>
          <p:cNvSpPr txBox="1"/>
          <p:nvPr/>
        </p:nvSpPr>
        <p:spPr>
          <a:xfrm>
            <a:off x="8686800" y="1746504"/>
            <a:ext cx="2331720" cy="274320"/>
          </a:xfrm>
          <a:prstGeom prst="rect">
            <a:avLst/>
          </a:prstGeom>
          <a:noFill/>
        </p:spPr>
        <p:txBody>
          <a:bodyPr wrap="square" lIns="36576" tIns="18288" rIns="36576" bIns="18288">
            <a:normAutofit/>
          </a:bodyPr>
          <a:lstStyle/>
          <a:p>
            <a:pPr algn="l">
              <a:defRPr sz="1420" b="1">
                <a:solidFill>
                  <a:srgbClr val="A855F7"/>
                </a:solidFill>
                <a:latin typeface="Arial" panose="020B0604020202020204"/>
              </a:defRPr>
            </a:pPr>
            <a:r>
              <a:t>Dashboard Exploration</a:t>
            </a:r>
          </a:p>
        </p:txBody>
      </p:sp>
      <p:sp>
        <p:nvSpPr>
          <p:cNvPr id="49" name="TextBox 48"/>
          <p:cNvSpPr txBox="1"/>
          <p:nvPr/>
        </p:nvSpPr>
        <p:spPr>
          <a:xfrm>
            <a:off x="8686800" y="2084832"/>
            <a:ext cx="868680" cy="182880"/>
          </a:xfrm>
          <a:prstGeom prst="rect">
            <a:avLst/>
          </a:prstGeom>
          <a:noFill/>
        </p:spPr>
        <p:txBody>
          <a:bodyPr wrap="square" lIns="36576" tIns="18288" rIns="36576" bIns="18288">
            <a:normAutofit lnSpcReduction="10000"/>
          </a:bodyPr>
          <a:lstStyle/>
          <a:p>
            <a:pPr algn="l">
              <a:defRPr sz="1020" b="1">
                <a:solidFill>
                  <a:srgbClr val="9AA9BD"/>
                </a:solidFill>
                <a:latin typeface="Arial" panose="020B0604020202020204"/>
              </a:defRPr>
            </a:pPr>
            <a:r>
              <a:t>3 min</a:t>
            </a:r>
          </a:p>
        </p:txBody>
      </p:sp>
      <p:sp>
        <p:nvSpPr>
          <p:cNvPr id="50" name="TextBox 49"/>
          <p:cNvSpPr txBox="1"/>
          <p:nvPr/>
        </p:nvSpPr>
        <p:spPr>
          <a:xfrm>
            <a:off x="8686800" y="2340864"/>
            <a:ext cx="2240280" cy="384048"/>
          </a:xfrm>
          <a:prstGeom prst="rect">
            <a:avLst/>
          </a:prstGeom>
          <a:noFill/>
        </p:spPr>
        <p:txBody>
          <a:bodyPr wrap="square" lIns="36576" tIns="18288" rIns="36576" bIns="18288">
            <a:normAutofit/>
          </a:bodyPr>
          <a:lstStyle/>
          <a:p>
            <a:pPr algn="l">
              <a:defRPr sz="880" b="0">
                <a:solidFill>
                  <a:srgbClr val="9AA9BD"/>
                </a:solidFill>
                <a:latin typeface="Arial" panose="020B0604020202020204"/>
              </a:defRPr>
            </a:pPr>
            <a:r>
              <a:t>Overview, Revenue, Genres and Time views.</a:t>
            </a:r>
          </a:p>
        </p:txBody>
      </p:sp>
      <p:sp>
        <p:nvSpPr>
          <p:cNvPr id="51" name="Rectangle 50"/>
          <p:cNvSpPr/>
          <p:nvPr/>
        </p:nvSpPr>
        <p:spPr>
          <a:xfrm>
            <a:off x="676656" y="3685032"/>
            <a:ext cx="3218688" cy="1261872"/>
          </a:xfrm>
          <a:prstGeom prst="rect">
            <a:avLst/>
          </a:prstGeom>
          <a:solidFill>
            <a:srgbClr val="122033"/>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1247" y="3840480"/>
            <a:ext cx="402336" cy="201168"/>
          </a:xfrm>
          <a:prstGeom prst="rect">
            <a:avLst/>
          </a:prstGeom>
          <a:noFill/>
        </p:spPr>
        <p:txBody>
          <a:bodyPr wrap="square" lIns="36576" tIns="18288" rIns="36576" bIns="18288">
            <a:normAutofit/>
          </a:bodyPr>
          <a:lstStyle/>
          <a:p>
            <a:pPr algn="l">
              <a:defRPr sz="950" b="1">
                <a:solidFill>
                  <a:srgbClr val="9AA9BD"/>
                </a:solidFill>
                <a:latin typeface="Arial" panose="020B0604020202020204"/>
              </a:defRPr>
            </a:pPr>
            <a:r>
              <a:t>04</a:t>
            </a:r>
          </a:p>
        </p:txBody>
      </p:sp>
      <p:sp>
        <p:nvSpPr>
          <p:cNvPr id="53" name="TextBox 52"/>
          <p:cNvSpPr txBox="1"/>
          <p:nvPr/>
        </p:nvSpPr>
        <p:spPr>
          <a:xfrm>
            <a:off x="1335024" y="3803904"/>
            <a:ext cx="2331720" cy="274320"/>
          </a:xfrm>
          <a:prstGeom prst="rect">
            <a:avLst/>
          </a:prstGeom>
          <a:noFill/>
        </p:spPr>
        <p:txBody>
          <a:bodyPr wrap="square" lIns="36576" tIns="18288" rIns="36576" bIns="18288">
            <a:normAutofit/>
          </a:bodyPr>
          <a:lstStyle/>
          <a:p>
            <a:pPr algn="l">
              <a:defRPr sz="1420" b="1">
                <a:solidFill>
                  <a:srgbClr val="FBBF24"/>
                </a:solidFill>
                <a:latin typeface="Arial" panose="020B0604020202020204"/>
              </a:defRPr>
            </a:pPr>
            <a:r>
              <a:t>Chi-Square Tests</a:t>
            </a:r>
          </a:p>
        </p:txBody>
      </p:sp>
      <p:sp>
        <p:nvSpPr>
          <p:cNvPr id="54" name="TextBox 53"/>
          <p:cNvSpPr txBox="1"/>
          <p:nvPr/>
        </p:nvSpPr>
        <p:spPr>
          <a:xfrm>
            <a:off x="1335024" y="4142232"/>
            <a:ext cx="868680" cy="182880"/>
          </a:xfrm>
          <a:prstGeom prst="rect">
            <a:avLst/>
          </a:prstGeom>
          <a:noFill/>
        </p:spPr>
        <p:txBody>
          <a:bodyPr wrap="square" lIns="36576" tIns="18288" rIns="36576" bIns="18288">
            <a:normAutofit lnSpcReduction="10000"/>
          </a:bodyPr>
          <a:lstStyle/>
          <a:p>
            <a:pPr algn="l">
              <a:defRPr sz="1020" b="1">
                <a:solidFill>
                  <a:srgbClr val="9AA9BD"/>
                </a:solidFill>
                <a:latin typeface="Arial" panose="020B0604020202020204"/>
              </a:defRPr>
            </a:pPr>
            <a:r>
              <a:t>2 min</a:t>
            </a:r>
          </a:p>
        </p:txBody>
      </p:sp>
      <p:sp>
        <p:nvSpPr>
          <p:cNvPr id="55" name="TextBox 54"/>
          <p:cNvSpPr txBox="1"/>
          <p:nvPr/>
        </p:nvSpPr>
        <p:spPr>
          <a:xfrm>
            <a:off x="1335024" y="4398264"/>
            <a:ext cx="2240280" cy="384048"/>
          </a:xfrm>
          <a:prstGeom prst="rect">
            <a:avLst/>
          </a:prstGeom>
          <a:noFill/>
        </p:spPr>
        <p:txBody>
          <a:bodyPr wrap="square" lIns="36576" tIns="18288" rIns="36576" bIns="18288">
            <a:normAutofit/>
          </a:bodyPr>
          <a:lstStyle/>
          <a:p>
            <a:pPr algn="l">
              <a:defRPr sz="880" b="0">
                <a:solidFill>
                  <a:srgbClr val="9AA9BD"/>
                </a:solidFill>
                <a:latin typeface="Arial" panose="020B0604020202020204"/>
              </a:defRPr>
            </a:pPr>
            <a:r>
              <a:t>Categorical hypotheses, p-values and residuals.</a:t>
            </a:r>
          </a:p>
        </p:txBody>
      </p:sp>
      <p:sp>
        <p:nvSpPr>
          <p:cNvPr id="56" name="Rectangle 55"/>
          <p:cNvSpPr/>
          <p:nvPr/>
        </p:nvSpPr>
        <p:spPr>
          <a:xfrm>
            <a:off x="4352544" y="3685032"/>
            <a:ext cx="3218688" cy="1261872"/>
          </a:xfrm>
          <a:prstGeom prst="rect">
            <a:avLst/>
          </a:prstGeom>
          <a:solidFill>
            <a:srgbClr val="122033"/>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17136" y="3840480"/>
            <a:ext cx="402336" cy="201168"/>
          </a:xfrm>
          <a:prstGeom prst="rect">
            <a:avLst/>
          </a:prstGeom>
          <a:noFill/>
        </p:spPr>
        <p:txBody>
          <a:bodyPr wrap="square" lIns="36576" tIns="18288" rIns="36576" bIns="18288">
            <a:normAutofit/>
          </a:bodyPr>
          <a:lstStyle/>
          <a:p>
            <a:pPr algn="l">
              <a:defRPr sz="950" b="1">
                <a:solidFill>
                  <a:srgbClr val="9AA9BD"/>
                </a:solidFill>
                <a:latin typeface="Arial" panose="020B0604020202020204"/>
              </a:defRPr>
            </a:pPr>
            <a:r>
              <a:t>05</a:t>
            </a:r>
          </a:p>
        </p:txBody>
      </p:sp>
      <p:sp>
        <p:nvSpPr>
          <p:cNvPr id="58" name="TextBox 57"/>
          <p:cNvSpPr txBox="1"/>
          <p:nvPr/>
        </p:nvSpPr>
        <p:spPr>
          <a:xfrm>
            <a:off x="5010912" y="3803904"/>
            <a:ext cx="2331720" cy="274320"/>
          </a:xfrm>
          <a:prstGeom prst="rect">
            <a:avLst/>
          </a:prstGeom>
          <a:noFill/>
        </p:spPr>
        <p:txBody>
          <a:bodyPr wrap="square" lIns="36576" tIns="18288" rIns="36576" bIns="18288">
            <a:normAutofit/>
          </a:bodyPr>
          <a:lstStyle/>
          <a:p>
            <a:pPr algn="l">
              <a:defRPr sz="1420" b="1">
                <a:solidFill>
                  <a:srgbClr val="86EFAC"/>
                </a:solidFill>
                <a:latin typeface="Arial" panose="020B0604020202020204"/>
              </a:defRPr>
            </a:pPr>
            <a:r>
              <a:t>Regression + Prediction</a:t>
            </a:r>
          </a:p>
        </p:txBody>
      </p:sp>
      <p:sp>
        <p:nvSpPr>
          <p:cNvPr id="59" name="TextBox 58"/>
          <p:cNvSpPr txBox="1"/>
          <p:nvPr/>
        </p:nvSpPr>
        <p:spPr>
          <a:xfrm>
            <a:off x="5010912" y="4142232"/>
            <a:ext cx="868680" cy="182880"/>
          </a:xfrm>
          <a:prstGeom prst="rect">
            <a:avLst/>
          </a:prstGeom>
          <a:noFill/>
        </p:spPr>
        <p:txBody>
          <a:bodyPr wrap="square" lIns="36576" tIns="18288" rIns="36576" bIns="18288">
            <a:normAutofit lnSpcReduction="10000"/>
          </a:bodyPr>
          <a:lstStyle/>
          <a:p>
            <a:pPr algn="l">
              <a:defRPr sz="1020" b="1">
                <a:solidFill>
                  <a:srgbClr val="9AA9BD"/>
                </a:solidFill>
                <a:latin typeface="Arial" panose="020B0604020202020204"/>
              </a:defRPr>
            </a:pPr>
            <a:r>
              <a:t>2.5 min</a:t>
            </a:r>
          </a:p>
        </p:txBody>
      </p:sp>
      <p:sp>
        <p:nvSpPr>
          <p:cNvPr id="60" name="TextBox 59"/>
          <p:cNvSpPr txBox="1"/>
          <p:nvPr/>
        </p:nvSpPr>
        <p:spPr>
          <a:xfrm>
            <a:off x="5010912" y="4398264"/>
            <a:ext cx="2240280" cy="384048"/>
          </a:xfrm>
          <a:prstGeom prst="rect">
            <a:avLst/>
          </a:prstGeom>
          <a:noFill/>
        </p:spPr>
        <p:txBody>
          <a:bodyPr wrap="square" lIns="36576" tIns="18288" rIns="36576" bIns="18288">
            <a:normAutofit/>
          </a:bodyPr>
          <a:lstStyle/>
          <a:p>
            <a:pPr algn="l">
              <a:defRPr sz="880" b="0">
                <a:solidFill>
                  <a:srgbClr val="9AA9BD"/>
                </a:solidFill>
                <a:latin typeface="Arial" panose="020B0604020202020204"/>
              </a:defRPr>
            </a:pPr>
            <a:r>
              <a:t>Linear fit, model metrics and comparable-film output.</a:t>
            </a:r>
          </a:p>
        </p:txBody>
      </p:sp>
      <p:sp>
        <p:nvSpPr>
          <p:cNvPr id="61" name="Rectangle 60"/>
          <p:cNvSpPr/>
          <p:nvPr/>
        </p:nvSpPr>
        <p:spPr>
          <a:xfrm>
            <a:off x="8028431" y="3685032"/>
            <a:ext cx="3218688" cy="1261872"/>
          </a:xfrm>
          <a:prstGeom prst="rect">
            <a:avLst/>
          </a:prstGeom>
          <a:solidFill>
            <a:srgbClr val="122033"/>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193023" y="3840480"/>
            <a:ext cx="402336" cy="201168"/>
          </a:xfrm>
          <a:prstGeom prst="rect">
            <a:avLst/>
          </a:prstGeom>
          <a:noFill/>
        </p:spPr>
        <p:txBody>
          <a:bodyPr wrap="square" lIns="36576" tIns="18288" rIns="36576" bIns="18288">
            <a:normAutofit/>
          </a:bodyPr>
          <a:lstStyle/>
          <a:p>
            <a:pPr algn="l">
              <a:defRPr sz="950" b="1">
                <a:solidFill>
                  <a:srgbClr val="9AA9BD"/>
                </a:solidFill>
                <a:latin typeface="Arial" panose="020B0604020202020204"/>
              </a:defRPr>
            </a:pPr>
            <a:r>
              <a:t>06</a:t>
            </a:r>
          </a:p>
        </p:txBody>
      </p:sp>
      <p:sp>
        <p:nvSpPr>
          <p:cNvPr id="63" name="TextBox 62"/>
          <p:cNvSpPr txBox="1"/>
          <p:nvPr/>
        </p:nvSpPr>
        <p:spPr>
          <a:xfrm>
            <a:off x="8686800" y="3803904"/>
            <a:ext cx="2331720" cy="274320"/>
          </a:xfrm>
          <a:prstGeom prst="rect">
            <a:avLst/>
          </a:prstGeom>
          <a:noFill/>
        </p:spPr>
        <p:txBody>
          <a:bodyPr wrap="square" lIns="36576" tIns="18288" rIns="36576" bIns="18288">
            <a:normAutofit/>
          </a:bodyPr>
          <a:lstStyle/>
          <a:p>
            <a:pPr algn="l">
              <a:defRPr sz="1420" b="1">
                <a:solidFill>
                  <a:srgbClr val="FB7185"/>
                </a:solidFill>
                <a:latin typeface="Arial" panose="020B0604020202020204"/>
              </a:defRPr>
            </a:pPr>
            <a:r>
              <a:t>Insights + Export</a:t>
            </a:r>
          </a:p>
        </p:txBody>
      </p:sp>
      <p:sp>
        <p:nvSpPr>
          <p:cNvPr id="64" name="TextBox 63"/>
          <p:cNvSpPr txBox="1"/>
          <p:nvPr/>
        </p:nvSpPr>
        <p:spPr>
          <a:xfrm>
            <a:off x="8686800" y="4142232"/>
            <a:ext cx="868680" cy="182880"/>
          </a:xfrm>
          <a:prstGeom prst="rect">
            <a:avLst/>
          </a:prstGeom>
          <a:noFill/>
        </p:spPr>
        <p:txBody>
          <a:bodyPr wrap="square" lIns="36576" tIns="18288" rIns="36576" bIns="18288">
            <a:normAutofit lnSpcReduction="10000"/>
          </a:bodyPr>
          <a:lstStyle/>
          <a:p>
            <a:pPr algn="l">
              <a:defRPr sz="1020" b="1">
                <a:solidFill>
                  <a:srgbClr val="9AA9BD"/>
                </a:solidFill>
                <a:latin typeface="Arial" panose="020B0604020202020204"/>
              </a:defRPr>
            </a:pPr>
            <a:r>
              <a:t>2.5 min</a:t>
            </a:r>
          </a:p>
        </p:txBody>
      </p:sp>
      <p:sp>
        <p:nvSpPr>
          <p:cNvPr id="65" name="TextBox 64"/>
          <p:cNvSpPr txBox="1"/>
          <p:nvPr/>
        </p:nvSpPr>
        <p:spPr>
          <a:xfrm>
            <a:off x="8686800" y="4398264"/>
            <a:ext cx="2240280" cy="384048"/>
          </a:xfrm>
          <a:prstGeom prst="rect">
            <a:avLst/>
          </a:prstGeom>
          <a:noFill/>
        </p:spPr>
        <p:txBody>
          <a:bodyPr wrap="square" lIns="36576" tIns="18288" rIns="36576" bIns="18288">
            <a:normAutofit/>
          </a:bodyPr>
          <a:lstStyle/>
          <a:p>
            <a:pPr algn="l">
              <a:defRPr sz="880" b="0">
                <a:solidFill>
                  <a:srgbClr val="9AA9BD"/>
                </a:solidFill>
                <a:latin typeface="Arial" panose="020B0604020202020204"/>
              </a:defRPr>
            </a:pPr>
            <a:r>
              <a:t>Automated findings, CSV export, limits and future work.</a:t>
            </a:r>
          </a:p>
        </p:txBody>
      </p:sp>
      <p:sp>
        <p:nvSpPr>
          <p:cNvPr id="66" name="Rectangle 65"/>
          <p:cNvSpPr/>
          <p:nvPr/>
        </p:nvSpPr>
        <p:spPr>
          <a:xfrm>
            <a:off x="676656" y="5559552"/>
            <a:ext cx="10570464" cy="384048"/>
          </a:xfrm>
          <a:prstGeom prst="rect">
            <a:avLst/>
          </a:prstGeom>
          <a:solidFill>
            <a:srgbClr val="0F1C2D"/>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final-page-marker"/>
          <p:cNvSpPr txBox="1"/>
          <p:nvPr/>
        </p:nvSpPr>
        <p:spPr>
          <a:xfrm>
            <a:off x="10378440" y="6345936"/>
            <a:ext cx="658368" cy="201168"/>
          </a:xfrm>
          <a:prstGeom prst="rect">
            <a:avLst/>
          </a:prstGeom>
          <a:noFill/>
        </p:spPr>
        <p:txBody>
          <a:bodyPr wrap="none">
            <a:spAutoFit/>
          </a:bodyPr>
          <a:lstStyle/>
          <a:p>
            <a:pPr algn="r"/>
            <a:r>
              <a:t>02 / 22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p:pic>
        <p:nvPicPr>
          <p:cNvPr id="27" name="Picture 26" descr="post_object_image_3996127533"/>
          <p:cNvPicPr>
            <a:picLocks noChangeAspect="1"/>
          </p:cNvPicPr>
          <p:nvPr/>
        </p:nvPicPr>
        <p:blipFill>
          <a:blip r:embed="rId1"/>
          <a:stretch>
            <a:fillRect/>
          </a:stretch>
        </p:blipFill>
        <p:spPr>
          <a:xfrm>
            <a:off x="0" y="0"/>
            <a:ext cx="12216308" cy="6858039"/>
          </a:xfrm>
          <a:prstGeom prst="rect">
            <a:avLst/>
          </a:prstGeom>
        </p:spPr>
      </p:pic>
      <p:sp>
        <p:nvSpPr>
          <p:cNvPr id="4" name="TextBox 3"/>
          <p:cNvSpPr txBox="1"/>
          <p:nvPr/>
        </p:nvSpPr>
        <p:spPr>
          <a:xfrm>
            <a:off x="1464447" y="512062"/>
            <a:ext cx="9692640" cy="935736"/>
          </a:xfrm>
          <a:prstGeom prst="rect">
            <a:avLst/>
          </a:prstGeom>
          <a:noFill/>
        </p:spPr>
        <p:txBody>
          <a:bodyPr wrap="square" lIns="0" tIns="0" rIns="0" bIns="0">
            <a:noAutofit/>
          </a:bodyPr>
          <a:lstStyle/>
          <a:p>
            <a:pPr algn="ctr"/>
            <a:r>
              <a:rPr lang="en-US" altLang="zh-CN" sz="2400" b="1">
                <a:solidFill>
                  <a:srgbClr val="F2F6FF"/>
                </a:solidFill>
                <a:latin typeface="Arial" panose="020B0604020202020204"/>
              </a:rPr>
              <a:t>Project Background: From Scattered Film Data to an Interactive Decision-Making System</a:t>
            </a:r>
            <a:endParaRPr lang="en-US" altLang="zh-CN" sz="2400" b="1">
              <a:solidFill>
                <a:srgbClr val="F2F6FF"/>
              </a:solidFill>
              <a:latin typeface="Arial" panose="020B0604020202020204"/>
            </a:endParaRPr>
          </a:p>
        </p:txBody>
      </p:sp>
      <p:sp>
        <p:nvSpPr>
          <p:cNvPr id="5" name="TextBox 4"/>
          <p:cNvSpPr txBox="1"/>
          <p:nvPr/>
        </p:nvSpPr>
        <p:spPr>
          <a:xfrm>
            <a:off x="617220" y="1648587"/>
            <a:ext cx="6092190" cy="567309"/>
          </a:xfrm>
          <a:prstGeom prst="rect">
            <a:avLst/>
          </a:prstGeom>
          <a:noFill/>
        </p:spPr>
        <p:txBody>
          <a:bodyPr wrap="square" lIns="0" tIns="0" rIns="0" bIns="0">
            <a:noAutofit/>
          </a:bodyPr>
          <a:lstStyle/>
          <a:p>
            <a:pPr algn="l"/>
            <a:r>
              <a:rPr lang="en-US" altLang="zh-CN" sz="1400">
                <a:solidFill>
                  <a:srgbClr val="00B0F0"/>
                </a:solidFill>
                <a:latin typeface="Arial" panose="020B0604020202020204"/>
              </a:rPr>
              <a:t>Goal: Aims to</a:t>
            </a:r>
            <a:r>
              <a:rPr lang="en-US" altLang="zh-CN" sz="1400" b="0">
                <a:solidFill>
                  <a:srgbClr val="00B0F0"/>
                </a:solidFill>
                <a:latin typeface="Arial" panose="020B0604020202020204"/>
              </a:rPr>
              <a:t> help analyze box office patterns, genre profitability, release 	date selection, and enable basic box office forecasting.</a:t>
            </a:r>
            <a:endParaRPr lang="en-US" altLang="zh-CN" sz="1400" b="0">
              <a:solidFill>
                <a:srgbClr val="00B0F0"/>
              </a:solidFill>
              <a:latin typeface="Arial" panose="020B0604020202020204"/>
            </a:endParaRPr>
          </a:p>
        </p:txBody>
      </p:sp>
      <p:sp>
        <p:nvSpPr>
          <p:cNvPr id="10" name="Rectangle 9"/>
          <p:cNvSpPr/>
          <p:nvPr/>
        </p:nvSpPr>
        <p:spPr>
          <a:xfrm>
            <a:off x="8770438" y="1796229"/>
            <a:ext cx="2377440" cy="1051560"/>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35029" y="1942533"/>
            <a:ext cx="2048256" cy="201168"/>
          </a:xfrm>
          <a:prstGeom prst="rect">
            <a:avLst/>
          </a:prstGeom>
          <a:noFill/>
        </p:spPr>
        <p:txBody>
          <a:bodyPr wrap="none" lIns="0" tIns="0" rIns="0" bIns="0">
            <a:spAutoFit/>
          </a:bodyPr>
          <a:lstStyle/>
          <a:p>
            <a:pPr algn="l"/>
            <a:r>
              <a:rPr sz="800" b="1">
                <a:solidFill>
                  <a:srgbClr val="9AA9BD"/>
                </a:solidFill>
                <a:latin typeface="Arial" panose="020B0604020202020204"/>
              </a:rPr>
              <a:t>RAW SOURCE</a:t>
            </a:r>
            <a:endParaRPr sz="800" b="1">
              <a:solidFill>
                <a:srgbClr val="9AA9BD"/>
              </a:solidFill>
              <a:latin typeface="Arial" panose="020B0604020202020204"/>
            </a:endParaRPr>
          </a:p>
        </p:txBody>
      </p:sp>
      <p:sp>
        <p:nvSpPr>
          <p:cNvPr id="12" name="TextBox 11"/>
          <p:cNvSpPr txBox="1"/>
          <p:nvPr/>
        </p:nvSpPr>
        <p:spPr>
          <a:xfrm>
            <a:off x="8935029" y="2198565"/>
            <a:ext cx="2048256" cy="402336"/>
          </a:xfrm>
          <a:prstGeom prst="rect">
            <a:avLst/>
          </a:prstGeom>
          <a:noFill/>
        </p:spPr>
        <p:txBody>
          <a:bodyPr wrap="none" lIns="0" tIns="0" rIns="0" bIns="0">
            <a:spAutoFit/>
          </a:bodyPr>
          <a:lstStyle/>
          <a:p>
            <a:pPr algn="l"/>
            <a:r>
              <a:rPr sz="2200" b="1">
                <a:solidFill>
                  <a:srgbClr val="3B82F6"/>
                </a:solidFill>
                <a:latin typeface="Arial" panose="020B0604020202020204"/>
              </a:rPr>
              <a:t>TMDB SQL</a:t>
            </a:r>
            <a:endParaRPr sz="2200" b="1">
              <a:solidFill>
                <a:srgbClr val="3B82F6"/>
              </a:solidFill>
              <a:latin typeface="Arial" panose="020B0604020202020204"/>
            </a:endParaRPr>
          </a:p>
        </p:txBody>
      </p:sp>
      <p:sp>
        <p:nvSpPr>
          <p:cNvPr id="13" name="TextBox 12"/>
          <p:cNvSpPr txBox="1"/>
          <p:nvPr/>
        </p:nvSpPr>
        <p:spPr>
          <a:xfrm>
            <a:off x="8935029" y="2646621"/>
            <a:ext cx="2048256" cy="310896"/>
          </a:xfrm>
          <a:prstGeom prst="rect">
            <a:avLst/>
          </a:prstGeom>
          <a:noFill/>
        </p:spPr>
        <p:txBody>
          <a:bodyPr wrap="none" lIns="0" tIns="0" rIns="0" bIns="0">
            <a:spAutoFit/>
          </a:bodyPr>
          <a:lstStyle/>
          <a:p>
            <a:pPr algn="l"/>
            <a:r>
              <a:rPr sz="900" b="0">
                <a:solidFill>
                  <a:srgbClr val="9AA9BD"/>
                </a:solidFill>
                <a:latin typeface="Arial" panose="020B0604020202020204"/>
              </a:rPr>
              <a:t>movie, genres, rate, credit...</a:t>
            </a:r>
            <a:endParaRPr sz="900" b="0">
              <a:solidFill>
                <a:srgbClr val="9AA9BD"/>
              </a:solidFill>
              <a:latin typeface="Arial" panose="020B0604020202020204"/>
            </a:endParaRPr>
          </a:p>
        </p:txBody>
      </p:sp>
      <p:sp>
        <p:nvSpPr>
          <p:cNvPr id="14" name="Rectangle 13"/>
          <p:cNvSpPr/>
          <p:nvPr/>
        </p:nvSpPr>
        <p:spPr>
          <a:xfrm>
            <a:off x="8770438" y="3122109"/>
            <a:ext cx="2377440" cy="1051560"/>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35029" y="3268413"/>
            <a:ext cx="2048256" cy="201168"/>
          </a:xfrm>
          <a:prstGeom prst="rect">
            <a:avLst/>
          </a:prstGeom>
          <a:noFill/>
        </p:spPr>
        <p:txBody>
          <a:bodyPr wrap="none" lIns="0" tIns="0" rIns="0" bIns="0">
            <a:spAutoFit/>
          </a:bodyPr>
          <a:lstStyle/>
          <a:p>
            <a:pPr algn="l"/>
            <a:r>
              <a:rPr sz="800" b="1">
                <a:solidFill>
                  <a:srgbClr val="9AA9BD"/>
                </a:solidFill>
                <a:latin typeface="Arial" panose="020B0604020202020204"/>
              </a:rPr>
              <a:t>FINAL TABLE</a:t>
            </a:r>
            <a:endParaRPr sz="800" b="1">
              <a:solidFill>
                <a:srgbClr val="9AA9BD"/>
              </a:solidFill>
              <a:latin typeface="Arial" panose="020B0604020202020204"/>
            </a:endParaRPr>
          </a:p>
        </p:txBody>
      </p:sp>
      <p:sp>
        <p:nvSpPr>
          <p:cNvPr id="16" name="TextBox 15"/>
          <p:cNvSpPr txBox="1"/>
          <p:nvPr/>
        </p:nvSpPr>
        <p:spPr>
          <a:xfrm>
            <a:off x="8935029" y="3524445"/>
            <a:ext cx="2048256" cy="402336"/>
          </a:xfrm>
          <a:prstGeom prst="rect">
            <a:avLst/>
          </a:prstGeom>
          <a:noFill/>
        </p:spPr>
        <p:txBody>
          <a:bodyPr wrap="none" lIns="0" tIns="0" rIns="0" bIns="0">
            <a:spAutoFit/>
          </a:bodyPr>
          <a:lstStyle/>
          <a:p>
            <a:pPr algn="l"/>
            <a:r>
              <a:rPr sz="2200" b="1">
                <a:solidFill>
                  <a:srgbClr val="2DD4BF"/>
                </a:solidFill>
                <a:latin typeface="Arial" panose="020B0604020202020204"/>
              </a:rPr>
              <a:t>45,346</a:t>
            </a:r>
            <a:endParaRPr sz="2200" b="1">
              <a:solidFill>
                <a:srgbClr val="2DD4BF"/>
              </a:solidFill>
              <a:latin typeface="Arial" panose="020B0604020202020204"/>
            </a:endParaRPr>
          </a:p>
        </p:txBody>
      </p:sp>
      <p:sp>
        <p:nvSpPr>
          <p:cNvPr id="17" name="TextBox 16"/>
          <p:cNvSpPr txBox="1"/>
          <p:nvPr/>
        </p:nvSpPr>
        <p:spPr>
          <a:xfrm>
            <a:off x="8935029" y="3972501"/>
            <a:ext cx="2048256" cy="310896"/>
          </a:xfrm>
          <a:prstGeom prst="rect">
            <a:avLst/>
          </a:prstGeom>
          <a:noFill/>
        </p:spPr>
        <p:txBody>
          <a:bodyPr wrap="none" lIns="0" tIns="0" rIns="0" bIns="0">
            <a:spAutoFit/>
          </a:bodyPr>
          <a:lstStyle/>
          <a:p>
            <a:pPr algn="l"/>
            <a:r>
              <a:rPr sz="900" b="0">
                <a:solidFill>
                  <a:srgbClr val="9AA9BD"/>
                </a:solidFill>
                <a:latin typeface="Arial" panose="020B0604020202020204"/>
              </a:rPr>
              <a:t>processed movies</a:t>
            </a:r>
            <a:endParaRPr sz="900" b="0">
              <a:solidFill>
                <a:srgbClr val="9AA9BD"/>
              </a:solidFill>
              <a:latin typeface="Arial" panose="020B0604020202020204"/>
            </a:endParaRPr>
          </a:p>
        </p:txBody>
      </p:sp>
      <p:sp>
        <p:nvSpPr>
          <p:cNvPr id="18" name="Rectangle 17"/>
          <p:cNvSpPr/>
          <p:nvPr/>
        </p:nvSpPr>
        <p:spPr>
          <a:xfrm>
            <a:off x="8770438" y="4447989"/>
            <a:ext cx="2377440" cy="1051560"/>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35029" y="4594293"/>
            <a:ext cx="2048256" cy="201168"/>
          </a:xfrm>
          <a:prstGeom prst="rect">
            <a:avLst/>
          </a:prstGeom>
          <a:noFill/>
        </p:spPr>
        <p:txBody>
          <a:bodyPr wrap="none" lIns="0" tIns="0" rIns="0" bIns="0">
            <a:spAutoFit/>
          </a:bodyPr>
          <a:lstStyle/>
          <a:p>
            <a:pPr algn="l"/>
            <a:r>
              <a:rPr sz="800" b="1">
                <a:solidFill>
                  <a:srgbClr val="9AA9BD"/>
                </a:solidFill>
                <a:latin typeface="Arial" panose="020B0604020202020204"/>
              </a:rPr>
              <a:t>COMPLETE FINANCE</a:t>
            </a:r>
            <a:endParaRPr sz="800" b="1">
              <a:solidFill>
                <a:srgbClr val="9AA9BD"/>
              </a:solidFill>
              <a:latin typeface="Arial" panose="020B0604020202020204"/>
            </a:endParaRPr>
          </a:p>
        </p:txBody>
      </p:sp>
      <p:sp>
        <p:nvSpPr>
          <p:cNvPr id="20" name="TextBox 19"/>
          <p:cNvSpPr txBox="1"/>
          <p:nvPr/>
        </p:nvSpPr>
        <p:spPr>
          <a:xfrm>
            <a:off x="8935029" y="4850325"/>
            <a:ext cx="2048256" cy="402336"/>
          </a:xfrm>
          <a:prstGeom prst="rect">
            <a:avLst/>
          </a:prstGeom>
          <a:noFill/>
        </p:spPr>
        <p:txBody>
          <a:bodyPr wrap="none" lIns="0" tIns="0" rIns="0" bIns="0">
            <a:spAutoFit/>
          </a:bodyPr>
          <a:lstStyle/>
          <a:p>
            <a:pPr algn="l"/>
            <a:r>
              <a:rPr sz="2200" b="1">
                <a:solidFill>
                  <a:srgbClr val="A855F7"/>
                </a:solidFill>
                <a:latin typeface="Arial" panose="020B0604020202020204"/>
              </a:rPr>
              <a:t>5,375</a:t>
            </a:r>
            <a:endParaRPr sz="2200" b="1">
              <a:solidFill>
                <a:srgbClr val="A855F7"/>
              </a:solidFill>
              <a:latin typeface="Arial" panose="020B0604020202020204"/>
            </a:endParaRPr>
          </a:p>
        </p:txBody>
      </p:sp>
      <p:sp>
        <p:nvSpPr>
          <p:cNvPr id="21" name="TextBox 20"/>
          <p:cNvSpPr txBox="1"/>
          <p:nvPr/>
        </p:nvSpPr>
        <p:spPr>
          <a:xfrm>
            <a:off x="8935029" y="5298381"/>
            <a:ext cx="2048256" cy="310896"/>
          </a:xfrm>
          <a:prstGeom prst="rect">
            <a:avLst/>
          </a:prstGeom>
          <a:noFill/>
        </p:spPr>
        <p:txBody>
          <a:bodyPr wrap="none" lIns="0" tIns="0" rIns="0" bIns="0">
            <a:spAutoFit/>
          </a:bodyPr>
          <a:lstStyle/>
          <a:p>
            <a:pPr algn="l"/>
            <a:r>
              <a:rPr sz="900" b="0">
                <a:solidFill>
                  <a:srgbClr val="9AA9BD"/>
                </a:solidFill>
                <a:latin typeface="Arial" panose="020B0604020202020204"/>
              </a:rPr>
              <a:t>budget / revenue rows</a:t>
            </a:r>
            <a:endParaRPr sz="900" b="0">
              <a:solidFill>
                <a:srgbClr val="9AA9BD"/>
              </a:solidFill>
              <a:latin typeface="Arial" panose="020B0604020202020204"/>
            </a:endParaRPr>
          </a:p>
        </p:txBody>
      </p:sp>
      <p:sp>
        <p:nvSpPr>
          <p:cNvPr id="22" name="Text Box 21"/>
          <p:cNvSpPr txBox="1"/>
          <p:nvPr userDrawn="1"/>
        </p:nvSpPr>
        <p:spPr>
          <a:xfrm>
            <a:off x="915020" y="2374238"/>
            <a:ext cx="6803389" cy="737916"/>
          </a:xfrm>
          <a:prstGeom prst="rect">
            <a:avLst/>
          </a:prstGeom>
        </p:spPr>
        <p:txBody>
          <a:bodyPr wrap="square" rtlCol="0">
            <a:noAutofit/>
          </a:bodyPr>
          <a:p>
            <a:pPr algn="l"/>
            <a:r>
              <a:rPr lang="en-US" altLang="zh-CN">
                <a:solidFill>
                  <a:schemeClr val="bg1"/>
                </a:solidFill>
              </a:rPr>
              <a:t>Data scattered across </a:t>
            </a:r>
            <a:r>
              <a:rPr lang="en-US" altLang="zh-CN">
                <a:solidFill>
                  <a:schemeClr val="bg1"/>
                </a:solidFill>
              </a:rPr>
              <a:t>different dataset → no single source provides both financial and metadata.</a:t>
            </a:r>
            <a:endParaRPr lang="en-US" altLang="zh-CN">
              <a:solidFill>
                <a:schemeClr val="bg1"/>
              </a:solidFill>
            </a:endParaRPr>
          </a:p>
        </p:txBody>
      </p:sp>
      <p:sp>
        <p:nvSpPr>
          <p:cNvPr id="24" name="Text Box 23"/>
          <p:cNvSpPr txBox="1"/>
          <p:nvPr userDrawn="1"/>
        </p:nvSpPr>
        <p:spPr>
          <a:xfrm>
            <a:off x="915020" y="3244235"/>
            <a:ext cx="6426835" cy="368300"/>
          </a:xfrm>
          <a:prstGeom prst="rect">
            <a:avLst/>
          </a:prstGeom>
        </p:spPr>
        <p:txBody>
          <a:bodyPr wrap="none" rtlCol="0">
            <a:spAutoFit/>
          </a:bodyPr>
          <a:p>
            <a:pPr algn="l"/>
            <a:r>
              <a:rPr lang="en-US" altLang="zh-CN">
                <a:solidFill>
                  <a:schemeClr val="bg1"/>
                </a:solidFill>
              </a:rPr>
              <a:t>Do </a:t>
            </a:r>
            <a:r>
              <a:rPr lang="en-US" altLang="zh-CN">
                <a:solidFill>
                  <a:schemeClr val="bg1"/>
                </a:solidFill>
                <a:cs typeface="Arial" panose="020B0604020202020204" pitchFamily="34" charset="0"/>
              </a:rPr>
              <a:t>not</a:t>
            </a:r>
            <a:r>
              <a:rPr lang="en-US" altLang="zh-CN">
                <a:solidFill>
                  <a:schemeClr val="bg1"/>
                </a:solidFill>
              </a:rPr>
              <a:t> need to query multiple sources, align genres manually.</a:t>
            </a:r>
            <a:endParaRPr lang="en-US" altLang="zh-CN">
              <a:solidFill>
                <a:schemeClr val="bg1"/>
              </a:solidFill>
            </a:endParaRPr>
          </a:p>
        </p:txBody>
      </p:sp>
      <p:sp>
        <p:nvSpPr>
          <p:cNvPr id="25" name="Text Box 24"/>
          <p:cNvSpPr txBox="1"/>
          <p:nvPr userDrawn="1"/>
        </p:nvSpPr>
        <p:spPr>
          <a:xfrm>
            <a:off x="915020" y="3926757"/>
            <a:ext cx="6901504" cy="1005341"/>
          </a:xfrm>
          <a:prstGeom prst="rect">
            <a:avLst/>
          </a:prstGeom>
        </p:spPr>
        <p:txBody>
          <a:bodyPr wrap="square" rtlCol="0">
            <a:noAutofit/>
          </a:bodyPr>
          <a:p>
            <a:pPr algn="l"/>
            <a:r>
              <a:t>Existing tools: 	Only show historical charts. 
Ours adds: 	Provide statistical significance tests, machine-learning predictions, and exportable insights. </a:t>
            </a:r>
            <a:endParaRPr lang="en-US" altLang="zh-CN">
              <a:solidFill>
                <a:schemeClr val="bg1"/>
              </a:solidFill>
            </a:endParaRPr>
          </a:p>
        </p:txBody>
      </p:sp>
      <p:sp>
        <p:nvSpPr>
          <p:cNvPr id="26" name="Text Box 25"/>
          <p:cNvSpPr txBox="1"/>
          <p:nvPr userDrawn="1"/>
        </p:nvSpPr>
        <p:spPr>
          <a:xfrm>
            <a:off x="915020" y="5252682"/>
            <a:ext cx="6563312" cy="624669"/>
          </a:xfrm>
          <a:prstGeom prst="rect">
            <a:avLst/>
          </a:prstGeom>
        </p:spPr>
        <p:txBody>
          <a:bodyPr wrap="square" rtlCol="0">
            <a:noAutofit/>
          </a:bodyPr>
          <a:p>
            <a:r>
              <a:rPr lang="en-US" altLang="zh-CN">
                <a:solidFill>
                  <a:srgbClr val="FFFFFF"/>
                </a:solidFill>
              </a:rPr>
              <a:t>Our project is an interactive system which solves users' questions and lets users search different data in targeted periods </a:t>
            </a:r>
            <a:endParaRPr lang="zh-CN" altLang="en-US"/>
          </a:p>
        </p:txBody>
      </p:sp>
      <p:sp>
        <p:nvSpPr>
          <p:cNvPr id="29" name="Text Box 28"/>
          <p:cNvSpPr txBox="1"/>
          <p:nvPr userDrawn="1"/>
        </p:nvSpPr>
        <p:spPr>
          <a:xfrm>
            <a:off x="306679" y="111266"/>
            <a:ext cx="1319412" cy="400796"/>
          </a:xfrm>
          <a:prstGeom prst="rect">
            <a:avLst/>
          </a:prstGeom>
        </p:spPr>
        <p:txBody>
          <a:bodyPr wrap="square" rtlCol="0">
            <a:noAutofit/>
          </a:bodyPr>
          <a:p>
            <a:r>
              <a:rPr lang="en-US" altLang="zh-CN">
                <a:solidFill>
                  <a:schemeClr val="bg1"/>
                </a:solidFill>
              </a:rPr>
              <a:t>Steph ZHU</a:t>
            </a:r>
            <a:endParaRPr lang="zh-CN" altLang="en-US">
              <a:solidFill>
                <a:schemeClr val="bg1"/>
              </a:solidFill>
            </a:endParaRPr>
          </a:p>
        </p:txBody>
      </p:sp>
      <p:sp>
        <p:nvSpPr>
          <p:cNvPr id="30" name="TextBox 2"/>
          <p:cNvSpPr txBox="1"/>
          <p:nvPr/>
        </p:nvSpPr>
        <p:spPr>
          <a:xfrm>
            <a:off x="11263630" y="292608"/>
            <a:ext cx="349250" cy="138430"/>
          </a:xfrm>
          <a:prstGeom prst="rect">
            <a:avLst/>
          </a:prstGeom>
          <a:noFill/>
        </p:spPr>
        <p:txBody>
          <a:bodyPr wrap="none" lIns="0" tIns="0" rIns="0" bIns="0">
            <a:spAutoFit/>
          </a:bodyPr>
          <a:lstStyle/>
          <a:p>
            <a:pPr algn="r"/>
            <a:r>
              <a:t>03 / 22</a:t>
            </a:r>
            <a:endParaRPr sz="900" b="1">
              <a:solidFill>
                <a:srgbClr val="9AA9BD"/>
              </a:solidFill>
              <a:latin typeface="Arial" panose="020B0604020202020204"/>
            </a:endParaRPr>
          </a:p>
        </p:txBody>
      </p:sp>
      <p:sp>
        <p:nvSpPr>
          <p:cNvPr id="6" name="Rectangle 5"/>
          <p:cNvSpPr/>
          <p:nvPr/>
        </p:nvSpPr>
        <p:spPr>
          <a:xfrm>
            <a:off x="502920" y="6291072"/>
            <a:ext cx="11201400" cy="320040"/>
          </a:xfrm>
          <a:prstGeom prst="rect">
            <a:avLst/>
          </a:prstGeom>
          <a:solidFill>
            <a:srgbClr val="0F1C2D"/>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final-page-marker"/>
          <p:cNvSpPr txBox="1"/>
          <p:nvPr/>
        </p:nvSpPr>
        <p:spPr>
          <a:xfrm>
            <a:off x="10378440" y="6345936"/>
            <a:ext cx="658368" cy="201168"/>
          </a:xfrm>
          <a:prstGeom prst="rect">
            <a:avLst/>
          </a:prstGeom>
          <a:noFill/>
        </p:spPr>
        <p:txBody>
          <a:bodyPr wrap="none">
            <a:spAutoFit/>
          </a:bodyPr>
          <a:lstStyle/>
          <a:p>
            <a:pPr algn="r"/>
            <a:r>
              <a:t>03 / 22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p:sp>
        <p:nvSpPr>
          <p:cNvPr id="3" name="TextBox 2"/>
          <p:cNvSpPr txBox="1"/>
          <p:nvPr/>
        </p:nvSpPr>
        <p:spPr>
          <a:xfrm>
            <a:off x="10607040" y="292608"/>
            <a:ext cx="1005840" cy="219456"/>
          </a:xfrm>
          <a:prstGeom prst="rect">
            <a:avLst/>
          </a:prstGeom>
          <a:noFill/>
        </p:spPr>
        <p:txBody>
          <a:bodyPr wrap="none" lIns="0" tIns="0" rIns="0" bIns="0">
            <a:spAutoFit/>
          </a:bodyPr>
          <a:lstStyle/>
          <a:p>
            <a:pPr algn="r"/>
            <a:r>
              <a:t>04 / 22</a:t>
            </a:r>
            <a:endParaRPr sz="900" b="1">
              <a:solidFill>
                <a:srgbClr val="9AA9BD"/>
              </a:solidFill>
              <a:latin typeface="Arial" panose="020B0604020202020204"/>
            </a:endParaRPr>
          </a:p>
        </p:txBody>
      </p:sp>
      <p:sp>
        <p:nvSpPr>
          <p:cNvPr id="4" name="TextBox 3"/>
          <p:cNvSpPr txBox="1"/>
          <p:nvPr/>
        </p:nvSpPr>
        <p:spPr>
          <a:xfrm>
            <a:off x="4649817" y="292579"/>
            <a:ext cx="2907633" cy="415290"/>
          </a:xfrm>
          <a:prstGeom prst="rect">
            <a:avLst/>
          </a:prstGeom>
          <a:noFill/>
        </p:spPr>
        <p:txBody>
          <a:bodyPr wrap="square" lIns="0" tIns="0" rIns="0" bIns="0">
            <a:noAutofit/>
          </a:bodyPr>
          <a:lstStyle/>
          <a:p>
            <a:pPr algn="l"/>
            <a:r>
              <a:rPr sz="2700" b="1">
                <a:solidFill>
                  <a:srgbClr val="F2F6FF"/>
                </a:solidFill>
                <a:latin typeface="Arial" panose="020B0604020202020204" pitchFamily="34" charset="0"/>
              </a:rPr>
              <a:t>D</a:t>
            </a:r>
            <a:r>
              <a:rPr lang="en-US" altLang="zh-CN" sz="2700" b="1">
                <a:solidFill>
                  <a:srgbClr val="F2F6FF"/>
                </a:solidFill>
                <a:latin typeface="Arial" panose="020B0604020202020204" pitchFamily="34" charset="0"/>
              </a:rPr>
              <a:t>ata Cleaning</a:t>
            </a:r>
            <a:endParaRPr>
              <a:latin typeface="Arial" panose="020B0604020202020204"/>
            </a:endParaRPr>
          </a:p>
        </p:txBody>
      </p:sp>
      <p:sp>
        <p:nvSpPr>
          <p:cNvPr id="29" name="Text Box 28"/>
          <p:cNvSpPr txBox="1"/>
          <p:nvPr userDrawn="1"/>
        </p:nvSpPr>
        <p:spPr>
          <a:xfrm>
            <a:off x="306679" y="111266"/>
            <a:ext cx="1319412" cy="400796"/>
          </a:xfrm>
          <a:prstGeom prst="rect">
            <a:avLst/>
          </a:prstGeom>
        </p:spPr>
        <p:txBody>
          <a:bodyPr wrap="square" rtlCol="0">
            <a:noAutofit/>
          </a:bodyPr>
          <a:p>
            <a:r>
              <a:rPr lang="en-US" altLang="zh-CN">
                <a:solidFill>
                  <a:schemeClr val="bg1"/>
                </a:solidFill>
              </a:rPr>
              <a:t>Steph ZHU</a:t>
            </a:r>
            <a:endParaRPr lang="zh-CN" altLang="en-US">
              <a:solidFill>
                <a:schemeClr val="bg1"/>
              </a:solidFill>
            </a:endParaRPr>
          </a:p>
        </p:txBody>
      </p:sp>
      <p:sp>
        <p:nvSpPr>
          <p:cNvPr id="22" name="Text Box 21"/>
          <p:cNvSpPr txBox="1"/>
          <p:nvPr userDrawn="1"/>
        </p:nvSpPr>
        <p:spPr>
          <a:xfrm>
            <a:off x="669492" y="1304993"/>
            <a:ext cx="8619796" cy="5150775"/>
          </a:xfrm>
          <a:prstGeom prst="rect">
            <a:avLst/>
          </a:prstGeom>
        </p:spPr>
        <p:txBody>
          <a:bodyPr wrap="square" rtlCol="0">
            <a:noAutofit/>
          </a:bodyPr>
          <a:p>
            <a:pPr marL="342900" indent="-342900" algn="l">
              <a:buAutoNum type="arabicPeriod"/>
            </a:pPr>
            <a:r>
              <a:t>Removed missing values, duplicate records, and invalid data and filter invalid ratings to improve data quality and consistency.
For example, ratings had to be between 0.5 and 5.0, with increments of 0.5 only.
Standardized the data format.
For example, we converted all movie IDs into TMDB IDs using the links.csv mapping table, so all tables could connect correctly through the same key.
Processed nested JSON data, such as genres, keywords, cast, and crew information.
and extracted and flattened these fields into separate relational tables to match our ER diagram design.
Sorted the data, unified column names and data types, and exported the cleaned results as CSV files for database import.</a:t>
            </a:r>
            <a:endParaRPr lang="en-US" altLang="zh-CN">
              <a:solidFill>
                <a:srgbClr val="FFFFFF"/>
              </a:solidFill>
            </a:endParaRPr>
          </a:p>
        </p:txBody>
      </p:sp>
      <p:sp>
        <p:nvSpPr>
          <p:cNvPr id="6" name="Rectangle 5"/>
          <p:cNvSpPr/>
          <p:nvPr/>
        </p:nvSpPr>
        <p:spPr>
          <a:xfrm>
            <a:off x="502920" y="6291072"/>
            <a:ext cx="11201400" cy="320040"/>
          </a:xfrm>
          <a:prstGeom prst="rect">
            <a:avLst/>
          </a:prstGeom>
          <a:solidFill>
            <a:srgbClr val="0F1C2D"/>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final-page-marker"/>
          <p:cNvSpPr txBox="1"/>
          <p:nvPr/>
        </p:nvSpPr>
        <p:spPr>
          <a:xfrm>
            <a:off x="10378440" y="6345936"/>
            <a:ext cx="658368" cy="201168"/>
          </a:xfrm>
          <a:prstGeom prst="rect">
            <a:avLst/>
          </a:prstGeom>
          <a:noFill/>
        </p:spPr>
        <p:txBody>
          <a:bodyPr wrap="none">
            <a:spAutoFit/>
          </a:bodyPr>
          <a:lstStyle/>
          <a:p>
            <a:pPr algn="r"/>
            <a:r>
              <a:t>04 / 22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1"/>
          <a:stretch>
            <a:fillRect t="-170" b="-170"/>
          </a:stretch>
        </a:blipFill>
        <a:effectLst/>
      </p:bgPr>
    </p:bg>
    <p:spTree>
      <p:nvGrpSpPr>
        <p:cNvPr id="1" name=""/>
        <p:cNvGrpSpPr/>
        <p:nvPr/>
      </p:nvGrpSpPr>
      <p:grpSpPr/>
      <p:sp>
        <p:nvSpPr>
          <p:cNvPr id="2" name="TextBox 1"/>
          <p:cNvSpPr txBox="1"/>
          <p:nvPr/>
        </p:nvSpPr>
        <p:spPr>
          <a:xfrm>
            <a:off x="502920" y="292608"/>
            <a:ext cx="368300" cy="138430"/>
          </a:xfrm>
          <a:prstGeom prst="rect">
            <a:avLst/>
          </a:prstGeom>
          <a:noFill/>
        </p:spPr>
        <p:txBody>
          <a:bodyPr wrap="none" lIns="0" tIns="0" rIns="0" bIns="0">
            <a:spAutoFit/>
          </a:bodyPr>
          <a:lstStyle/>
          <a:p>
            <a:pPr algn="l"/>
            <a:r>
              <a:rPr lang="en-US" altLang="zh-CN" sz="900" b="1">
                <a:solidFill>
                  <a:srgbClr val="3B82F6"/>
                </a:solidFill>
                <a:latin typeface="Arial" panose="020B0604020202020204"/>
              </a:rPr>
              <a:t>Gareth</a:t>
            </a:r>
            <a:endParaRPr sz="900" b="1">
              <a:solidFill>
                <a:srgbClr val="3B82F6"/>
              </a:solidFill>
              <a:latin typeface="Arial" panose="020B0604020202020204"/>
            </a:endParaRPr>
          </a:p>
        </p:txBody>
      </p:sp>
      <p:sp>
        <p:nvSpPr>
          <p:cNvPr id="3" name="TextBox 2"/>
          <p:cNvSpPr txBox="1"/>
          <p:nvPr/>
        </p:nvSpPr>
        <p:spPr>
          <a:xfrm>
            <a:off x="10607040" y="292608"/>
            <a:ext cx="1005840" cy="219456"/>
          </a:xfrm>
          <a:prstGeom prst="rect">
            <a:avLst/>
          </a:prstGeom>
          <a:noFill/>
        </p:spPr>
        <p:txBody>
          <a:bodyPr wrap="none" lIns="0" tIns="0" rIns="0" bIns="0">
            <a:spAutoFit/>
          </a:bodyPr>
          <a:lstStyle/>
          <a:p>
            <a:pPr algn="r"/>
            <a:r>
              <a:t>05 / 22</a:t>
            </a:r>
            <a:endParaRPr sz="900" b="1">
              <a:solidFill>
                <a:srgbClr val="9AA9BD"/>
              </a:solidFill>
              <a:latin typeface="Arial" panose="020B0604020202020204"/>
            </a:endParaRPr>
          </a:p>
        </p:txBody>
      </p:sp>
      <p:sp>
        <p:nvSpPr>
          <p:cNvPr id="4" name="TextBox 3"/>
          <p:cNvSpPr txBox="1"/>
          <p:nvPr/>
        </p:nvSpPr>
        <p:spPr>
          <a:xfrm>
            <a:off x="502920" y="585216"/>
            <a:ext cx="9429750" cy="415290"/>
          </a:xfrm>
          <a:prstGeom prst="rect">
            <a:avLst/>
          </a:prstGeom>
          <a:noFill/>
        </p:spPr>
        <p:txBody>
          <a:bodyPr wrap="none" lIns="0" tIns="0" rIns="0" bIns="0">
            <a:spAutoFit/>
          </a:bodyPr>
          <a:lstStyle/>
          <a:p>
            <a:pPr algn="l"/>
            <a:r>
              <a:rPr sz="2700" b="1">
                <a:solidFill>
                  <a:srgbClr val="F2F6FF"/>
                </a:solidFill>
                <a:latin typeface="Arial" panose="020B0604020202020204" pitchFamily="34" charset="0"/>
              </a:rPr>
              <a:t>Database Design: From ER Diagram to Relational Schema</a:t>
            </a:r>
            <a:endParaRPr>
              <a:latin typeface="Arial" panose="020B0604020202020204"/>
            </a:endParaRPr>
          </a:p>
        </p:txBody>
      </p:sp>
      <p:sp>
        <p:nvSpPr>
          <p:cNvPr id="5" name="TextBox 4"/>
          <p:cNvSpPr txBox="1"/>
          <p:nvPr/>
        </p:nvSpPr>
        <p:spPr>
          <a:xfrm>
            <a:off x="530352" y="1042415"/>
            <a:ext cx="8808085" cy="184150"/>
          </a:xfrm>
          <a:prstGeom prst="rect">
            <a:avLst/>
          </a:prstGeom>
          <a:noFill/>
        </p:spPr>
        <p:txBody>
          <a:bodyPr wrap="none" lIns="0" tIns="0" rIns="0" bIns="0">
            <a:spAutoFit/>
          </a:bodyPr>
          <a:lstStyle/>
          <a:p>
            <a:pPr algn="l"/>
            <a:r>
              <a:rPr sz="1200">
                <a:solidFill>
                  <a:srgbClr val="9AA9BD"/>
                </a:solidFill>
                <a:latin typeface="Arial" panose="020B0604020202020204" pitchFamily="34" charset="0"/>
              </a:rPr>
              <a:t>The ER diagram was implemented as a MySQL relational schema to support structured analysis and reproducible data processing.</a:t>
            </a:r>
            <a:endParaRPr>
              <a:latin typeface="Arial" panose="020B0604020202020204"/>
            </a:endParaRPr>
          </a:p>
        </p:txBody>
      </p:sp>
      <p:sp>
        <p:nvSpPr>
          <p:cNvPr id="6" name="Rectangle 5"/>
          <p:cNvSpPr/>
          <p:nvPr/>
        </p:nvSpPr>
        <p:spPr>
          <a:xfrm>
            <a:off x="502920" y="6291072"/>
            <a:ext cx="11201400" cy="320040"/>
          </a:xfrm>
          <a:prstGeom prst="rect">
            <a:avLst/>
          </a:prstGeom>
          <a:solidFill>
            <a:srgbClr val="0F1C2D"/>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1.png"/>
          <p:cNvPicPr>
            <a:picLocks noChangeAspect="1"/>
          </p:cNvPicPr>
          <p:nvPr/>
        </p:nvPicPr>
        <p:blipFill>
          <a:blip r:embed="rId2"/>
          <a:stretch>
            <a:fillRect/>
          </a:stretch>
        </p:blipFill>
        <p:spPr>
          <a:xfrm>
            <a:off x="685800" y="1325880"/>
            <a:ext cx="6949440" cy="3611880"/>
          </a:xfrm>
          <a:prstGeom prst="rect">
            <a:avLst/>
          </a:prstGeom>
        </p:spPr>
      </p:pic>
      <p:sp>
        <p:nvSpPr>
          <p:cNvPr id="10" name="Rectangle 9"/>
          <p:cNvSpPr/>
          <p:nvPr/>
        </p:nvSpPr>
        <p:spPr>
          <a:xfrm>
            <a:off x="8001000" y="1417320"/>
            <a:ext cx="2651760" cy="914400"/>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65592" y="1563624"/>
            <a:ext cx="2322576" cy="201168"/>
          </a:xfrm>
          <a:prstGeom prst="rect">
            <a:avLst/>
          </a:prstGeom>
          <a:noFill/>
        </p:spPr>
        <p:txBody>
          <a:bodyPr wrap="none" lIns="0" tIns="0" rIns="0" bIns="0">
            <a:spAutoFit/>
          </a:bodyPr>
          <a:lstStyle/>
          <a:p>
            <a:pPr algn="l"/>
            <a:r>
              <a:rPr sz="800" b="1">
                <a:solidFill>
                  <a:srgbClr val="9AA9BD"/>
                </a:solidFill>
                <a:latin typeface="Arial" panose="020B0604020202020204"/>
              </a:rPr>
              <a:t>CORE RELATION</a:t>
            </a:r>
            <a:endParaRPr sz="800" b="1">
              <a:solidFill>
                <a:srgbClr val="9AA9BD"/>
              </a:solidFill>
              <a:latin typeface="Arial" panose="020B0604020202020204"/>
            </a:endParaRPr>
          </a:p>
        </p:txBody>
      </p:sp>
      <p:sp>
        <p:nvSpPr>
          <p:cNvPr id="12" name="TextBox 11"/>
          <p:cNvSpPr txBox="1"/>
          <p:nvPr/>
        </p:nvSpPr>
        <p:spPr>
          <a:xfrm>
            <a:off x="8165592" y="1819656"/>
            <a:ext cx="2322576" cy="402336"/>
          </a:xfrm>
          <a:prstGeom prst="rect">
            <a:avLst/>
          </a:prstGeom>
          <a:noFill/>
        </p:spPr>
        <p:txBody>
          <a:bodyPr wrap="none" lIns="0" tIns="0" rIns="0" bIns="0">
            <a:spAutoFit/>
          </a:bodyPr>
          <a:lstStyle/>
          <a:p>
            <a:pPr algn="l"/>
            <a:r>
              <a:rPr sz="2200" b="1">
                <a:solidFill>
                  <a:srgbClr val="3B82F6"/>
                </a:solidFill>
                <a:latin typeface="Arial" panose="020B0604020202020204"/>
              </a:rPr>
              <a:t>movie ↔ genres</a:t>
            </a:r>
            <a:endParaRPr sz="2200" b="1">
              <a:solidFill>
                <a:srgbClr val="3B82F6"/>
              </a:solidFill>
              <a:latin typeface="Arial" panose="020B0604020202020204"/>
            </a:endParaRPr>
          </a:p>
        </p:txBody>
      </p:sp>
      <p:sp>
        <p:nvSpPr>
          <p:cNvPr id="13" name="TextBox 12"/>
          <p:cNvSpPr txBox="1"/>
          <p:nvPr/>
        </p:nvSpPr>
        <p:spPr>
          <a:xfrm>
            <a:off x="8165586" y="2100637"/>
            <a:ext cx="2322576" cy="310896"/>
          </a:xfrm>
          <a:prstGeom prst="rect">
            <a:avLst/>
          </a:prstGeom>
          <a:noFill/>
        </p:spPr>
        <p:txBody>
          <a:bodyPr wrap="none" lIns="0" tIns="0" rIns="0" bIns="0">
            <a:spAutoFit/>
          </a:bodyPr>
          <a:lstStyle/>
          <a:p>
            <a:pPr algn="l"/>
            <a:r>
              <a:rPr sz="900" b="0">
                <a:solidFill>
                  <a:srgbClr val="9AA9BD"/>
                </a:solidFill>
                <a:latin typeface="Arial" panose="020B0604020202020204"/>
              </a:rPr>
              <a:t>many-to-many via link_genres</a:t>
            </a:r>
            <a:endParaRPr sz="900" b="0">
              <a:solidFill>
                <a:srgbClr val="9AA9BD"/>
              </a:solidFill>
              <a:latin typeface="Arial" panose="020B0604020202020204"/>
            </a:endParaRPr>
          </a:p>
        </p:txBody>
      </p:sp>
      <p:sp>
        <p:nvSpPr>
          <p:cNvPr id="14" name="Rectangle 13"/>
          <p:cNvSpPr/>
          <p:nvPr/>
        </p:nvSpPr>
        <p:spPr>
          <a:xfrm>
            <a:off x="8001000" y="2606040"/>
            <a:ext cx="2651760" cy="914400"/>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5592" y="2752344"/>
            <a:ext cx="2322576" cy="201168"/>
          </a:xfrm>
          <a:prstGeom prst="rect">
            <a:avLst/>
          </a:prstGeom>
          <a:noFill/>
        </p:spPr>
        <p:txBody>
          <a:bodyPr wrap="none" lIns="0" tIns="0" rIns="0" bIns="0">
            <a:spAutoFit/>
          </a:bodyPr>
          <a:lstStyle/>
          <a:p>
            <a:pPr algn="l"/>
            <a:r>
              <a:rPr sz="800" b="1">
                <a:solidFill>
                  <a:srgbClr val="9AA9BD"/>
                </a:solidFill>
                <a:latin typeface="Arial" panose="020B0604020202020204"/>
              </a:rPr>
              <a:t>RATING RELATION</a:t>
            </a:r>
            <a:endParaRPr sz="800" b="1">
              <a:solidFill>
                <a:srgbClr val="9AA9BD"/>
              </a:solidFill>
              <a:latin typeface="Arial" panose="020B0604020202020204"/>
            </a:endParaRPr>
          </a:p>
        </p:txBody>
      </p:sp>
      <p:sp>
        <p:nvSpPr>
          <p:cNvPr id="16" name="TextBox 15"/>
          <p:cNvSpPr txBox="1"/>
          <p:nvPr/>
        </p:nvSpPr>
        <p:spPr>
          <a:xfrm>
            <a:off x="8165592" y="3008376"/>
            <a:ext cx="2322576" cy="402336"/>
          </a:xfrm>
          <a:prstGeom prst="rect">
            <a:avLst/>
          </a:prstGeom>
          <a:noFill/>
        </p:spPr>
        <p:txBody>
          <a:bodyPr wrap="none" lIns="0" tIns="0" rIns="0" bIns="0">
            <a:spAutoFit/>
          </a:bodyPr>
          <a:lstStyle/>
          <a:p>
            <a:pPr algn="l"/>
            <a:r>
              <a:rPr sz="2200" b="1">
                <a:solidFill>
                  <a:srgbClr val="2DD4BF"/>
                </a:solidFill>
                <a:latin typeface="Arial" panose="020B0604020202020204"/>
              </a:rPr>
              <a:t>movie ↔ rate</a:t>
            </a:r>
            <a:endParaRPr sz="2200" b="1">
              <a:solidFill>
                <a:srgbClr val="2DD4BF"/>
              </a:solidFill>
              <a:latin typeface="Arial" panose="020B0604020202020204"/>
            </a:endParaRPr>
          </a:p>
        </p:txBody>
      </p:sp>
      <p:sp>
        <p:nvSpPr>
          <p:cNvPr id="17" name="TextBox 16"/>
          <p:cNvSpPr txBox="1"/>
          <p:nvPr/>
        </p:nvSpPr>
        <p:spPr>
          <a:xfrm>
            <a:off x="8165586" y="3289357"/>
            <a:ext cx="2322576" cy="310896"/>
          </a:xfrm>
          <a:prstGeom prst="rect">
            <a:avLst/>
          </a:prstGeom>
          <a:noFill/>
        </p:spPr>
        <p:txBody>
          <a:bodyPr wrap="none" lIns="0" tIns="0" rIns="0" bIns="0">
            <a:spAutoFit/>
          </a:bodyPr>
          <a:lstStyle/>
          <a:p>
            <a:pPr algn="l"/>
            <a:r>
              <a:rPr sz="900" b="0">
                <a:solidFill>
                  <a:srgbClr val="9AA9BD"/>
                </a:solidFill>
                <a:latin typeface="Arial" panose="020B0604020202020204"/>
              </a:rPr>
              <a:t>one movie, many user ratings</a:t>
            </a:r>
            <a:endParaRPr sz="900" b="0">
              <a:solidFill>
                <a:srgbClr val="9AA9BD"/>
              </a:solidFill>
              <a:latin typeface="Arial" panose="020B0604020202020204"/>
            </a:endParaRPr>
          </a:p>
        </p:txBody>
      </p:sp>
      <p:sp>
        <p:nvSpPr>
          <p:cNvPr id="18" name="Rectangle 17"/>
          <p:cNvSpPr/>
          <p:nvPr/>
        </p:nvSpPr>
        <p:spPr>
          <a:xfrm>
            <a:off x="8001000" y="3794760"/>
            <a:ext cx="2651760" cy="914400"/>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65592" y="3941064"/>
            <a:ext cx="2322576" cy="201168"/>
          </a:xfrm>
          <a:prstGeom prst="rect">
            <a:avLst/>
          </a:prstGeom>
          <a:noFill/>
        </p:spPr>
        <p:txBody>
          <a:bodyPr wrap="none" lIns="0" tIns="0" rIns="0" bIns="0">
            <a:spAutoFit/>
          </a:bodyPr>
          <a:lstStyle/>
          <a:p>
            <a:pPr algn="l"/>
            <a:r>
              <a:rPr sz="800" b="1">
                <a:solidFill>
                  <a:srgbClr val="9AA9BD"/>
                </a:solidFill>
                <a:latin typeface="Arial" panose="020B0604020202020204"/>
              </a:rPr>
              <a:t>PEOPLE RELATION</a:t>
            </a:r>
            <a:endParaRPr sz="800" b="1">
              <a:solidFill>
                <a:srgbClr val="9AA9BD"/>
              </a:solidFill>
              <a:latin typeface="Arial" panose="020B0604020202020204"/>
            </a:endParaRPr>
          </a:p>
        </p:txBody>
      </p:sp>
      <p:sp>
        <p:nvSpPr>
          <p:cNvPr id="20" name="TextBox 19"/>
          <p:cNvSpPr txBox="1"/>
          <p:nvPr/>
        </p:nvSpPr>
        <p:spPr>
          <a:xfrm>
            <a:off x="8165592" y="4197096"/>
            <a:ext cx="2322576" cy="402336"/>
          </a:xfrm>
          <a:prstGeom prst="rect">
            <a:avLst/>
          </a:prstGeom>
          <a:noFill/>
        </p:spPr>
        <p:txBody>
          <a:bodyPr wrap="none" lIns="0" tIns="0" rIns="0" bIns="0">
            <a:spAutoFit/>
          </a:bodyPr>
          <a:lstStyle/>
          <a:p>
            <a:pPr algn="l"/>
            <a:r>
              <a:rPr sz="2200" b="1">
                <a:solidFill>
                  <a:srgbClr val="A855F7"/>
                </a:solidFill>
                <a:latin typeface="Arial" panose="020B0604020202020204"/>
              </a:rPr>
              <a:t>cast / credit</a:t>
            </a:r>
            <a:endParaRPr sz="2200" b="1">
              <a:solidFill>
                <a:srgbClr val="A855F7"/>
              </a:solidFill>
              <a:latin typeface="Arial" panose="020B0604020202020204"/>
            </a:endParaRPr>
          </a:p>
        </p:txBody>
      </p:sp>
      <p:sp>
        <p:nvSpPr>
          <p:cNvPr id="21" name="TextBox 20"/>
          <p:cNvSpPr txBox="1"/>
          <p:nvPr/>
        </p:nvSpPr>
        <p:spPr>
          <a:xfrm>
            <a:off x="8165586" y="4478077"/>
            <a:ext cx="2322576" cy="310896"/>
          </a:xfrm>
          <a:prstGeom prst="rect">
            <a:avLst/>
          </a:prstGeom>
          <a:noFill/>
        </p:spPr>
        <p:txBody>
          <a:bodyPr wrap="none" lIns="0" tIns="0" rIns="0" bIns="0">
            <a:spAutoFit/>
          </a:bodyPr>
          <a:lstStyle/>
          <a:p>
            <a:pPr algn="l"/>
            <a:r>
              <a:rPr sz="900" b="0">
                <a:solidFill>
                  <a:srgbClr val="9AA9BD"/>
                </a:solidFill>
                <a:latin typeface="Arial" panose="020B0604020202020204"/>
              </a:rPr>
              <a:t>actors, directors, writers</a:t>
            </a:r>
            <a:endParaRPr sz="900" b="0">
              <a:solidFill>
                <a:srgbClr val="9AA9BD"/>
              </a:solidFill>
              <a:latin typeface="Arial" panose="020B0604020202020204"/>
            </a:endParaRPr>
          </a:p>
        </p:txBody>
      </p:sp>
      <p:sp>
        <p:nvSpPr>
          <p:cNvPr id="22" name="TextBox 21"/>
          <p:cNvSpPr txBox="1"/>
          <p:nvPr/>
        </p:nvSpPr>
        <p:spPr>
          <a:xfrm>
            <a:off x="749808" y="5440680"/>
            <a:ext cx="4970145" cy="153670"/>
          </a:xfrm>
          <a:prstGeom prst="rect">
            <a:avLst/>
          </a:prstGeom>
          <a:noFill/>
        </p:spPr>
        <p:txBody>
          <a:bodyPr wrap="none" lIns="0" tIns="0" rIns="0" bIns="0">
            <a:spAutoFit/>
          </a:bodyPr>
          <a:lstStyle/>
          <a:p>
            <a:pPr algn="l"/>
            <a:r>
              <a:rPr sz="1000">
                <a:solidFill>
                  <a:srgbClr val="9AA9BD"/>
                </a:solidFill>
                <a:latin typeface="Arial" panose="020B0604020202020204" pitchFamily="34" charset="0"/>
              </a:rPr>
              <a:t>The database was exported as SQL files for restoration, validation, and later project use.</a:t>
            </a:r>
            <a:endParaRPr>
              <a:latin typeface="Arial" panose="020B0604020202020204"/>
            </a:endParaRPr>
          </a:p>
        </p:txBody>
      </p:sp>
      <p:sp>
        <p:nvSpPr>
          <p:cNvPr id="23" name="final-page-marker"/>
          <p:cNvSpPr txBox="1"/>
          <p:nvPr/>
        </p:nvSpPr>
        <p:spPr>
          <a:xfrm>
            <a:off x="10378440" y="6345936"/>
            <a:ext cx="658368" cy="201168"/>
          </a:xfrm>
          <a:prstGeom prst="rect">
            <a:avLst/>
          </a:prstGeom>
          <a:noFill/>
        </p:spPr>
        <p:txBody>
          <a:bodyPr wrap="none">
            <a:spAutoFit/>
          </a:bodyPr>
          <a:lstStyle/>
          <a:p>
            <a:pPr algn="r"/>
            <a:r>
              <a:t>05 / 22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1"/>
          <a:stretch>
            <a:fillRect t="-170" b="-170"/>
          </a:stretch>
        </a:blipFill>
        <a:effectLst/>
      </p:bgPr>
    </p:bg>
    <p:spTree>
      <p:nvGrpSpPr>
        <p:cNvPr id="1" name=""/>
        <p:cNvGrpSpPr/>
        <p:nvPr/>
      </p:nvGrpSpPr>
      <p:grpSpPr/>
      <p:sp>
        <p:nvSpPr>
          <p:cNvPr id="2" name="TextBox 1"/>
          <p:cNvSpPr txBox="1"/>
          <p:nvPr/>
        </p:nvSpPr>
        <p:spPr>
          <a:xfrm>
            <a:off x="502920" y="292608"/>
            <a:ext cx="368300" cy="138430"/>
          </a:xfrm>
          <a:prstGeom prst="rect">
            <a:avLst/>
          </a:prstGeom>
          <a:noFill/>
        </p:spPr>
        <p:txBody>
          <a:bodyPr wrap="none" lIns="0" tIns="0" rIns="0" bIns="0">
            <a:spAutoFit/>
          </a:bodyPr>
          <a:lstStyle/>
          <a:p>
            <a:pPr algn="l"/>
            <a:r>
              <a:rPr lang="en-US" altLang="zh-CN" sz="900" b="1">
                <a:solidFill>
                  <a:srgbClr val="3B82F6"/>
                </a:solidFill>
                <a:latin typeface="Arial" panose="020B0604020202020204"/>
              </a:rPr>
              <a:t>Gareth</a:t>
            </a:r>
            <a:endParaRPr sz="900" b="1">
              <a:solidFill>
                <a:srgbClr val="3B82F6"/>
              </a:solidFill>
              <a:latin typeface="Arial" panose="020B0604020202020204"/>
            </a:endParaRPr>
          </a:p>
        </p:txBody>
      </p:sp>
      <p:sp>
        <p:nvSpPr>
          <p:cNvPr id="3" name="TextBox 2"/>
          <p:cNvSpPr txBox="1"/>
          <p:nvPr/>
        </p:nvSpPr>
        <p:spPr>
          <a:xfrm>
            <a:off x="10607040" y="292608"/>
            <a:ext cx="1005840" cy="219456"/>
          </a:xfrm>
          <a:prstGeom prst="rect">
            <a:avLst/>
          </a:prstGeom>
          <a:noFill/>
        </p:spPr>
        <p:txBody>
          <a:bodyPr wrap="none" lIns="0" tIns="0" rIns="0" bIns="0">
            <a:spAutoFit/>
          </a:bodyPr>
          <a:lstStyle/>
          <a:p>
            <a:pPr algn="r"/>
            <a:r>
              <a:t>06 / 22</a:t>
            </a:r>
            <a:endParaRPr sz="900" b="1">
              <a:solidFill>
                <a:srgbClr val="9AA9BD"/>
              </a:solidFill>
              <a:latin typeface="Arial" panose="020B0604020202020204"/>
            </a:endParaRPr>
          </a:p>
        </p:txBody>
      </p:sp>
      <p:sp>
        <p:nvSpPr>
          <p:cNvPr id="4" name="TextBox 3"/>
          <p:cNvSpPr txBox="1"/>
          <p:nvPr/>
        </p:nvSpPr>
        <p:spPr>
          <a:xfrm>
            <a:off x="502920" y="585216"/>
            <a:ext cx="6266180" cy="415290"/>
          </a:xfrm>
          <a:prstGeom prst="rect">
            <a:avLst/>
          </a:prstGeom>
          <a:noFill/>
        </p:spPr>
        <p:txBody>
          <a:bodyPr wrap="none" lIns="0" tIns="0" rIns="0" bIns="0">
            <a:spAutoFit/>
          </a:bodyPr>
          <a:lstStyle/>
          <a:p>
            <a:pPr algn="l"/>
            <a:r>
              <a:rPr sz="2700" b="1">
                <a:solidFill>
                  <a:srgbClr val="F2F6FF"/>
                </a:solidFill>
                <a:latin typeface="Arial" panose="020B0604020202020204" pitchFamily="34" charset="0"/>
              </a:rPr>
              <a:t>How Core Tables Support the Analysis</a:t>
            </a:r>
            <a:endParaRPr>
              <a:latin typeface="Arial" panose="020B0604020202020204"/>
            </a:endParaRPr>
          </a:p>
        </p:txBody>
      </p:sp>
      <p:sp>
        <p:nvSpPr>
          <p:cNvPr id="5" name="TextBox 4"/>
          <p:cNvSpPr txBox="1"/>
          <p:nvPr/>
        </p:nvSpPr>
        <p:spPr>
          <a:xfrm>
            <a:off x="530352" y="1042415"/>
            <a:ext cx="5346065" cy="184150"/>
          </a:xfrm>
          <a:prstGeom prst="rect">
            <a:avLst/>
          </a:prstGeom>
          <a:noFill/>
        </p:spPr>
        <p:txBody>
          <a:bodyPr wrap="none" lIns="0" tIns="0" rIns="0" bIns="0">
            <a:spAutoFit/>
          </a:bodyPr>
          <a:lstStyle/>
          <a:p>
            <a:pPr algn="l"/>
            <a:r>
              <a:rPr sz="1200">
                <a:solidFill>
                  <a:srgbClr val="9AA9BD"/>
                </a:solidFill>
                <a:latin typeface="Arial" panose="020B0604020202020204" pitchFamily="34" charset="0"/>
              </a:rPr>
              <a:t>Each table provides a specific part of the information needed by the dashboard.</a:t>
            </a:r>
            <a:endParaRPr>
              <a:latin typeface="Arial" panose="020B0604020202020204"/>
            </a:endParaRPr>
          </a:p>
        </p:txBody>
      </p:sp>
      <p:sp>
        <p:nvSpPr>
          <p:cNvPr id="6" name="Rectangle 5"/>
          <p:cNvSpPr/>
          <p:nvPr/>
        </p:nvSpPr>
        <p:spPr>
          <a:xfrm>
            <a:off x="502920" y="6291072"/>
            <a:ext cx="11201400" cy="320040"/>
          </a:xfrm>
          <a:prstGeom prst="rect">
            <a:avLst/>
          </a:prstGeom>
          <a:solidFill>
            <a:srgbClr val="0F1C2D"/>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687074" y="1334902"/>
          <a:ext cx="9919970" cy="4289425"/>
        </p:xfrm>
        <a:graphic>
          <a:graphicData uri="http://schemas.openxmlformats.org/drawingml/2006/table">
            <a:tbl>
              <a:tblPr firstRow="1" bandRow="1">
                <a:tableStyleId>{5C22544A-7EE6-4342-B048-85BDC9FD1C3A}</a:tableStyleId>
              </a:tblPr>
              <a:tblGrid>
                <a:gridCol w="2943912"/>
                <a:gridCol w="3336783"/>
                <a:gridCol w="3639275"/>
              </a:tblGrid>
              <a:tr h="461645">
                <a:tc>
                  <a:txBody>
                    <a:bodyPr/>
                    <a:lstStyle/>
                    <a:p>
                      <a:pPr algn="l">
                        <a:defRPr sz="800" b="1">
                          <a:solidFill>
                            <a:srgbClr val="9AA9BD"/>
                          </a:solidFill>
                          <a:latin typeface="Arial" panose="020B0604020202020204"/>
                        </a:defRPr>
                      </a:pPr>
                      <a:r>
                        <a:rPr sz="1800"/>
                        <a:t>Table</a:t>
                      </a:r>
                      <a:endParaRPr sz="1800"/>
                    </a:p>
                  </a:txBody>
                  <a:tcPr>
                    <a:solidFill>
                      <a:srgbClr val="0F1C2D"/>
                    </a:solidFill>
                  </a:tcPr>
                </a:tc>
                <a:tc>
                  <a:txBody>
                    <a:bodyPr/>
                    <a:lstStyle/>
                    <a:p>
                      <a:pPr algn="l">
                        <a:defRPr sz="800" b="1">
                          <a:solidFill>
                            <a:srgbClr val="9AA9BD"/>
                          </a:solidFill>
                          <a:latin typeface="Arial" panose="020B0604020202020204"/>
                        </a:defRPr>
                      </a:pPr>
                      <a:r>
                        <a:rPr sz="1400"/>
                        <a:t>Key fields</a:t>
                      </a:r>
                      <a:endParaRPr sz="1400"/>
                    </a:p>
                  </a:txBody>
                  <a:tcPr>
                    <a:solidFill>
                      <a:srgbClr val="0F1C2D"/>
                    </a:solidFill>
                  </a:tcPr>
                </a:tc>
                <a:tc>
                  <a:txBody>
                    <a:bodyPr/>
                    <a:lstStyle/>
                    <a:p>
                      <a:pPr algn="l">
                        <a:defRPr sz="800" b="1">
                          <a:solidFill>
                            <a:srgbClr val="9AA9BD"/>
                          </a:solidFill>
                          <a:latin typeface="Arial" panose="020B0604020202020204"/>
                        </a:defRPr>
                      </a:pPr>
                      <a:r>
                        <a:rPr sz="1400"/>
                        <a:t>Used for</a:t>
                      </a:r>
                      <a:endParaRPr sz="1400"/>
                    </a:p>
                  </a:txBody>
                  <a:tcPr>
                    <a:solidFill>
                      <a:srgbClr val="0F1C2D"/>
                    </a:solidFill>
                  </a:tcPr>
                </a:tc>
              </a:tr>
              <a:tr h="538480">
                <a:tc>
                  <a:txBody>
                    <a:bodyPr/>
                    <a:lstStyle/>
                    <a:p>
                      <a:pPr algn="l">
                        <a:defRPr sz="800" b="0">
                          <a:solidFill>
                            <a:srgbClr val="F2F6FF"/>
                          </a:solidFill>
                          <a:latin typeface="Arial" panose="020B0604020202020204"/>
                        </a:defRPr>
                      </a:pPr>
                      <a:r>
                        <a:rPr sz="2000"/>
                        <a:t>movie</a:t>
                      </a:r>
                      <a:endParaRPr sz="2000"/>
                    </a:p>
                  </a:txBody>
                  <a:tcPr>
                    <a:solidFill>
                      <a:srgbClr val="122033"/>
                    </a:solidFill>
                  </a:tcPr>
                </a:tc>
                <a:tc>
                  <a:txBody>
                    <a:bodyPr/>
                    <a:lstStyle/>
                    <a:p>
                      <a:pPr algn="l">
                        <a:defRPr sz="800" b="0">
                          <a:solidFill>
                            <a:srgbClr val="F2F6FF"/>
                          </a:solidFill>
                          <a:latin typeface="Arial" panose="020B0604020202020204"/>
                        </a:defRPr>
                      </a:pPr>
                      <a:r>
                        <a:rPr sz="1400"/>
                        <a:t>budget, revenue, runtime, release_date</a:t>
                      </a:r>
                      <a:endParaRPr sz="1400"/>
                    </a:p>
                  </a:txBody>
                  <a:tcPr>
                    <a:solidFill>
                      <a:srgbClr val="122033"/>
                    </a:solidFill>
                  </a:tcPr>
                </a:tc>
                <a:tc>
                  <a:txBody>
                    <a:bodyPr/>
                    <a:lstStyle/>
                    <a:p>
                      <a:pPr algn="l">
                        <a:defRPr sz="800" b="0">
                          <a:solidFill>
                            <a:srgbClr val="F2F6FF"/>
                          </a:solidFill>
                          <a:latin typeface="Arial" panose="020B0604020202020204"/>
                        </a:defRPr>
                      </a:pPr>
                      <a:r>
                        <a:rPr sz="1400"/>
                        <a:t>Box office, ROI, runtime and release timing analysis</a:t>
                      </a:r>
                      <a:endParaRPr sz="1400"/>
                    </a:p>
                  </a:txBody>
                  <a:tcPr>
                    <a:solidFill>
                      <a:srgbClr val="122033"/>
                    </a:solidFill>
                  </a:tcPr>
                </a:tc>
              </a:tr>
              <a:tr h="460375">
                <a:tc>
                  <a:txBody>
                    <a:bodyPr/>
                    <a:lstStyle/>
                    <a:p>
                      <a:pPr marL="0" indent="0" algn="l" defTabSz="457200" rtl="0" eaLnBrk="1" latinLnBrk="0" hangingPunct="1">
                        <a:spcBef>
                          <a:spcPct val="0"/>
                        </a:spcBef>
                        <a:spcAft>
                          <a:spcPct val="0"/>
                        </a:spcAft>
                        <a:buNone/>
                      </a:pPr>
                      <a:r>
                        <a:rPr sz="2000" b="0">
                          <a:solidFill>
                            <a:srgbClr val="F2F6FF"/>
                          </a:solidFill>
                          <a:latin typeface="Arial" panose="020B0604020202020204" pitchFamily="34" charset="0"/>
                        </a:rPr>
                        <a:t>genres</a:t>
                      </a:r>
                      <a:endParaRPr sz="2000" b="0">
                        <a:solidFill>
                          <a:srgbClr val="F2F6FF"/>
                        </a:solidFill>
                        <a:latin typeface="Arial" panose="020B0604020202020204" pitchFamily="34" charset="0"/>
                      </a:endParaRPr>
                    </a:p>
                  </a:txBody>
                  <a:tcPr>
                    <a:solidFill>
                      <a:srgbClr val="07111F"/>
                    </a:solidFill>
                  </a:tcPr>
                </a:tc>
                <a:tc>
                  <a:txBody>
                    <a:bodyPr/>
                    <a:lstStyle/>
                    <a:p>
                      <a:pPr algn="l">
                        <a:defRPr sz="800" b="0">
                          <a:solidFill>
                            <a:srgbClr val="F2F6FF"/>
                          </a:solidFill>
                          <a:latin typeface="Arial" panose="020B0604020202020204"/>
                        </a:defRPr>
                      </a:pPr>
                      <a:r>
                        <a:rPr lang="en-US" altLang="zh-CN" sz="1400"/>
                        <a:t>genres_id, genres_name</a:t>
                      </a:r>
                      <a:endParaRPr lang="en-US" altLang="zh-CN" sz="1400"/>
                    </a:p>
                  </a:txBody>
                  <a:tcPr>
                    <a:solidFill>
                      <a:srgbClr val="07111F"/>
                    </a:solidFill>
                  </a:tcPr>
                </a:tc>
                <a:tc>
                  <a:txBody>
                    <a:bodyPr/>
                    <a:lstStyle/>
                    <a:p>
                      <a:pPr algn="l">
                        <a:defRPr sz="800" b="0">
                          <a:solidFill>
                            <a:srgbClr val="F2F6FF"/>
                          </a:solidFill>
                          <a:latin typeface="Arial" panose="020B0604020202020204"/>
                        </a:defRPr>
                      </a:pPr>
                      <a:r>
                        <a:rPr lang="en-US" altLang="zh-CN" sz="1400"/>
                        <a:t>Standardized genre dictionary</a:t>
                      </a:r>
                      <a:endParaRPr lang="en-US" altLang="zh-CN" sz="1400"/>
                    </a:p>
                  </a:txBody>
                  <a:tcPr>
                    <a:solidFill>
                      <a:srgbClr val="07111F"/>
                    </a:solidFill>
                  </a:tcPr>
                </a:tc>
              </a:tr>
              <a:tr h="539115">
                <a:tc>
                  <a:txBody>
                    <a:bodyPr/>
                    <a:lstStyle/>
                    <a:p>
                      <a:pPr algn="l">
                        <a:defRPr sz="800" b="0">
                          <a:solidFill>
                            <a:srgbClr val="F2F6FF"/>
                          </a:solidFill>
                          <a:latin typeface="Arial" panose="020B0604020202020204"/>
                        </a:defRPr>
                      </a:pPr>
                      <a:r>
                        <a:rPr sz="2000"/>
                        <a:t>link_genres</a:t>
                      </a:r>
                      <a:endParaRPr sz="2000"/>
                    </a:p>
                  </a:txBody>
                  <a:tcPr>
                    <a:solidFill>
                      <a:srgbClr val="122033"/>
                    </a:solidFill>
                  </a:tcPr>
                </a:tc>
                <a:tc>
                  <a:txBody>
                    <a:bodyPr/>
                    <a:lstStyle/>
                    <a:p>
                      <a:pPr algn="l">
                        <a:defRPr sz="800" b="0">
                          <a:solidFill>
                            <a:srgbClr val="F2F6FF"/>
                          </a:solidFill>
                          <a:latin typeface="Arial" panose="020B0604020202020204"/>
                        </a:defRPr>
                      </a:pPr>
                      <a:r>
                        <a:rPr lang="en-US" altLang="zh-CN" sz="1400"/>
                        <a:t>tmdbid, genres_id</a:t>
                      </a:r>
                      <a:endParaRPr lang="en-US" altLang="zh-CN" sz="1400"/>
                    </a:p>
                  </a:txBody>
                  <a:tcPr>
                    <a:solidFill>
                      <a:srgbClr val="122033"/>
                    </a:solidFill>
                  </a:tcPr>
                </a:tc>
                <a:tc>
                  <a:txBody>
                    <a:bodyPr/>
                    <a:lstStyle/>
                    <a:p>
                      <a:pPr algn="l">
                        <a:defRPr sz="800" b="0">
                          <a:solidFill>
                            <a:srgbClr val="F2F6FF"/>
                          </a:solidFill>
                          <a:latin typeface="Arial" panose="020B0604020202020204"/>
                        </a:defRPr>
                      </a:pPr>
                      <a:r>
                        <a:rPr lang="en-US" altLang="zh-CN" sz="1400"/>
                        <a:t>Many-to-many movie-genre mapping</a:t>
                      </a:r>
                      <a:endParaRPr lang="en-US" altLang="zh-CN" sz="1400"/>
                    </a:p>
                  </a:txBody>
                  <a:tcPr>
                    <a:solidFill>
                      <a:srgbClr val="122033"/>
                    </a:solidFill>
                  </a:tcPr>
                </a:tc>
              </a:tr>
              <a:tr h="538480">
                <a:tc>
                  <a:txBody>
                    <a:bodyPr/>
                    <a:lstStyle/>
                    <a:p>
                      <a:pPr algn="l">
                        <a:defRPr sz="800" b="0">
                          <a:solidFill>
                            <a:srgbClr val="F2F6FF"/>
                          </a:solidFill>
                          <a:latin typeface="Arial" panose="020B0604020202020204"/>
                        </a:defRPr>
                      </a:pPr>
                      <a:r>
                        <a:rPr sz="2000"/>
                        <a:t>rate</a:t>
                      </a:r>
                      <a:endParaRPr sz="2000"/>
                    </a:p>
                  </a:txBody>
                  <a:tcPr>
                    <a:solidFill>
                      <a:srgbClr val="07111F"/>
                    </a:solidFill>
                  </a:tcPr>
                </a:tc>
                <a:tc>
                  <a:txBody>
                    <a:bodyPr/>
                    <a:lstStyle/>
                    <a:p>
                      <a:pPr algn="l">
                        <a:defRPr sz="800" b="0">
                          <a:solidFill>
                            <a:srgbClr val="F2F6FF"/>
                          </a:solidFill>
                          <a:latin typeface="Arial" panose="020B0604020202020204"/>
                        </a:defRPr>
                      </a:pPr>
                      <a:r>
                        <a:rPr sz="1400"/>
                        <a:t>user_id, tmdbid, rating, timestamp</a:t>
                      </a:r>
                      <a:endParaRPr sz="1400"/>
                    </a:p>
                  </a:txBody>
                  <a:tcPr>
                    <a:solidFill>
                      <a:srgbClr val="07111F"/>
                    </a:solidFill>
                  </a:tcPr>
                </a:tc>
                <a:tc>
                  <a:txBody>
                    <a:bodyPr/>
                    <a:lstStyle/>
                    <a:p>
                      <a:pPr algn="l">
                        <a:defRPr sz="800" b="0">
                          <a:solidFill>
                            <a:srgbClr val="F2F6FF"/>
                          </a:solidFill>
                          <a:latin typeface="Arial" panose="020B0604020202020204"/>
                        </a:defRPr>
                      </a:pPr>
                      <a:r>
                        <a:rPr lang="en-US" altLang="zh-CN" sz="1400"/>
                        <a:t>Rating aggregation and audience response</a:t>
                      </a:r>
                      <a:endParaRPr lang="en-US" altLang="zh-CN" sz="1400"/>
                    </a:p>
                  </a:txBody>
                  <a:tcPr>
                    <a:solidFill>
                      <a:srgbClr val="07111F"/>
                    </a:solidFill>
                  </a:tcPr>
                </a:tc>
              </a:tr>
              <a:tr h="524510">
                <a:tc>
                  <a:txBody>
                    <a:bodyPr/>
                    <a:p>
                      <a:pPr algn="l">
                        <a:buNone/>
                        <a:defRPr sz="800" b="0">
                          <a:solidFill>
                            <a:srgbClr val="F2F6FF"/>
                          </a:solidFill>
                          <a:latin typeface="Arial" panose="020B0604020202020204"/>
                        </a:defRPr>
                      </a:pPr>
                      <a:r>
                        <a:rPr lang="en-US" altLang="zh-CN" sz="2000"/>
                        <a:t>person</a:t>
                      </a:r>
                      <a:endParaRPr lang="zh-CN" altLang="en-US" sz="2000"/>
                    </a:p>
                  </a:txBody>
                  <a:tcPr>
                    <a:solidFill>
                      <a:srgbClr val="07111F"/>
                    </a:solidFill>
                  </a:tcPr>
                </a:tc>
                <a:tc>
                  <a:txBody>
                    <a:bodyPr/>
                    <a:p>
                      <a:pPr algn="l">
                        <a:buNone/>
                        <a:defRPr sz="800" b="0">
                          <a:solidFill>
                            <a:srgbClr val="F2F6FF"/>
                          </a:solidFill>
                          <a:latin typeface="Arial" panose="020B0604020202020204"/>
                        </a:defRPr>
                      </a:pPr>
                      <a:r>
                        <a:rPr lang="en-US" altLang="zh-CN" sz="1400"/>
                        <a:t>person_id, name, gender, profile_path</a:t>
                      </a:r>
                      <a:endParaRPr lang="en-US" altLang="zh-CN" sz="1400"/>
                    </a:p>
                  </a:txBody>
                  <a:tcPr>
                    <a:solidFill>
                      <a:srgbClr val="07111F"/>
                    </a:solidFill>
                  </a:tcPr>
                </a:tc>
                <a:tc>
                  <a:txBody>
                    <a:bodyPr/>
                    <a:p>
                      <a:pPr algn="l">
                        <a:buNone/>
                        <a:defRPr sz="800" b="0">
                          <a:solidFill>
                            <a:srgbClr val="F2F6FF"/>
                          </a:solidFill>
                          <a:latin typeface="Arial" panose="020B0604020202020204"/>
                        </a:defRPr>
                      </a:pPr>
                      <a:r>
                        <a:rPr lang="en-US" altLang="zh-CN" sz="1400"/>
                        <a:t>Basic people information</a:t>
                      </a:r>
                      <a:endParaRPr lang="en-US" altLang="zh-CN" sz="1400"/>
                    </a:p>
                  </a:txBody>
                  <a:tcPr>
                    <a:solidFill>
                      <a:srgbClr val="07111F"/>
                    </a:solidFill>
                  </a:tcPr>
                </a:tc>
              </a:tr>
              <a:tr h="538480">
                <a:tc>
                  <a:txBody>
                    <a:bodyPr/>
                    <a:lstStyle/>
                    <a:p>
                      <a:pPr algn="l">
                        <a:defRPr sz="800" b="0">
                          <a:solidFill>
                            <a:srgbClr val="F2F6FF"/>
                          </a:solidFill>
                          <a:latin typeface="Arial" panose="020B0604020202020204"/>
                        </a:defRPr>
                      </a:pPr>
                      <a:r>
                        <a:rPr sz="2000"/>
                        <a:t>cast / credit</a:t>
                      </a:r>
                      <a:endParaRPr sz="2000"/>
                    </a:p>
                  </a:txBody>
                  <a:tcPr>
                    <a:solidFill>
                      <a:srgbClr val="122033"/>
                    </a:solidFill>
                  </a:tcPr>
                </a:tc>
                <a:tc>
                  <a:txBody>
                    <a:bodyPr/>
                    <a:lstStyle/>
                    <a:p>
                      <a:pPr algn="l">
                        <a:defRPr sz="800" b="0">
                          <a:solidFill>
                            <a:srgbClr val="F2F6FF"/>
                          </a:solidFill>
                          <a:latin typeface="Arial" panose="020B0604020202020204"/>
                        </a:defRPr>
                      </a:pPr>
                      <a:r>
                        <a:rPr lang="en-US" altLang="zh-CN" sz="1400"/>
                        <a:t>character, department, job</a:t>
                      </a:r>
                      <a:endParaRPr lang="en-US" altLang="zh-CN" sz="1400"/>
                    </a:p>
                  </a:txBody>
                  <a:tcPr>
                    <a:solidFill>
                      <a:srgbClr val="122033"/>
                    </a:solidFill>
                  </a:tcPr>
                </a:tc>
                <a:tc>
                  <a:txBody>
                    <a:bodyPr/>
                    <a:lstStyle/>
                    <a:p>
                      <a:pPr algn="l">
                        <a:defRPr sz="800" b="0">
                          <a:solidFill>
                            <a:srgbClr val="F2F6FF"/>
                          </a:solidFill>
                          <a:latin typeface="Arial" panose="020B0604020202020204"/>
                        </a:defRPr>
                      </a:pPr>
                      <a:r>
                        <a:rPr lang="en-US" altLang="zh-CN" sz="1400"/>
                        <a:t>Actors, directors, writers and crew information</a:t>
                      </a:r>
                      <a:endParaRPr lang="en-US" altLang="zh-CN" sz="1400"/>
                    </a:p>
                  </a:txBody>
                  <a:tcPr>
                    <a:solidFill>
                      <a:srgbClr val="122033"/>
                    </a:solidFill>
                  </a:tcPr>
                </a:tc>
              </a:tr>
              <a:tr h="688340">
                <a:tc>
                  <a:txBody>
                    <a:bodyPr/>
                    <a:lstStyle/>
                    <a:p>
                      <a:pPr algn="l">
                        <a:defRPr sz="800" b="0">
                          <a:solidFill>
                            <a:srgbClr val="F2F6FF"/>
                          </a:solidFill>
                          <a:latin typeface="Arial" panose="020B0604020202020204"/>
                        </a:defRPr>
                      </a:pPr>
                      <a:r>
                        <a:rPr sz="2000"/>
                        <a:t>production_companies</a:t>
                      </a:r>
                      <a:endParaRPr sz="2000"/>
                    </a:p>
                    <a:p>
                      <a:pPr algn="l">
                        <a:defRPr sz="800" b="0">
                          <a:solidFill>
                            <a:srgbClr val="F2F6FF"/>
                          </a:solidFill>
                          <a:latin typeface="Arial" panose="020B0604020202020204"/>
                        </a:defRPr>
                      </a:pPr>
                      <a:endParaRPr sz="2000"/>
                    </a:p>
                  </a:txBody>
                  <a:tcPr>
                    <a:solidFill>
                      <a:srgbClr val="07111F"/>
                    </a:solidFill>
                  </a:tcPr>
                </a:tc>
                <a:tc>
                  <a:txBody>
                    <a:bodyPr/>
                    <a:lstStyle/>
                    <a:p>
                      <a:pPr algn="l">
                        <a:defRPr sz="800" b="0">
                          <a:solidFill>
                            <a:srgbClr val="F2F6FF"/>
                          </a:solidFill>
                          <a:latin typeface="Arial" panose="020B0604020202020204"/>
                        </a:defRPr>
                      </a:pPr>
                      <a:r>
                        <a:rPr lang="en-US" altLang="zh-CN" sz="1400"/>
                        <a:t>company_id, company_name</a:t>
                      </a:r>
                      <a:endParaRPr lang="en-US" altLang="zh-CN" sz="1400"/>
                    </a:p>
                  </a:txBody>
                  <a:tcPr>
                    <a:solidFill>
                      <a:srgbClr val="07111F"/>
                    </a:solidFill>
                  </a:tcPr>
                </a:tc>
                <a:tc>
                  <a:txBody>
                    <a:bodyPr/>
                    <a:lstStyle/>
                    <a:p>
                      <a:pPr algn="l">
                        <a:defRPr sz="800" b="0">
                          <a:solidFill>
                            <a:srgbClr val="F2F6FF"/>
                          </a:solidFill>
                          <a:latin typeface="Arial" panose="020B0604020202020204"/>
                        </a:defRPr>
                      </a:pPr>
                      <a:r>
                        <a:rPr lang="en-US" altLang="zh-CN" sz="1400"/>
                        <a:t>Future company-level analysis</a:t>
                      </a:r>
                      <a:endParaRPr lang="en-US" altLang="zh-CN" sz="1400"/>
                    </a:p>
                  </a:txBody>
                  <a:tcPr>
                    <a:solidFill>
                      <a:srgbClr val="07111F"/>
                    </a:solidFill>
                  </a:tcPr>
                </a:tc>
              </a:tr>
            </a:tbl>
          </a:graphicData>
        </a:graphic>
      </p:graphicFrame>
      <p:sp>
        <p:nvSpPr>
          <p:cNvPr id="10" name="TextBox 9"/>
          <p:cNvSpPr txBox="1"/>
          <p:nvPr/>
        </p:nvSpPr>
        <p:spPr>
          <a:xfrm>
            <a:off x="687074" y="5886203"/>
            <a:ext cx="5963285" cy="215265"/>
          </a:xfrm>
          <a:prstGeom prst="rect">
            <a:avLst/>
          </a:prstGeom>
          <a:noFill/>
        </p:spPr>
        <p:txBody>
          <a:bodyPr wrap="none" lIns="0" tIns="0" rIns="0" bIns="0">
            <a:spAutoFit/>
          </a:bodyPr>
          <a:lstStyle/>
          <a:p>
            <a:pPr algn="ctr"/>
            <a:r>
              <a:rPr sz="1400" b="1">
                <a:solidFill>
                  <a:srgbClr val="2DD4BF"/>
                </a:solidFill>
                <a:latin typeface="Arial" panose="020B0604020202020204" pitchFamily="34" charset="0"/>
              </a:rPr>
              <a:t>The schema defines what can be imported, validated, and reused later.</a:t>
            </a:r>
            <a:endParaRPr>
              <a:latin typeface="Arial" panose="020B0604020202020204"/>
            </a:endParaRPr>
          </a:p>
        </p:txBody>
      </p:sp>
      <p:sp>
        <p:nvSpPr>
          <p:cNvPr id="11" name="final-page-marker"/>
          <p:cNvSpPr txBox="1"/>
          <p:nvPr/>
        </p:nvSpPr>
        <p:spPr>
          <a:xfrm>
            <a:off x="10378440" y="6345936"/>
            <a:ext cx="658368" cy="201168"/>
          </a:xfrm>
          <a:prstGeom prst="rect">
            <a:avLst/>
          </a:prstGeom>
          <a:noFill/>
        </p:spPr>
        <p:txBody>
          <a:bodyPr wrap="none">
            <a:spAutoFit/>
          </a:bodyPr>
          <a:lstStyle/>
          <a:p>
            <a:pPr algn="r"/>
            <a:r>
              <a:t>06 / 22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1"/>
          <a:stretch>
            <a:fillRect t="-170" b="-170"/>
          </a:stretch>
        </a:blipFill>
        <a:effectLst/>
      </p:bgPr>
    </p:bg>
    <p:spTree>
      <p:nvGrpSpPr>
        <p:cNvPr id="1" name=""/>
        <p:cNvGrpSpPr/>
        <p:nvPr/>
      </p:nvGrpSpPr>
      <p:grpSpPr/>
      <p:sp>
        <p:nvSpPr>
          <p:cNvPr id="32" name="TextBox 1"/>
          <p:cNvSpPr txBox="1"/>
          <p:nvPr/>
        </p:nvSpPr>
        <p:spPr>
          <a:xfrm>
            <a:off x="502920" y="292608"/>
            <a:ext cx="368300" cy="138430"/>
          </a:xfrm>
          <a:prstGeom prst="rect">
            <a:avLst/>
          </a:prstGeom>
          <a:noFill/>
        </p:spPr>
        <p:txBody>
          <a:bodyPr wrap="none" lIns="0" tIns="0" rIns="0" bIns="0">
            <a:spAutoFit/>
          </a:bodyPr>
          <a:lstStyle/>
          <a:p>
            <a:pPr algn="l"/>
            <a:r>
              <a:rPr sz="900" b="1">
                <a:solidFill>
                  <a:srgbClr val="3B82F6"/>
                </a:solidFill>
                <a:latin typeface="Arial" panose="020B0604020202020204" pitchFamily="34" charset="0"/>
              </a:rPr>
              <a:t>G</a:t>
            </a:r>
            <a:r>
              <a:rPr lang="en-US" altLang="zh-CN" sz="900" b="1">
                <a:solidFill>
                  <a:srgbClr val="3B82F6"/>
                </a:solidFill>
                <a:latin typeface="Arial" panose="020B0604020202020204" pitchFamily="34" charset="0"/>
              </a:rPr>
              <a:t>areth</a:t>
            </a:r>
            <a:endParaRPr>
              <a:latin typeface="Arial" panose="020B0604020202020204"/>
            </a:endParaRPr>
          </a:p>
        </p:txBody>
      </p:sp>
      <p:sp>
        <p:nvSpPr>
          <p:cNvPr id="33" name="TextBox 2"/>
          <p:cNvSpPr txBox="1"/>
          <p:nvPr/>
        </p:nvSpPr>
        <p:spPr>
          <a:xfrm>
            <a:off x="11263630" y="292608"/>
            <a:ext cx="349250" cy="138430"/>
          </a:xfrm>
          <a:prstGeom prst="rect">
            <a:avLst/>
          </a:prstGeom>
          <a:noFill/>
        </p:spPr>
        <p:txBody>
          <a:bodyPr wrap="none" lIns="0" tIns="0" rIns="0" bIns="0">
            <a:spAutoFit/>
          </a:bodyPr>
          <a:lstStyle/>
          <a:p>
            <a:pPr algn="r"/>
            <a:r>
              <a:t>07 / 22</a:t>
            </a:r>
            <a:endParaRPr sz="900" b="1">
              <a:solidFill>
                <a:srgbClr val="9AA9BD"/>
              </a:solidFill>
              <a:latin typeface="Arial" panose="020B0604020202020204"/>
            </a:endParaRPr>
          </a:p>
        </p:txBody>
      </p:sp>
      <p:sp>
        <p:nvSpPr>
          <p:cNvPr id="34" name="TextBox 3"/>
          <p:cNvSpPr txBox="1"/>
          <p:nvPr/>
        </p:nvSpPr>
        <p:spPr>
          <a:xfrm>
            <a:off x="502920" y="585216"/>
            <a:ext cx="6394450" cy="415290"/>
          </a:xfrm>
          <a:prstGeom prst="rect">
            <a:avLst/>
          </a:prstGeom>
          <a:noFill/>
        </p:spPr>
        <p:txBody>
          <a:bodyPr wrap="none" lIns="0" tIns="0" rIns="0" bIns="0">
            <a:spAutoFit/>
          </a:bodyPr>
          <a:lstStyle/>
          <a:p>
            <a:pPr algn="l"/>
            <a:r>
              <a:rPr sz="2700" b="1">
                <a:solidFill>
                  <a:srgbClr val="F2F6FF"/>
                </a:solidFill>
                <a:latin typeface="Arial" panose="020B0604020202020204" pitchFamily="34" charset="0"/>
              </a:rPr>
              <a:t>Data Import, Validation and SQL Export</a:t>
            </a:r>
            <a:endParaRPr>
              <a:latin typeface="Arial" panose="020B0604020202020204"/>
            </a:endParaRPr>
          </a:p>
        </p:txBody>
      </p:sp>
      <p:sp>
        <p:nvSpPr>
          <p:cNvPr id="35" name="TextBox 4"/>
          <p:cNvSpPr txBox="1"/>
          <p:nvPr/>
        </p:nvSpPr>
        <p:spPr>
          <a:xfrm>
            <a:off x="530352" y="1042415"/>
            <a:ext cx="6746240" cy="184150"/>
          </a:xfrm>
          <a:prstGeom prst="rect">
            <a:avLst/>
          </a:prstGeom>
          <a:noFill/>
        </p:spPr>
        <p:txBody>
          <a:bodyPr wrap="none" lIns="0" tIns="0" rIns="0" bIns="0">
            <a:spAutoFit/>
          </a:bodyPr>
          <a:lstStyle/>
          <a:p>
            <a:pPr algn="l"/>
            <a:r>
              <a:rPr sz="1200">
                <a:solidFill>
                  <a:srgbClr val="9AA9BD"/>
                </a:solidFill>
                <a:latin typeface="Arial" panose="020B0604020202020204" pitchFamily="34" charset="0"/>
              </a:rPr>
              <a:t>The prepared data was imported into MySQL, validated, and exported as SQL files for project reuse.</a:t>
            </a:r>
            <a:endParaRPr>
              <a:latin typeface="Arial" panose="020B0604020202020204"/>
            </a:endParaRPr>
          </a:p>
        </p:txBody>
      </p:sp>
      <p:sp>
        <p:nvSpPr>
          <p:cNvPr id="36" name="Rectangle 5"/>
          <p:cNvSpPr/>
          <p:nvPr/>
        </p:nvSpPr>
        <p:spPr>
          <a:xfrm>
            <a:off x="685800" y="1600200"/>
            <a:ext cx="1600200" cy="3246120"/>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6"/>
          <p:cNvSpPr txBox="1"/>
          <p:nvPr/>
        </p:nvSpPr>
        <p:spPr>
          <a:xfrm>
            <a:off x="850392" y="1746504"/>
            <a:ext cx="1271016" cy="201168"/>
          </a:xfrm>
          <a:prstGeom prst="rect">
            <a:avLst/>
          </a:prstGeom>
          <a:noFill/>
        </p:spPr>
        <p:txBody>
          <a:bodyPr wrap="none" lIns="0" tIns="0" rIns="0" bIns="0">
            <a:spAutoFit/>
          </a:bodyPr>
          <a:lstStyle/>
          <a:p>
            <a:pPr algn="l"/>
            <a:r>
              <a:rPr sz="800" b="1">
                <a:solidFill>
                  <a:srgbClr val="9AA9BD"/>
                </a:solidFill>
                <a:latin typeface="Arial" panose="020B0604020202020204"/>
              </a:rPr>
              <a:t>1</a:t>
            </a:r>
            <a:endParaRPr sz="800" b="1">
              <a:solidFill>
                <a:srgbClr val="9AA9BD"/>
              </a:solidFill>
              <a:latin typeface="Arial" panose="020B0604020202020204"/>
            </a:endParaRPr>
          </a:p>
        </p:txBody>
      </p:sp>
      <p:sp>
        <p:nvSpPr>
          <p:cNvPr id="38" name="TextBox 7"/>
          <p:cNvSpPr txBox="1"/>
          <p:nvPr/>
        </p:nvSpPr>
        <p:spPr>
          <a:xfrm>
            <a:off x="850392" y="2002536"/>
            <a:ext cx="1492955" cy="848903"/>
          </a:xfrm>
          <a:prstGeom prst="rect">
            <a:avLst/>
          </a:prstGeom>
          <a:noFill/>
        </p:spPr>
        <p:txBody>
          <a:bodyPr wrap="square" lIns="0" tIns="0" rIns="0" bIns="0">
            <a:noAutofit/>
          </a:bodyPr>
          <a:lstStyle/>
          <a:p>
            <a:pPr algn="l"/>
            <a:r>
              <a:rPr sz="2200" b="1">
                <a:solidFill>
                  <a:srgbClr val="3B82F6"/>
                </a:solidFill>
                <a:latin typeface="Arial" panose="020B0604020202020204" pitchFamily="34" charset="0"/>
              </a:rPr>
              <a:t>Prepared CSV Files</a:t>
            </a:r>
            <a:endParaRPr>
              <a:latin typeface="Arial" panose="020B0604020202020204"/>
            </a:endParaRPr>
          </a:p>
        </p:txBody>
      </p:sp>
      <p:sp>
        <p:nvSpPr>
          <p:cNvPr id="39" name="TextBox 8"/>
          <p:cNvSpPr txBox="1"/>
          <p:nvPr/>
        </p:nvSpPr>
        <p:spPr>
          <a:xfrm>
            <a:off x="698522" y="2851433"/>
            <a:ext cx="1587500" cy="1319305"/>
          </a:xfrm>
          <a:prstGeom prst="rect">
            <a:avLst/>
          </a:prstGeom>
          <a:noFill/>
        </p:spPr>
        <p:txBody>
          <a:bodyPr wrap="square" lIns="0" tIns="0" rIns="0" bIns="0">
            <a:noAutofit/>
          </a:bodyPr>
          <a:lstStyle/>
          <a:p>
            <a:pPr algn="l"/>
            <a:r>
              <a:rPr sz="1200">
                <a:solidFill>
                  <a:srgbClr val="9AA9BD"/>
                </a:solidFill>
                <a:latin typeface="Arial" panose="020B0604020202020204" pitchFamily="34" charset="0"/>
              </a:rPr>
              <a:t>Entity tables and relation tables</a:t>
            </a:r>
            <a:endParaRPr sz="1200">
              <a:solidFill>
                <a:srgbClr val="9AA9BD"/>
              </a:solidFill>
              <a:latin typeface="Arial" panose="020B0604020202020204" pitchFamily="34" charset="0"/>
            </a:endParaRPr>
          </a:p>
          <a:p>
            <a:pPr algn="l"/>
            <a:endParaRPr sz="1200">
              <a:solidFill>
                <a:srgbClr val="9AA9BD"/>
              </a:solidFill>
              <a:latin typeface="Arial" panose="020B0604020202020204" pitchFamily="34" charset="0"/>
            </a:endParaRPr>
          </a:p>
          <a:p>
            <a:pPr algn="l"/>
            <a:endParaRPr sz="1200">
              <a:solidFill>
                <a:srgbClr val="9AA9BD"/>
              </a:solidFill>
              <a:latin typeface="Arial" panose="020B0604020202020204" pitchFamily="34" charset="0"/>
            </a:endParaRPr>
          </a:p>
          <a:p>
            <a:pPr algn="l"/>
            <a:r>
              <a:rPr lang="en-US" altLang="zh-CN" sz="1000">
                <a:solidFill>
                  <a:srgbClr val="9AA9BD"/>
                </a:solidFill>
                <a:latin typeface="Arial" panose="020B0604020202020204" pitchFamily="34" charset="0"/>
              </a:rPr>
              <a:t>movie, genres, rate, person, cast, credit</a:t>
            </a:r>
            <a:endParaRPr sz="1000">
              <a:solidFill>
                <a:srgbClr val="9AA9BD"/>
              </a:solidFill>
              <a:latin typeface="Arial" panose="020B0604020202020204" pitchFamily="34" charset="0"/>
            </a:endParaRPr>
          </a:p>
          <a:p>
            <a:pPr algn="l"/>
            <a:endParaRPr sz="1000">
              <a:latin typeface="Arial" panose="020B0604020202020204"/>
            </a:endParaRPr>
          </a:p>
          <a:p>
            <a:pPr algn="l"/>
            <a:endParaRPr sz="1200">
              <a:latin typeface="Arial" panose="020B0604020202020204"/>
            </a:endParaRPr>
          </a:p>
          <a:p>
            <a:pPr algn="l"/>
            <a:endParaRPr sz="1200">
              <a:latin typeface="Arial" panose="020B0604020202020204"/>
            </a:endParaRPr>
          </a:p>
        </p:txBody>
      </p:sp>
      <p:sp>
        <p:nvSpPr>
          <p:cNvPr id="40" name="Rectangle 9"/>
          <p:cNvSpPr/>
          <p:nvPr/>
        </p:nvSpPr>
        <p:spPr>
          <a:xfrm>
            <a:off x="2514583" y="1600248"/>
            <a:ext cx="1600200" cy="3246120"/>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10"/>
          <p:cNvSpPr txBox="1"/>
          <p:nvPr/>
        </p:nvSpPr>
        <p:spPr>
          <a:xfrm>
            <a:off x="2679192" y="1746504"/>
            <a:ext cx="1271016" cy="201168"/>
          </a:xfrm>
          <a:prstGeom prst="rect">
            <a:avLst/>
          </a:prstGeom>
          <a:noFill/>
        </p:spPr>
        <p:txBody>
          <a:bodyPr wrap="none" lIns="0" tIns="0" rIns="0" bIns="0">
            <a:spAutoFit/>
          </a:bodyPr>
          <a:lstStyle/>
          <a:p>
            <a:pPr algn="l"/>
            <a:r>
              <a:rPr sz="800" b="1">
                <a:solidFill>
                  <a:srgbClr val="9AA9BD"/>
                </a:solidFill>
                <a:latin typeface="Arial" panose="020B0604020202020204"/>
              </a:rPr>
              <a:t>2</a:t>
            </a:r>
            <a:endParaRPr sz="800" b="1">
              <a:solidFill>
                <a:srgbClr val="9AA9BD"/>
              </a:solidFill>
              <a:latin typeface="Arial" panose="020B0604020202020204"/>
            </a:endParaRPr>
          </a:p>
        </p:txBody>
      </p:sp>
      <p:sp>
        <p:nvSpPr>
          <p:cNvPr id="42" name="TextBox 11"/>
          <p:cNvSpPr txBox="1"/>
          <p:nvPr/>
        </p:nvSpPr>
        <p:spPr>
          <a:xfrm>
            <a:off x="2679192" y="2002536"/>
            <a:ext cx="1435560" cy="932317"/>
          </a:xfrm>
          <a:prstGeom prst="rect">
            <a:avLst/>
          </a:prstGeom>
          <a:noFill/>
        </p:spPr>
        <p:txBody>
          <a:bodyPr wrap="square" lIns="0" tIns="0" rIns="0" bIns="0">
            <a:noAutofit/>
          </a:bodyPr>
          <a:lstStyle/>
          <a:p>
            <a:pPr algn="l"/>
            <a:r>
              <a:rPr sz="2200" b="1">
                <a:solidFill>
                  <a:srgbClr val="2DD4BF"/>
                </a:solidFill>
                <a:latin typeface="Arial" panose="020B0604020202020204" pitchFamily="34" charset="0"/>
              </a:rPr>
              <a:t>MySQL Import</a:t>
            </a:r>
            <a:endParaRPr>
              <a:latin typeface="Arial" panose="020B0604020202020204"/>
            </a:endParaRPr>
          </a:p>
        </p:txBody>
      </p:sp>
      <p:sp>
        <p:nvSpPr>
          <p:cNvPr id="43" name="TextBox 12"/>
          <p:cNvSpPr txBox="1"/>
          <p:nvPr/>
        </p:nvSpPr>
        <p:spPr>
          <a:xfrm>
            <a:off x="2603495" y="2851433"/>
            <a:ext cx="1511258" cy="1319330"/>
          </a:xfrm>
          <a:prstGeom prst="rect">
            <a:avLst/>
          </a:prstGeom>
          <a:noFill/>
        </p:spPr>
        <p:txBody>
          <a:bodyPr wrap="square" lIns="0" tIns="0" rIns="0" bIns="0">
            <a:noAutofit/>
          </a:bodyPr>
          <a:lstStyle/>
          <a:p>
            <a:pPr algn="l"/>
            <a:r>
              <a:rPr sz="1200">
                <a:solidFill>
                  <a:srgbClr val="9AA9BD"/>
                </a:solidFill>
                <a:latin typeface="Arial" panose="020B0604020202020204" pitchFamily="34" charset="0"/>
              </a:rPr>
              <a:t>Imported ER-based tables through phpMyAdmin</a:t>
            </a:r>
            <a:endParaRPr sz="1200">
              <a:solidFill>
                <a:srgbClr val="9AA9BD"/>
              </a:solidFill>
              <a:latin typeface="Arial" panose="020B0604020202020204" pitchFamily="34" charset="0"/>
            </a:endParaRPr>
          </a:p>
          <a:p>
            <a:pPr algn="l"/>
            <a:endParaRPr sz="1200">
              <a:latin typeface="Arial" panose="020B0604020202020204" pitchFamily="34" charset="0"/>
            </a:endParaRPr>
          </a:p>
          <a:p>
            <a:pPr algn="l"/>
            <a:r>
              <a:rPr lang="en-US" altLang="zh-CN" sz="1000">
                <a:solidFill>
                  <a:srgbClr val="9AA9BD"/>
                </a:solidFill>
                <a:latin typeface="Arial" panose="020B0604020202020204" pitchFamily="34" charset="0"/>
              </a:rPr>
              <a:t>21</a:t>
            </a:r>
            <a:r>
              <a:rPr lang="zh-CN" altLang="en-US" sz="1000">
                <a:solidFill>
                  <a:srgbClr val="9AA9BD"/>
                </a:solidFill>
                <a:latin typeface="Arial" panose="020B0604020202020204" pitchFamily="34" charset="0"/>
              </a:rPr>
              <a:t>+ </a:t>
            </a:r>
            <a:r>
              <a:rPr lang="en-US" altLang="zh-CN" sz="1000">
                <a:solidFill>
                  <a:srgbClr val="9AA9BD"/>
                </a:solidFill>
                <a:latin typeface="Arial" panose="020B0604020202020204" pitchFamily="34" charset="0"/>
              </a:rPr>
              <a:t>relational tables</a:t>
            </a:r>
            <a:endParaRPr sz="1000">
              <a:latin typeface="Arial" panose="020B0604020202020204" pitchFamily="34" charset="0"/>
            </a:endParaRPr>
          </a:p>
        </p:txBody>
      </p:sp>
      <p:sp>
        <p:nvSpPr>
          <p:cNvPr id="44" name="Rectangle 13"/>
          <p:cNvSpPr/>
          <p:nvPr/>
        </p:nvSpPr>
        <p:spPr>
          <a:xfrm>
            <a:off x="4361700" y="1600248"/>
            <a:ext cx="1600200" cy="3246120"/>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14"/>
          <p:cNvSpPr txBox="1"/>
          <p:nvPr/>
        </p:nvSpPr>
        <p:spPr>
          <a:xfrm>
            <a:off x="4690872" y="1746504"/>
            <a:ext cx="1271016" cy="201168"/>
          </a:xfrm>
          <a:prstGeom prst="rect">
            <a:avLst/>
          </a:prstGeom>
          <a:noFill/>
        </p:spPr>
        <p:txBody>
          <a:bodyPr wrap="none" lIns="0" tIns="0" rIns="0" bIns="0">
            <a:spAutoFit/>
          </a:bodyPr>
          <a:lstStyle/>
          <a:p>
            <a:pPr algn="l"/>
            <a:r>
              <a:rPr sz="800" b="1">
                <a:solidFill>
                  <a:srgbClr val="9AA9BD"/>
                </a:solidFill>
                <a:latin typeface="Arial" panose="020B0604020202020204"/>
              </a:rPr>
              <a:t>3</a:t>
            </a:r>
            <a:endParaRPr sz="800" b="1">
              <a:solidFill>
                <a:srgbClr val="9AA9BD"/>
              </a:solidFill>
              <a:latin typeface="Arial" panose="020B0604020202020204"/>
            </a:endParaRPr>
          </a:p>
        </p:txBody>
      </p:sp>
      <p:sp>
        <p:nvSpPr>
          <p:cNvPr id="46" name="TextBox 15"/>
          <p:cNvSpPr txBox="1"/>
          <p:nvPr/>
        </p:nvSpPr>
        <p:spPr>
          <a:xfrm>
            <a:off x="4502066" y="2002503"/>
            <a:ext cx="1319530" cy="338455"/>
          </a:xfrm>
          <a:prstGeom prst="rect">
            <a:avLst/>
          </a:prstGeom>
          <a:noFill/>
        </p:spPr>
        <p:txBody>
          <a:bodyPr wrap="none" lIns="0" tIns="0" rIns="0" bIns="0">
            <a:spAutoFit/>
          </a:bodyPr>
          <a:lstStyle/>
          <a:p>
            <a:pPr algn="l"/>
            <a:r>
              <a:rPr sz="2200" b="1">
                <a:solidFill>
                  <a:srgbClr val="A855F7"/>
                </a:solidFill>
                <a:latin typeface="Arial" panose="020B0604020202020204" pitchFamily="34" charset="0"/>
              </a:rPr>
              <a:t>Validation</a:t>
            </a:r>
            <a:endParaRPr>
              <a:latin typeface="Arial" panose="020B0604020202020204"/>
            </a:endParaRPr>
          </a:p>
        </p:txBody>
      </p:sp>
      <p:sp>
        <p:nvSpPr>
          <p:cNvPr id="47" name="TextBox 16"/>
          <p:cNvSpPr txBox="1"/>
          <p:nvPr/>
        </p:nvSpPr>
        <p:spPr>
          <a:xfrm>
            <a:off x="4444034" y="2851433"/>
            <a:ext cx="1435592" cy="1275970"/>
          </a:xfrm>
          <a:prstGeom prst="rect">
            <a:avLst/>
          </a:prstGeom>
          <a:noFill/>
        </p:spPr>
        <p:txBody>
          <a:bodyPr wrap="square" lIns="0" tIns="0" rIns="0" bIns="0">
            <a:noAutofit/>
          </a:bodyPr>
          <a:lstStyle/>
          <a:p>
            <a:pPr algn="l"/>
            <a:r>
              <a:rPr sz="1200">
                <a:solidFill>
                  <a:srgbClr val="9AA9BD"/>
                </a:solidFill>
                <a:latin typeface="Arial" panose="020B0604020202020204" pitchFamily="34" charset="0"/>
              </a:rPr>
              <a:t>Checked row counts, keys and relationships</a:t>
            </a:r>
            <a:endParaRPr sz="1200">
              <a:solidFill>
                <a:srgbClr val="9AA9BD"/>
              </a:solidFill>
              <a:latin typeface="Arial" panose="020B0604020202020204" pitchFamily="34" charset="0"/>
            </a:endParaRPr>
          </a:p>
          <a:p>
            <a:pPr algn="l"/>
            <a:endParaRPr sz="1000">
              <a:latin typeface="Arial" panose="020B0604020202020204"/>
            </a:endParaRPr>
          </a:p>
          <a:p>
            <a:pPr algn="l"/>
            <a:r>
              <a:rPr lang="en-US" altLang="zh-CN" sz="1000">
                <a:solidFill>
                  <a:srgbClr val="9AA9BD"/>
                </a:solidFill>
                <a:latin typeface="Arial" panose="020B0604020202020204" pitchFamily="34" charset="0"/>
              </a:rPr>
              <a:t>primary keys </a:t>
            </a:r>
            <a:r>
              <a:rPr lang="zh-CN" altLang="en-US" sz="1000">
                <a:solidFill>
                  <a:srgbClr val="9AA9BD"/>
                </a:solidFill>
                <a:latin typeface="Arial" panose="020B0604020202020204" pitchFamily="34" charset="0"/>
              </a:rPr>
              <a:t>· </a:t>
            </a:r>
            <a:r>
              <a:rPr lang="en-US" altLang="zh-CN" sz="1000">
                <a:solidFill>
                  <a:srgbClr val="9AA9BD"/>
                </a:solidFill>
                <a:latin typeface="Arial" panose="020B0604020202020204" pitchFamily="34" charset="0"/>
              </a:rPr>
              <a:t>foreign</a:t>
            </a:r>
            <a:r>
              <a:rPr lang="zh-CN" altLang="en-US" sz="1000">
                <a:solidFill>
                  <a:srgbClr val="9AA9BD"/>
                </a:solidFill>
                <a:latin typeface="Arial" panose="020B0604020202020204" pitchFamily="34" charset="0"/>
              </a:rPr>
              <a:t>-</a:t>
            </a:r>
            <a:r>
              <a:rPr lang="en-US" altLang="zh-CN" sz="1000">
                <a:solidFill>
                  <a:srgbClr val="9AA9BD"/>
                </a:solidFill>
                <a:latin typeface="Arial" panose="020B0604020202020204" pitchFamily="34" charset="0"/>
              </a:rPr>
              <a:t>key checks</a:t>
            </a:r>
            <a:endParaRPr sz="1000">
              <a:solidFill>
                <a:srgbClr val="9AA9BD"/>
              </a:solidFill>
              <a:latin typeface="Arial" panose="020B0604020202020204" pitchFamily="34" charset="0"/>
            </a:endParaRPr>
          </a:p>
        </p:txBody>
      </p:sp>
      <p:sp>
        <p:nvSpPr>
          <p:cNvPr id="48" name="Rectangle 17"/>
          <p:cNvSpPr/>
          <p:nvPr/>
        </p:nvSpPr>
        <p:spPr>
          <a:xfrm>
            <a:off x="6217530" y="1600248"/>
            <a:ext cx="1600200" cy="3246120"/>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18"/>
          <p:cNvSpPr txBox="1"/>
          <p:nvPr/>
        </p:nvSpPr>
        <p:spPr>
          <a:xfrm>
            <a:off x="6702552" y="1746504"/>
            <a:ext cx="1271016" cy="201168"/>
          </a:xfrm>
          <a:prstGeom prst="rect">
            <a:avLst/>
          </a:prstGeom>
          <a:noFill/>
        </p:spPr>
        <p:txBody>
          <a:bodyPr wrap="none" lIns="0" tIns="0" rIns="0" bIns="0">
            <a:spAutoFit/>
          </a:bodyPr>
          <a:lstStyle/>
          <a:p>
            <a:pPr algn="l"/>
            <a:r>
              <a:rPr sz="800" b="1">
                <a:solidFill>
                  <a:srgbClr val="9AA9BD"/>
                </a:solidFill>
                <a:latin typeface="Arial" panose="020B0604020202020204"/>
              </a:rPr>
              <a:t>4</a:t>
            </a:r>
            <a:endParaRPr sz="800" b="1">
              <a:solidFill>
                <a:srgbClr val="9AA9BD"/>
              </a:solidFill>
              <a:latin typeface="Arial" panose="020B0604020202020204"/>
            </a:endParaRPr>
          </a:p>
        </p:txBody>
      </p:sp>
      <p:sp>
        <p:nvSpPr>
          <p:cNvPr id="50" name="TextBox 19"/>
          <p:cNvSpPr txBox="1"/>
          <p:nvPr/>
        </p:nvSpPr>
        <p:spPr>
          <a:xfrm>
            <a:off x="6382140" y="2002503"/>
            <a:ext cx="1435624" cy="620132"/>
          </a:xfrm>
          <a:prstGeom prst="rect">
            <a:avLst/>
          </a:prstGeom>
          <a:noFill/>
        </p:spPr>
        <p:txBody>
          <a:bodyPr wrap="square" lIns="0" tIns="0" rIns="0" bIns="0">
            <a:noAutofit/>
          </a:bodyPr>
          <a:lstStyle/>
          <a:p>
            <a:pPr algn="l"/>
            <a:r>
              <a:rPr sz="2200" b="1">
                <a:solidFill>
                  <a:srgbClr val="FBBF24"/>
                </a:solidFill>
                <a:latin typeface="Arial" panose="020B0604020202020204" pitchFamily="34" charset="0"/>
              </a:rPr>
              <a:t>Crew / Credit</a:t>
            </a:r>
            <a:endParaRPr>
              <a:latin typeface="Arial" panose="020B0604020202020204"/>
            </a:endParaRPr>
          </a:p>
        </p:txBody>
      </p:sp>
      <p:sp>
        <p:nvSpPr>
          <p:cNvPr id="51" name="TextBox 20"/>
          <p:cNvSpPr txBox="1"/>
          <p:nvPr/>
        </p:nvSpPr>
        <p:spPr>
          <a:xfrm>
            <a:off x="6382140" y="2851433"/>
            <a:ext cx="1435575" cy="1275995"/>
          </a:xfrm>
          <a:prstGeom prst="rect">
            <a:avLst/>
          </a:prstGeom>
          <a:noFill/>
        </p:spPr>
        <p:txBody>
          <a:bodyPr wrap="square" lIns="0" tIns="0" rIns="0" bIns="0">
            <a:noAutofit/>
          </a:bodyPr>
          <a:lstStyle/>
          <a:p>
            <a:pPr algn="l"/>
            <a:r>
              <a:rPr sz="1200">
                <a:solidFill>
                  <a:srgbClr val="9AA9BD"/>
                </a:solidFill>
                <a:latin typeface="Arial" panose="020B0604020202020204" pitchFamily="34" charset="0"/>
              </a:rPr>
              <a:t>Updated missing crew-related records</a:t>
            </a:r>
            <a:endParaRPr sz="1200">
              <a:solidFill>
                <a:srgbClr val="9AA9BD"/>
              </a:solidFill>
              <a:latin typeface="Arial" panose="020B0604020202020204" pitchFamily="34" charset="0"/>
            </a:endParaRPr>
          </a:p>
          <a:p>
            <a:pPr algn="l"/>
            <a:endParaRPr sz="1200">
              <a:latin typeface="Arial" panose="020B0604020202020204" pitchFamily="34" charset="0"/>
            </a:endParaRPr>
          </a:p>
          <a:p>
            <a:pPr algn="l"/>
            <a:endParaRPr lang="en-US" altLang="zh-CN" sz="1000">
              <a:solidFill>
                <a:srgbClr val="9AA9BD"/>
              </a:solidFill>
              <a:latin typeface="Arial" panose="020B0604020202020204" pitchFamily="34" charset="0"/>
            </a:endParaRPr>
          </a:p>
          <a:p>
            <a:pPr algn="l"/>
            <a:r>
              <a:rPr lang="en-US" altLang="zh-CN" sz="1000">
                <a:solidFill>
                  <a:srgbClr val="9AA9BD"/>
                </a:solidFill>
                <a:latin typeface="Arial" panose="020B0604020202020204" pitchFamily="34" charset="0"/>
              </a:rPr>
              <a:t>credit </a:t>
            </a:r>
            <a:r>
              <a:rPr lang="zh-CN" altLang="en-US" sz="1000">
                <a:solidFill>
                  <a:srgbClr val="9AA9BD"/>
                </a:solidFill>
                <a:latin typeface="Arial" panose="020B0604020202020204" pitchFamily="34" charset="0"/>
              </a:rPr>
              <a:t>· </a:t>
            </a:r>
            <a:r>
              <a:rPr lang="en-US" altLang="zh-CN" sz="1000">
                <a:solidFill>
                  <a:srgbClr val="9AA9BD"/>
                </a:solidFill>
                <a:latin typeface="Arial" panose="020B0604020202020204" pitchFamily="34" charset="0"/>
              </a:rPr>
              <a:t>isa_credit </a:t>
            </a:r>
            <a:r>
              <a:rPr lang="zh-CN" altLang="en-US" sz="1000">
                <a:solidFill>
                  <a:srgbClr val="9AA9BD"/>
                </a:solidFill>
                <a:latin typeface="Arial" panose="020B0604020202020204" pitchFamily="34" charset="0"/>
              </a:rPr>
              <a:t>· </a:t>
            </a:r>
            <a:r>
              <a:rPr lang="en-US" altLang="zh-CN" sz="1000">
                <a:solidFill>
                  <a:srgbClr val="9AA9BD"/>
                </a:solidFill>
                <a:latin typeface="Arial" panose="020B0604020202020204" pitchFamily="34" charset="0"/>
              </a:rPr>
              <a:t>person </a:t>
            </a:r>
            <a:r>
              <a:rPr lang="zh-CN" altLang="en-US" sz="1000">
                <a:solidFill>
                  <a:srgbClr val="9AA9BD"/>
                </a:solidFill>
                <a:latin typeface="Arial" panose="020B0604020202020204" pitchFamily="34" charset="0"/>
              </a:rPr>
              <a:t>· </a:t>
            </a:r>
            <a:r>
              <a:rPr lang="en-US" altLang="zh-CN" sz="1000">
                <a:solidFill>
                  <a:srgbClr val="9AA9BD"/>
                </a:solidFill>
                <a:latin typeface="Arial" panose="020B0604020202020204" pitchFamily="34" charset="0"/>
              </a:rPr>
              <a:t>made_by</a:t>
            </a:r>
            <a:endParaRPr sz="1000">
              <a:solidFill>
                <a:srgbClr val="9AA9BD"/>
              </a:solidFill>
              <a:latin typeface="Arial" panose="020B0604020202020204" pitchFamily="34" charset="0"/>
            </a:endParaRPr>
          </a:p>
          <a:p>
            <a:pPr algn="l"/>
            <a:endParaRPr sz="1000">
              <a:solidFill>
                <a:srgbClr val="9AA9BD"/>
              </a:solidFill>
              <a:latin typeface="Arial" panose="020B0604020202020204" pitchFamily="34" charset="0"/>
            </a:endParaRPr>
          </a:p>
        </p:txBody>
      </p:sp>
      <p:sp>
        <p:nvSpPr>
          <p:cNvPr id="52" name="Rectangle 21"/>
          <p:cNvSpPr/>
          <p:nvPr/>
        </p:nvSpPr>
        <p:spPr>
          <a:xfrm>
            <a:off x="8055949" y="1600248"/>
            <a:ext cx="1600200" cy="3246120"/>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22"/>
          <p:cNvSpPr txBox="1"/>
          <p:nvPr/>
        </p:nvSpPr>
        <p:spPr>
          <a:xfrm>
            <a:off x="8714232" y="1746504"/>
            <a:ext cx="1271016" cy="201168"/>
          </a:xfrm>
          <a:prstGeom prst="rect">
            <a:avLst/>
          </a:prstGeom>
          <a:noFill/>
        </p:spPr>
        <p:txBody>
          <a:bodyPr wrap="none" lIns="0" tIns="0" rIns="0" bIns="0">
            <a:spAutoFit/>
          </a:bodyPr>
          <a:lstStyle/>
          <a:p>
            <a:pPr algn="l"/>
            <a:r>
              <a:rPr sz="800" b="1">
                <a:solidFill>
                  <a:srgbClr val="9AA9BD"/>
                </a:solidFill>
                <a:latin typeface="Arial" panose="020B0604020202020204"/>
              </a:rPr>
              <a:t>5</a:t>
            </a:r>
            <a:endParaRPr sz="800" b="1">
              <a:solidFill>
                <a:srgbClr val="9AA9BD"/>
              </a:solidFill>
              <a:latin typeface="Arial" panose="020B0604020202020204"/>
            </a:endParaRPr>
          </a:p>
        </p:txBody>
      </p:sp>
      <p:sp>
        <p:nvSpPr>
          <p:cNvPr id="54" name="TextBox 23"/>
          <p:cNvSpPr txBox="1"/>
          <p:nvPr/>
        </p:nvSpPr>
        <p:spPr>
          <a:xfrm>
            <a:off x="8260828" y="2002503"/>
            <a:ext cx="1270984" cy="848897"/>
          </a:xfrm>
          <a:prstGeom prst="rect">
            <a:avLst/>
          </a:prstGeom>
          <a:noFill/>
        </p:spPr>
        <p:txBody>
          <a:bodyPr wrap="square" lIns="0" tIns="0" rIns="0" bIns="0">
            <a:noAutofit/>
          </a:bodyPr>
          <a:lstStyle/>
          <a:p>
            <a:pPr algn="l"/>
            <a:r>
              <a:rPr sz="2200" b="1">
                <a:solidFill>
                  <a:srgbClr val="86EFAC"/>
                </a:solidFill>
                <a:latin typeface="Arial" panose="020B0604020202020204" pitchFamily="34" charset="0"/>
              </a:rPr>
              <a:t>SQL Export</a:t>
            </a:r>
            <a:endParaRPr>
              <a:latin typeface="Arial" panose="020B0604020202020204"/>
            </a:endParaRPr>
          </a:p>
        </p:txBody>
      </p:sp>
      <p:sp>
        <p:nvSpPr>
          <p:cNvPr id="55" name="TextBox 24"/>
          <p:cNvSpPr txBox="1"/>
          <p:nvPr/>
        </p:nvSpPr>
        <p:spPr>
          <a:xfrm>
            <a:off x="8138176" y="2851433"/>
            <a:ext cx="1516392" cy="1437602"/>
          </a:xfrm>
          <a:prstGeom prst="rect">
            <a:avLst/>
          </a:prstGeom>
          <a:noFill/>
        </p:spPr>
        <p:txBody>
          <a:bodyPr wrap="square" lIns="0" tIns="0" rIns="0" bIns="0">
            <a:noAutofit/>
          </a:bodyPr>
          <a:lstStyle/>
          <a:p>
            <a:pPr algn="l"/>
            <a:r>
              <a:rPr sz="1200">
                <a:solidFill>
                  <a:srgbClr val="9AA9BD"/>
                </a:solidFill>
                <a:latin typeface="Arial" panose="020B0604020202020204" pitchFamily="34" charset="0"/>
              </a:rPr>
              <a:t>Exported complete database and table dum</a:t>
            </a:r>
            <a:r>
              <a:rPr sz="1200">
                <a:solidFill>
                  <a:srgbClr val="9AA9BD"/>
                </a:solidFill>
                <a:latin typeface="Arial" panose="020B0604020202020204" pitchFamily="34" charset="0"/>
              </a:rPr>
              <a:t>ps</a:t>
            </a:r>
            <a:endParaRPr sz="1200">
              <a:solidFill>
                <a:srgbClr val="9AA9BD"/>
              </a:solidFill>
              <a:latin typeface="Arial" panose="020B0604020202020204" pitchFamily="34" charset="0"/>
            </a:endParaRPr>
          </a:p>
          <a:p>
            <a:pPr algn="l"/>
            <a:endParaRPr sz="1000">
              <a:solidFill>
                <a:srgbClr val="9AA9BD"/>
              </a:solidFill>
              <a:latin typeface="Arial" panose="020B0604020202020204" pitchFamily="34" charset="0"/>
            </a:endParaRPr>
          </a:p>
          <a:p>
            <a:pPr algn="l"/>
            <a:r>
              <a:rPr lang="en-US" altLang="zh-CN" sz="1000">
                <a:solidFill>
                  <a:srgbClr val="9AA9BD"/>
                </a:solidFill>
                <a:latin typeface="Arial" panose="020B0604020202020204" pitchFamily="34" charset="0"/>
              </a:rPr>
              <a:t>tmdb.sql </a:t>
            </a:r>
            <a:r>
              <a:rPr lang="zh-CN" altLang="en-US" sz="1000">
                <a:solidFill>
                  <a:srgbClr val="9AA9BD"/>
                </a:solidFill>
                <a:latin typeface="Arial" panose="020B0604020202020204" pitchFamily="34" charset="0"/>
              </a:rPr>
              <a:t>+ </a:t>
            </a:r>
            <a:r>
              <a:rPr lang="en-US" altLang="zh-CN" sz="1000">
                <a:solidFill>
                  <a:srgbClr val="9AA9BD"/>
                </a:solidFill>
                <a:latin typeface="Arial" panose="020B0604020202020204" pitchFamily="34" charset="0"/>
              </a:rPr>
              <a:t>separate SQL files</a:t>
            </a:r>
            <a:endParaRPr sz="1000">
              <a:solidFill>
                <a:srgbClr val="9AA9BD"/>
              </a:solidFill>
              <a:latin typeface="Arial" panose="020B0604020202020204" pitchFamily="34" charset="0"/>
            </a:endParaRPr>
          </a:p>
        </p:txBody>
      </p:sp>
      <p:sp>
        <p:nvSpPr>
          <p:cNvPr id="56" name="Rectangle 25"/>
          <p:cNvSpPr/>
          <p:nvPr/>
        </p:nvSpPr>
        <p:spPr>
          <a:xfrm>
            <a:off x="9893827" y="1600248"/>
            <a:ext cx="1600200" cy="3246120"/>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26"/>
          <p:cNvSpPr txBox="1"/>
          <p:nvPr/>
        </p:nvSpPr>
        <p:spPr>
          <a:xfrm>
            <a:off x="10222992" y="1746504"/>
            <a:ext cx="1271016" cy="201168"/>
          </a:xfrm>
          <a:prstGeom prst="rect">
            <a:avLst/>
          </a:prstGeom>
          <a:noFill/>
        </p:spPr>
        <p:txBody>
          <a:bodyPr wrap="none" lIns="0" tIns="0" rIns="0" bIns="0">
            <a:spAutoFit/>
          </a:bodyPr>
          <a:lstStyle/>
          <a:p>
            <a:pPr algn="l"/>
            <a:r>
              <a:rPr sz="800" b="1">
                <a:solidFill>
                  <a:srgbClr val="9AA9BD"/>
                </a:solidFill>
                <a:latin typeface="Arial" panose="020B0604020202020204"/>
              </a:rPr>
              <a:t>6</a:t>
            </a:r>
            <a:endParaRPr sz="800" b="1">
              <a:solidFill>
                <a:srgbClr val="9AA9BD"/>
              </a:solidFill>
              <a:latin typeface="Arial" panose="020B0604020202020204"/>
            </a:endParaRPr>
          </a:p>
        </p:txBody>
      </p:sp>
      <p:sp>
        <p:nvSpPr>
          <p:cNvPr id="58" name="TextBox 27"/>
          <p:cNvSpPr txBox="1"/>
          <p:nvPr/>
        </p:nvSpPr>
        <p:spPr>
          <a:xfrm>
            <a:off x="10222992" y="2002536"/>
            <a:ext cx="1435599" cy="620089"/>
          </a:xfrm>
          <a:prstGeom prst="rect">
            <a:avLst/>
          </a:prstGeom>
          <a:noFill/>
        </p:spPr>
        <p:txBody>
          <a:bodyPr wrap="square" lIns="0" tIns="0" rIns="0" bIns="0">
            <a:noAutofit/>
          </a:bodyPr>
          <a:lstStyle/>
          <a:p>
            <a:pPr algn="l"/>
            <a:r>
              <a:rPr sz="2200" b="1">
                <a:solidFill>
                  <a:srgbClr val="FB7185"/>
                </a:solidFill>
                <a:latin typeface="Arial" panose="020B0604020202020204" pitchFamily="34" charset="0"/>
              </a:rPr>
              <a:t>Project Reuse</a:t>
            </a:r>
            <a:endParaRPr>
              <a:latin typeface="Arial" panose="020B0604020202020204"/>
            </a:endParaRPr>
          </a:p>
        </p:txBody>
      </p:sp>
      <p:sp>
        <p:nvSpPr>
          <p:cNvPr id="59" name="TextBox 28"/>
          <p:cNvSpPr txBox="1"/>
          <p:nvPr/>
        </p:nvSpPr>
        <p:spPr>
          <a:xfrm>
            <a:off x="9985216" y="2873101"/>
            <a:ext cx="1508703" cy="1275995"/>
          </a:xfrm>
          <a:prstGeom prst="rect">
            <a:avLst/>
          </a:prstGeom>
          <a:noFill/>
        </p:spPr>
        <p:txBody>
          <a:bodyPr wrap="square" lIns="0" tIns="0" rIns="0" bIns="0">
            <a:noAutofit/>
          </a:bodyPr>
          <a:lstStyle/>
          <a:p>
            <a:pPr algn="l"/>
            <a:r>
              <a:rPr sz="1200">
                <a:solidFill>
                  <a:srgbClr val="9AA9BD"/>
                </a:solidFill>
                <a:latin typeface="Arial" panose="020B0604020202020204" pitchFamily="34" charset="0"/>
              </a:rPr>
              <a:t>Files can be restored and checked later</a:t>
            </a:r>
            <a:endParaRPr sz="1200">
              <a:solidFill>
                <a:srgbClr val="9AA9BD"/>
              </a:solidFill>
              <a:latin typeface="Arial" panose="020B0604020202020204" pitchFamily="34" charset="0"/>
            </a:endParaRPr>
          </a:p>
          <a:p>
            <a:pPr algn="l"/>
            <a:endParaRPr sz="1200">
              <a:solidFill>
                <a:srgbClr val="9AA9BD"/>
              </a:solidFill>
              <a:latin typeface="Arial" panose="020B0604020202020204" pitchFamily="34" charset="0"/>
            </a:endParaRPr>
          </a:p>
          <a:p>
            <a:pPr algn="l"/>
            <a:endParaRPr sz="1000">
              <a:solidFill>
                <a:srgbClr val="9AA9BD"/>
              </a:solidFill>
              <a:latin typeface="Arial" panose="020B0604020202020204" pitchFamily="34" charset="0"/>
            </a:endParaRPr>
          </a:p>
          <a:p>
            <a:pPr algn="l"/>
            <a:r>
              <a:rPr lang="en-US" altLang="zh-CN" sz="1000">
                <a:solidFill>
                  <a:srgbClr val="9AA9BD"/>
                </a:solidFill>
                <a:latin typeface="Arial" panose="020B0604020202020204" pitchFamily="34" charset="0"/>
              </a:rPr>
              <a:t>for teammates and final demo</a:t>
            </a:r>
            <a:endParaRPr sz="1000">
              <a:solidFill>
                <a:srgbClr val="9AA9BD"/>
              </a:solidFill>
              <a:latin typeface="Arial" panose="020B0604020202020204" pitchFamily="34" charset="0"/>
            </a:endParaRPr>
          </a:p>
          <a:p>
            <a:pPr algn="l"/>
            <a:endParaRPr sz="1000">
              <a:solidFill>
                <a:srgbClr val="9AA9BD"/>
              </a:solidFill>
              <a:latin typeface="Arial" panose="020B0604020202020204" pitchFamily="34" charset="0"/>
            </a:endParaRPr>
          </a:p>
        </p:txBody>
      </p:sp>
      <p:sp>
        <p:nvSpPr>
          <p:cNvPr id="60" name="TextBox 29"/>
          <p:cNvSpPr txBox="1"/>
          <p:nvPr/>
        </p:nvSpPr>
        <p:spPr>
          <a:xfrm>
            <a:off x="822960" y="5440680"/>
            <a:ext cx="8228330" cy="245745"/>
          </a:xfrm>
          <a:prstGeom prst="rect">
            <a:avLst/>
          </a:prstGeom>
          <a:noFill/>
        </p:spPr>
        <p:txBody>
          <a:bodyPr wrap="none" lIns="0" tIns="0" rIns="0" bIns="0">
            <a:spAutoFit/>
          </a:bodyPr>
          <a:lstStyle/>
          <a:p>
            <a:pPr algn="l"/>
            <a:r>
              <a:rPr lang="en-US" altLang="zh-CN" sz="1600" b="1">
                <a:solidFill>
                  <a:srgbClr val="F2F6FF"/>
                </a:solidFill>
                <a:latin typeface="Arial" panose="020B0604020202020204"/>
              </a:rPr>
              <a:t>SQL export makes the database reproducible for teammates and final demonstration.</a:t>
            </a:r>
            <a:endParaRPr lang="en-US" altLang="zh-CN" sz="1600" b="1">
              <a:solidFill>
                <a:srgbClr val="F2F6FF"/>
              </a:solidFill>
              <a:latin typeface="Arial" panose="020B0604020202020204"/>
            </a:endParaRPr>
          </a:p>
        </p:txBody>
      </p:sp>
      <p:sp>
        <p:nvSpPr>
          <p:cNvPr id="61" name="Rectangle 5"/>
          <p:cNvSpPr/>
          <p:nvPr/>
        </p:nvSpPr>
        <p:spPr>
          <a:xfrm>
            <a:off x="502920" y="6291072"/>
            <a:ext cx="11201400" cy="320040"/>
          </a:xfrm>
          <a:prstGeom prst="rect">
            <a:avLst/>
          </a:prstGeom>
          <a:solidFill>
            <a:srgbClr val="0F1C2D"/>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final-page-marker"/>
          <p:cNvSpPr txBox="1"/>
          <p:nvPr/>
        </p:nvSpPr>
        <p:spPr>
          <a:xfrm>
            <a:off x="10378440" y="6345936"/>
            <a:ext cx="658368" cy="201168"/>
          </a:xfrm>
          <a:prstGeom prst="rect">
            <a:avLst/>
          </a:prstGeom>
          <a:noFill/>
        </p:spPr>
        <p:txBody>
          <a:bodyPr wrap="none">
            <a:spAutoFit/>
          </a:bodyPr>
          <a:lstStyle/>
          <a:p>
            <a:pPr algn="r"/>
            <a:r>
              <a:t>07 / 22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1"/>
          <a:stretch>
            <a:fillRect t="-170" b="-170"/>
          </a:stretch>
        </a:blipFill>
        <a:effectLst/>
      </p:bgPr>
    </p:bg>
    <p:spTree>
      <p:nvGrpSpPr>
        <p:cNvPr id="1" name=""/>
        <p:cNvGrpSpPr/>
        <p:nvPr/>
      </p:nvGrpSpPr>
      <p:grpSpPr/>
      <p:sp>
        <p:nvSpPr>
          <p:cNvPr id="2" name="TextBox 1"/>
          <p:cNvSpPr txBox="1"/>
          <p:nvPr/>
        </p:nvSpPr>
        <p:spPr>
          <a:xfrm>
            <a:off x="502920" y="274320"/>
            <a:ext cx="4206240" cy="201168"/>
          </a:xfrm>
          <a:prstGeom prst="rect">
            <a:avLst/>
          </a:prstGeom>
          <a:noFill/>
        </p:spPr>
        <p:txBody>
          <a:bodyPr wrap="square" lIns="36576" tIns="18288" rIns="36576" bIns="18288">
            <a:normAutofit/>
          </a:bodyPr>
          <a:lstStyle/>
          <a:p>
            <a:pPr algn="l">
              <a:defRPr sz="900" b="1">
                <a:solidFill>
                  <a:srgbClr val="3B82F6"/>
                </a:solidFill>
                <a:latin typeface="Arial" panose="020B0604020202020204"/>
              </a:defRPr>
            </a:pPr>
            <a:r>
              <a:t>ZHOU CAN</a:t>
            </a:r>
          </a:p>
        </p:txBody>
      </p:sp>
      <p:sp>
        <p:nvSpPr>
          <p:cNvPr id="3" name="TextBox 2"/>
          <p:cNvSpPr txBox="1"/>
          <p:nvPr/>
        </p:nvSpPr>
        <p:spPr>
          <a:xfrm>
            <a:off x="10652760" y="274320"/>
            <a:ext cx="914400" cy="201168"/>
          </a:xfrm>
          <a:prstGeom prst="rect">
            <a:avLst/>
          </a:prstGeom>
          <a:noFill/>
        </p:spPr>
        <p:txBody>
          <a:bodyPr wrap="square" lIns="36576" tIns="18288" rIns="36576" bIns="18288">
            <a:normAutofit/>
          </a:bodyPr>
          <a:lstStyle/>
          <a:p>
            <a:pPr algn="r">
              <a:defRPr sz="900" b="1">
                <a:solidFill>
                  <a:srgbClr val="9AA9BD"/>
                </a:solidFill>
                <a:latin typeface="Arial" panose="020B0604020202020204"/>
              </a:defRPr>
            </a:pPr>
            <a:r>
              <a:t>08 / 22</a:t>
            </a:r>
          </a:p>
        </p:txBody>
      </p:sp>
      <p:sp>
        <p:nvSpPr>
          <p:cNvPr id="4" name="TextBox 3"/>
          <p:cNvSpPr txBox="1"/>
          <p:nvPr/>
        </p:nvSpPr>
        <p:spPr>
          <a:xfrm>
            <a:off x="502920" y="566928"/>
            <a:ext cx="9144000" cy="365760"/>
          </a:xfrm>
          <a:prstGeom prst="rect">
            <a:avLst/>
          </a:prstGeom>
          <a:noFill/>
        </p:spPr>
        <p:txBody>
          <a:bodyPr wrap="square" lIns="36576" tIns="18288" rIns="36576" bIns="18288">
            <a:normAutofit lnSpcReduction="20000"/>
          </a:bodyPr>
          <a:lstStyle/>
          <a:p>
            <a:pPr algn="l">
              <a:defRPr sz="2300" b="1">
                <a:solidFill>
                  <a:srgbClr val="F2F6FF"/>
                </a:solidFill>
                <a:latin typeface="Arial" panose="020B0604020202020204"/>
              </a:defRPr>
            </a:pPr>
            <a:r>
              <a:t>System Interface: One Entry Point, Eight Analytical Views</a:t>
            </a:r>
          </a:p>
        </p:txBody>
      </p:sp>
      <p:sp>
        <p:nvSpPr>
          <p:cNvPr id="5" name="TextBox 4"/>
          <p:cNvSpPr txBox="1"/>
          <p:nvPr/>
        </p:nvSpPr>
        <p:spPr>
          <a:xfrm>
            <a:off x="521207" y="1005840"/>
            <a:ext cx="9966960" cy="219456"/>
          </a:xfrm>
          <a:prstGeom prst="rect">
            <a:avLst/>
          </a:prstGeom>
          <a:noFill/>
        </p:spPr>
        <p:txBody>
          <a:bodyPr wrap="square" lIns="36576" tIns="18288" rIns="36576" bIns="18288">
            <a:normAutofit/>
          </a:bodyPr>
          <a:lstStyle/>
          <a:p>
            <a:pPr algn="l">
              <a:defRPr sz="1050" b="0">
                <a:solidFill>
                  <a:srgbClr val="9AA9BD"/>
                </a:solidFill>
                <a:latin typeface="Arial" panose="020B0604020202020204"/>
              </a:defRPr>
            </a:pPr>
            <a:r>
              <a:t>The Overview page connects filters, KPI cards and every analytical chart through one shared state.</a:t>
            </a:r>
          </a:p>
        </p:txBody>
      </p:sp>
      <p:pic>
        <p:nvPicPr>
          <p:cNvPr id="6" name="Picture 5" descr="overview_live.jpg"/>
          <p:cNvPicPr>
            <a:picLocks noChangeAspect="1"/>
          </p:cNvPicPr>
          <p:nvPr/>
        </p:nvPicPr>
        <p:blipFill>
          <a:blip r:embed="rId2"/>
          <a:stretch>
            <a:fillRect/>
          </a:stretch>
        </p:blipFill>
        <p:spPr>
          <a:xfrm>
            <a:off x="621792" y="1243584"/>
            <a:ext cx="7635240" cy="4297680"/>
          </a:xfrm>
          <a:prstGeom prst="rect">
            <a:avLst/>
          </a:prstGeom>
          <a:ln w="10160">
            <a:solidFill>
              <a:srgbClr val="27364D"/>
            </a:solidFill>
          </a:ln>
        </p:spPr>
      </p:pic>
      <p:sp>
        <p:nvSpPr>
          <p:cNvPr id="7" name="Rectangle 6"/>
          <p:cNvSpPr/>
          <p:nvPr/>
        </p:nvSpPr>
        <p:spPr>
          <a:xfrm>
            <a:off x="8503920" y="1463040"/>
            <a:ext cx="2331720" cy="841248"/>
          </a:xfrm>
          <a:prstGeom prst="rect">
            <a:avLst/>
          </a:prstGeom>
          <a:solidFill>
            <a:srgbClr val="122033"/>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31936" y="1572768"/>
            <a:ext cx="2075687" cy="164592"/>
          </a:xfrm>
          <a:prstGeom prst="rect">
            <a:avLst/>
          </a:prstGeom>
          <a:noFill/>
        </p:spPr>
        <p:txBody>
          <a:bodyPr wrap="square" lIns="36576" tIns="18288" rIns="36576" bIns="18288">
            <a:normAutofit/>
          </a:bodyPr>
          <a:lstStyle/>
          <a:p>
            <a:pPr algn="l">
              <a:defRPr sz="750" b="1">
                <a:solidFill>
                  <a:srgbClr val="9AA9BD"/>
                </a:solidFill>
                <a:latin typeface="Arial" panose="020B0604020202020204"/>
              </a:defRPr>
            </a:pPr>
            <a:r>
              <a:t>FILTER RAIL</a:t>
            </a:r>
          </a:p>
        </p:txBody>
      </p:sp>
      <p:sp>
        <p:nvSpPr>
          <p:cNvPr id="9" name="TextBox 8"/>
          <p:cNvSpPr txBox="1"/>
          <p:nvPr/>
        </p:nvSpPr>
        <p:spPr>
          <a:xfrm>
            <a:off x="8631936" y="1801368"/>
            <a:ext cx="2075687" cy="310896"/>
          </a:xfrm>
          <a:prstGeom prst="rect">
            <a:avLst/>
          </a:prstGeom>
          <a:noFill/>
        </p:spPr>
        <p:txBody>
          <a:bodyPr wrap="square" lIns="36576" tIns="18288" rIns="36576" bIns="18288">
            <a:normAutofit/>
          </a:bodyPr>
          <a:lstStyle/>
          <a:p>
            <a:pPr algn="l">
              <a:defRPr sz="1400" b="1">
                <a:solidFill>
                  <a:srgbClr val="3B82F6"/>
                </a:solidFill>
                <a:latin typeface="Arial" panose="020B0604020202020204"/>
              </a:defRPr>
            </a:pPr>
            <a:r>
              <a:t>Shared state</a:t>
            </a:r>
          </a:p>
        </p:txBody>
      </p:sp>
      <p:sp>
        <p:nvSpPr>
          <p:cNvPr id="10" name="TextBox 9"/>
          <p:cNvSpPr txBox="1"/>
          <p:nvPr/>
        </p:nvSpPr>
        <p:spPr>
          <a:xfrm>
            <a:off x="8631936" y="2157984"/>
            <a:ext cx="2075687" cy="128016"/>
          </a:xfrm>
          <a:prstGeom prst="rect">
            <a:avLst/>
          </a:prstGeom>
          <a:noFill/>
        </p:spPr>
        <p:txBody>
          <a:bodyPr wrap="square" lIns="36576" tIns="18288" rIns="36576" bIns="18288">
            <a:normAutofit fontScale="70000"/>
          </a:bodyPr>
          <a:lstStyle/>
          <a:p>
            <a:pPr algn="l">
              <a:defRPr sz="820" b="0">
                <a:solidFill>
                  <a:srgbClr val="9AA9BD"/>
                </a:solidFill>
                <a:latin typeface="Arial" panose="020B0604020202020204"/>
              </a:defRPr>
            </a:pPr>
            <a:r>
              <a:t>year, genre, min votes</a:t>
            </a:r>
          </a:p>
        </p:txBody>
      </p:sp>
      <p:sp>
        <p:nvSpPr>
          <p:cNvPr id="11" name="Rectangle 10"/>
          <p:cNvSpPr/>
          <p:nvPr/>
        </p:nvSpPr>
        <p:spPr>
          <a:xfrm>
            <a:off x="8503920" y="2542032"/>
            <a:ext cx="2331720" cy="841248"/>
          </a:xfrm>
          <a:prstGeom prst="rect">
            <a:avLst/>
          </a:prstGeom>
          <a:solidFill>
            <a:srgbClr val="122033"/>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31936" y="2651760"/>
            <a:ext cx="2075687" cy="164592"/>
          </a:xfrm>
          <a:prstGeom prst="rect">
            <a:avLst/>
          </a:prstGeom>
          <a:noFill/>
        </p:spPr>
        <p:txBody>
          <a:bodyPr wrap="square" lIns="36576" tIns="18288" rIns="36576" bIns="18288">
            <a:normAutofit/>
          </a:bodyPr>
          <a:lstStyle/>
          <a:p>
            <a:pPr algn="l">
              <a:defRPr sz="750" b="1">
                <a:solidFill>
                  <a:srgbClr val="9AA9BD"/>
                </a:solidFill>
                <a:latin typeface="Arial" panose="020B0604020202020204"/>
              </a:defRPr>
            </a:pPr>
            <a:r>
              <a:t>KPI ROW</a:t>
            </a:r>
          </a:p>
        </p:txBody>
      </p:sp>
      <p:sp>
        <p:nvSpPr>
          <p:cNvPr id="13" name="TextBox 12"/>
          <p:cNvSpPr txBox="1"/>
          <p:nvPr/>
        </p:nvSpPr>
        <p:spPr>
          <a:xfrm>
            <a:off x="8631936" y="2880360"/>
            <a:ext cx="2075687" cy="310896"/>
          </a:xfrm>
          <a:prstGeom prst="rect">
            <a:avLst/>
          </a:prstGeom>
          <a:noFill/>
        </p:spPr>
        <p:txBody>
          <a:bodyPr wrap="square" lIns="36576" tIns="18288" rIns="36576" bIns="18288">
            <a:normAutofit/>
          </a:bodyPr>
          <a:lstStyle/>
          <a:p>
            <a:pPr algn="l">
              <a:defRPr sz="1500" b="1">
                <a:solidFill>
                  <a:srgbClr val="2DD4BF"/>
                </a:solidFill>
                <a:latin typeface="Arial" panose="020B0604020202020204"/>
              </a:defRPr>
            </a:pPr>
            <a:r>
              <a:t>6 cards</a:t>
            </a:r>
          </a:p>
        </p:txBody>
      </p:sp>
      <p:sp>
        <p:nvSpPr>
          <p:cNvPr id="14" name="TextBox 13"/>
          <p:cNvSpPr txBox="1"/>
          <p:nvPr/>
        </p:nvSpPr>
        <p:spPr>
          <a:xfrm>
            <a:off x="8631936" y="3236976"/>
            <a:ext cx="2075687" cy="128016"/>
          </a:xfrm>
          <a:prstGeom prst="rect">
            <a:avLst/>
          </a:prstGeom>
          <a:noFill/>
        </p:spPr>
        <p:txBody>
          <a:bodyPr wrap="square" lIns="36576" tIns="18288" rIns="36576" bIns="18288">
            <a:normAutofit fontScale="70000"/>
          </a:bodyPr>
          <a:lstStyle/>
          <a:p>
            <a:pPr algn="l">
              <a:defRPr sz="820" b="0">
                <a:solidFill>
                  <a:srgbClr val="9AA9BD"/>
                </a:solidFill>
                <a:latin typeface="Arial" panose="020B0604020202020204"/>
              </a:defRPr>
            </a:pPr>
            <a:r>
              <a:t>movies, revenue, ROI, rating</a:t>
            </a:r>
          </a:p>
        </p:txBody>
      </p:sp>
      <p:sp>
        <p:nvSpPr>
          <p:cNvPr id="15" name="Rectangle 14"/>
          <p:cNvSpPr/>
          <p:nvPr/>
        </p:nvSpPr>
        <p:spPr>
          <a:xfrm>
            <a:off x="8503920" y="3621024"/>
            <a:ext cx="2331720" cy="841248"/>
          </a:xfrm>
          <a:prstGeom prst="rect">
            <a:avLst/>
          </a:prstGeom>
          <a:solidFill>
            <a:srgbClr val="122033"/>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31936" y="3730752"/>
            <a:ext cx="2075687" cy="164592"/>
          </a:xfrm>
          <a:prstGeom prst="rect">
            <a:avLst/>
          </a:prstGeom>
          <a:noFill/>
        </p:spPr>
        <p:txBody>
          <a:bodyPr wrap="square" lIns="36576" tIns="18288" rIns="36576" bIns="18288">
            <a:normAutofit/>
          </a:bodyPr>
          <a:lstStyle/>
          <a:p>
            <a:pPr algn="l">
              <a:defRPr sz="750" b="1">
                <a:solidFill>
                  <a:srgbClr val="9AA9BD"/>
                </a:solidFill>
                <a:latin typeface="Arial" panose="020B0604020202020204"/>
              </a:defRPr>
            </a:pPr>
            <a:r>
              <a:t>VIEWS</a:t>
            </a:r>
          </a:p>
        </p:txBody>
      </p:sp>
      <p:sp>
        <p:nvSpPr>
          <p:cNvPr id="17" name="TextBox 16"/>
          <p:cNvSpPr txBox="1"/>
          <p:nvPr/>
        </p:nvSpPr>
        <p:spPr>
          <a:xfrm>
            <a:off x="8631936" y="3959352"/>
            <a:ext cx="2075687" cy="310896"/>
          </a:xfrm>
          <a:prstGeom prst="rect">
            <a:avLst/>
          </a:prstGeom>
          <a:noFill/>
        </p:spPr>
        <p:txBody>
          <a:bodyPr wrap="square" lIns="36576" tIns="18288" rIns="36576" bIns="18288">
            <a:normAutofit/>
          </a:bodyPr>
          <a:lstStyle/>
          <a:p>
            <a:pPr algn="l">
              <a:defRPr sz="1800" b="1">
                <a:solidFill>
                  <a:srgbClr val="A855F7"/>
                </a:solidFill>
                <a:latin typeface="Arial" panose="020B0604020202020204"/>
              </a:defRPr>
            </a:pPr>
            <a:r>
              <a:t>8</a:t>
            </a:r>
          </a:p>
        </p:txBody>
      </p:sp>
      <p:sp>
        <p:nvSpPr>
          <p:cNvPr id="18" name="TextBox 17"/>
          <p:cNvSpPr txBox="1"/>
          <p:nvPr/>
        </p:nvSpPr>
        <p:spPr>
          <a:xfrm>
            <a:off x="8631936" y="4315968"/>
            <a:ext cx="2075687" cy="128016"/>
          </a:xfrm>
          <a:prstGeom prst="rect">
            <a:avLst/>
          </a:prstGeom>
          <a:noFill/>
        </p:spPr>
        <p:txBody>
          <a:bodyPr wrap="square" lIns="36576" tIns="18288" rIns="36576" bIns="18288">
            <a:normAutofit fontScale="70000"/>
          </a:bodyPr>
          <a:lstStyle/>
          <a:p>
            <a:pPr algn="l">
              <a:defRPr sz="820" b="0">
                <a:solidFill>
                  <a:srgbClr val="9AA9BD"/>
                </a:solidFill>
                <a:latin typeface="Arial" panose="020B0604020202020204"/>
              </a:defRPr>
            </a:pPr>
            <a:r>
              <a:t>Overview to Export</a:t>
            </a:r>
          </a:p>
        </p:txBody>
      </p:sp>
      <p:sp>
        <p:nvSpPr>
          <p:cNvPr id="19" name="Rectangle 18"/>
          <p:cNvSpPr/>
          <p:nvPr/>
        </p:nvSpPr>
        <p:spPr>
          <a:xfrm>
            <a:off x="8503920" y="4700016"/>
            <a:ext cx="2331720" cy="841248"/>
          </a:xfrm>
          <a:prstGeom prst="rect">
            <a:avLst/>
          </a:prstGeom>
          <a:solidFill>
            <a:srgbClr val="122033"/>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31936" y="4809744"/>
            <a:ext cx="2075687" cy="164592"/>
          </a:xfrm>
          <a:prstGeom prst="rect">
            <a:avLst/>
          </a:prstGeom>
          <a:noFill/>
        </p:spPr>
        <p:txBody>
          <a:bodyPr wrap="square" lIns="36576" tIns="18288" rIns="36576" bIns="18288">
            <a:normAutofit/>
          </a:bodyPr>
          <a:lstStyle/>
          <a:p>
            <a:pPr algn="l">
              <a:defRPr sz="750" b="1">
                <a:solidFill>
                  <a:srgbClr val="9AA9BD"/>
                </a:solidFill>
                <a:latin typeface="Arial" panose="020B0604020202020204"/>
              </a:defRPr>
            </a:pPr>
            <a:r>
              <a:t>MESSAGE</a:t>
            </a:r>
          </a:p>
        </p:txBody>
      </p:sp>
      <p:sp>
        <p:nvSpPr>
          <p:cNvPr id="21" name="TextBox 20"/>
          <p:cNvSpPr txBox="1"/>
          <p:nvPr/>
        </p:nvSpPr>
        <p:spPr>
          <a:xfrm>
            <a:off x="8631936" y="5038344"/>
            <a:ext cx="2075687" cy="310896"/>
          </a:xfrm>
          <a:prstGeom prst="rect">
            <a:avLst/>
          </a:prstGeom>
          <a:noFill/>
        </p:spPr>
        <p:txBody>
          <a:bodyPr wrap="square" lIns="36576" tIns="18288" rIns="36576" bIns="18288">
            <a:normAutofit/>
          </a:bodyPr>
          <a:lstStyle/>
          <a:p>
            <a:pPr algn="l">
              <a:defRPr sz="1200" b="1">
                <a:solidFill>
                  <a:srgbClr val="FBBF24"/>
                </a:solidFill>
                <a:latin typeface="Arial" panose="020B0604020202020204"/>
              </a:defRPr>
            </a:pPr>
            <a:r>
              <a:t>One control loop</a:t>
            </a:r>
          </a:p>
        </p:txBody>
      </p:sp>
      <p:sp>
        <p:nvSpPr>
          <p:cNvPr id="22" name="TextBox 21"/>
          <p:cNvSpPr txBox="1"/>
          <p:nvPr/>
        </p:nvSpPr>
        <p:spPr>
          <a:xfrm>
            <a:off x="8631936" y="5394959"/>
            <a:ext cx="2075687" cy="128016"/>
          </a:xfrm>
          <a:prstGeom prst="rect">
            <a:avLst/>
          </a:prstGeom>
          <a:noFill/>
        </p:spPr>
        <p:txBody>
          <a:bodyPr wrap="square" lIns="36576" tIns="18288" rIns="36576" bIns="18288">
            <a:normAutofit fontScale="70000"/>
          </a:bodyPr>
          <a:lstStyle/>
          <a:p>
            <a:pPr algn="l">
              <a:defRPr sz="820" b="0">
                <a:solidFill>
                  <a:srgbClr val="9AA9BD"/>
                </a:solidFill>
                <a:latin typeface="Arial" panose="020B0604020202020204"/>
              </a:defRPr>
            </a:pPr>
            <a:r>
              <a:t>filters refresh charts, KPIs and exports</a:t>
            </a:r>
          </a:p>
        </p:txBody>
      </p:sp>
      <p:sp>
        <p:nvSpPr>
          <p:cNvPr id="23" name="Rectangle 22"/>
          <p:cNvSpPr/>
          <p:nvPr/>
        </p:nvSpPr>
        <p:spPr>
          <a:xfrm>
            <a:off x="502920" y="6272784"/>
            <a:ext cx="11201400" cy="329184"/>
          </a:xfrm>
          <a:prstGeom prst="rect">
            <a:avLst/>
          </a:prstGeom>
          <a:solidFill>
            <a:srgbClr val="0F1C2D"/>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6345936"/>
            <a:ext cx="2926080" cy="137160"/>
          </a:xfrm>
          <a:prstGeom prst="rect">
            <a:avLst/>
          </a:prstGeom>
          <a:noFill/>
        </p:spPr>
        <p:txBody>
          <a:bodyPr wrap="square" lIns="36576" tIns="18288" rIns="36576" bIns="18288">
            <a:normAutofit fontScale="90000" lnSpcReduction="10000"/>
          </a:bodyPr>
          <a:lstStyle/>
          <a:p>
            <a:pPr algn="l">
              <a:defRPr sz="820" b="1">
                <a:solidFill>
                  <a:srgbClr val="2DD4BF"/>
                </a:solidFill>
                <a:latin typeface="Arial" panose="020B0604020202020204"/>
              </a:defRPr>
            </a:pPr>
            <a:r>
              <a:t>ZHOU Can · approx. 3 min</a:t>
            </a:r>
          </a:p>
        </p:txBody>
      </p:sp>
      <p:sp>
        <p:nvSpPr>
          <p:cNvPr id="25" name="TextBox 24"/>
          <p:cNvSpPr txBox="1"/>
          <p:nvPr/>
        </p:nvSpPr>
        <p:spPr>
          <a:xfrm>
            <a:off x="3337560" y="6345936"/>
            <a:ext cx="7955279" cy="137160"/>
          </a:xfrm>
          <a:prstGeom prst="rect">
            <a:avLst/>
          </a:prstGeom>
          <a:noFill/>
        </p:spPr>
        <p:txBody>
          <a:bodyPr wrap="square" lIns="36576" tIns="18288" rIns="36576" bIns="18288">
            <a:normAutofit fontScale="90000" lnSpcReduction="10000"/>
          </a:bodyPr>
          <a:lstStyle/>
          <a:p>
            <a:pPr algn="l">
              <a:defRPr sz="820" b="0">
                <a:solidFill>
                  <a:srgbClr val="9AA9BD"/>
                </a:solidFill>
                <a:latin typeface="Arial" panose="020B0604020202020204"/>
              </a:defRPr>
            </a:pPr>
            <a:r>
              <a:t>Overview / Revenue / Genres / Time</a:t>
            </a:r>
          </a:p>
        </p:txBody>
      </p:sp>
      <p:sp>
        <p:nvSpPr>
          <p:cNvPr id="26" name="final-page-marker"/>
          <p:cNvSpPr txBox="1"/>
          <p:nvPr/>
        </p:nvSpPr>
        <p:spPr>
          <a:xfrm>
            <a:off x="10378440" y="6345936"/>
            <a:ext cx="658368" cy="201168"/>
          </a:xfrm>
          <a:prstGeom prst="rect">
            <a:avLst/>
          </a:prstGeom>
          <a:noFill/>
        </p:spPr>
        <p:txBody>
          <a:bodyPr wrap="none">
            <a:spAutoFit/>
          </a:bodyPr>
          <a:lstStyle/>
          <a:p>
            <a:pPr algn="r"/>
            <a:r>
              <a:t>08 / 22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1"/>
          <a:stretch>
            <a:fillRect t="-170" b="-170"/>
          </a:stretch>
        </a:blipFill>
        <a:effectLst/>
      </p:bgPr>
    </p:bg>
    <p:spTree>
      <p:nvGrpSpPr>
        <p:cNvPr id="1" name=""/>
        <p:cNvGrpSpPr/>
        <p:nvPr/>
      </p:nvGrpSpPr>
      <p:grpSpPr/>
      <p:sp>
        <p:nvSpPr>
          <p:cNvPr id="2" name="TextBox 1"/>
          <p:cNvSpPr txBox="1"/>
          <p:nvPr/>
        </p:nvSpPr>
        <p:spPr>
          <a:xfrm>
            <a:off x="502920" y="274320"/>
            <a:ext cx="4206240" cy="201168"/>
          </a:xfrm>
          <a:prstGeom prst="rect">
            <a:avLst/>
          </a:prstGeom>
          <a:noFill/>
        </p:spPr>
        <p:txBody>
          <a:bodyPr wrap="square" lIns="36576" tIns="18288" rIns="36576" bIns="18288">
            <a:normAutofit/>
          </a:bodyPr>
          <a:lstStyle/>
          <a:p>
            <a:pPr algn="l">
              <a:defRPr sz="900" b="1">
                <a:solidFill>
                  <a:srgbClr val="3B82F6"/>
                </a:solidFill>
                <a:latin typeface="Arial" panose="020B0604020202020204"/>
              </a:defRPr>
            </a:pPr>
            <a:r>
              <a:t>ZHOU CAN</a:t>
            </a:r>
          </a:p>
        </p:txBody>
      </p:sp>
      <p:sp>
        <p:nvSpPr>
          <p:cNvPr id="3" name="TextBox 2"/>
          <p:cNvSpPr txBox="1"/>
          <p:nvPr/>
        </p:nvSpPr>
        <p:spPr>
          <a:xfrm>
            <a:off x="10652760" y="274320"/>
            <a:ext cx="914400" cy="201168"/>
          </a:xfrm>
          <a:prstGeom prst="rect">
            <a:avLst/>
          </a:prstGeom>
          <a:noFill/>
        </p:spPr>
        <p:txBody>
          <a:bodyPr wrap="square" lIns="36576" tIns="18288" rIns="36576" bIns="18288">
            <a:normAutofit/>
          </a:bodyPr>
          <a:lstStyle/>
          <a:p>
            <a:pPr algn="r">
              <a:defRPr sz="900" b="1">
                <a:solidFill>
                  <a:srgbClr val="9AA9BD"/>
                </a:solidFill>
                <a:latin typeface="Arial" panose="020B0604020202020204"/>
              </a:defRPr>
            </a:pPr>
            <a:r>
              <a:t>09 / 22</a:t>
            </a:r>
          </a:p>
        </p:txBody>
      </p:sp>
      <p:sp>
        <p:nvSpPr>
          <p:cNvPr id="4" name="TextBox 3"/>
          <p:cNvSpPr txBox="1"/>
          <p:nvPr/>
        </p:nvSpPr>
        <p:spPr>
          <a:xfrm>
            <a:off x="502920" y="566928"/>
            <a:ext cx="9144000" cy="365760"/>
          </a:xfrm>
          <a:prstGeom prst="rect">
            <a:avLst/>
          </a:prstGeom>
          <a:noFill/>
        </p:spPr>
        <p:txBody>
          <a:bodyPr wrap="square" lIns="36576" tIns="18288" rIns="36576" bIns="18288">
            <a:normAutofit lnSpcReduction="20000"/>
          </a:bodyPr>
          <a:lstStyle/>
          <a:p>
            <a:pPr algn="l">
              <a:defRPr sz="2300" b="1">
                <a:solidFill>
                  <a:srgbClr val="F2F6FF"/>
                </a:solidFill>
                <a:latin typeface="Arial" panose="020B0604020202020204"/>
              </a:defRPr>
            </a:pPr>
            <a:r>
              <a:t>Revenue View: Scale and ROI Tell Different Stories</a:t>
            </a:r>
          </a:p>
        </p:txBody>
      </p:sp>
      <p:sp>
        <p:nvSpPr>
          <p:cNvPr id="5" name="TextBox 4"/>
          <p:cNvSpPr txBox="1"/>
          <p:nvPr/>
        </p:nvSpPr>
        <p:spPr>
          <a:xfrm>
            <a:off x="521207" y="1005840"/>
            <a:ext cx="9966960" cy="219456"/>
          </a:xfrm>
          <a:prstGeom prst="rect">
            <a:avLst/>
          </a:prstGeom>
          <a:noFill/>
        </p:spPr>
        <p:txBody>
          <a:bodyPr wrap="square" lIns="36576" tIns="18288" rIns="36576" bIns="18288">
            <a:normAutofit/>
          </a:bodyPr>
          <a:lstStyle/>
          <a:p>
            <a:pPr algn="l">
              <a:defRPr sz="1050" b="0">
                <a:solidFill>
                  <a:srgbClr val="9AA9BD"/>
                </a:solidFill>
                <a:latin typeface="Arial" panose="020B0604020202020204"/>
              </a:defRPr>
            </a:pPr>
            <a:r>
              <a:t>Budget explains market scale; ROI and release timing explain efficiency.</a:t>
            </a:r>
          </a:p>
        </p:txBody>
      </p:sp>
      <p:pic>
        <p:nvPicPr>
          <p:cNvPr id="6" name="Picture 5" descr="revenue_budget_revenue.jpg"/>
          <p:cNvPicPr>
            <a:picLocks noChangeAspect="1"/>
          </p:cNvPicPr>
          <p:nvPr/>
        </p:nvPicPr>
        <p:blipFill>
          <a:blip r:embed="rId2"/>
          <a:stretch>
            <a:fillRect/>
          </a:stretch>
        </p:blipFill>
        <p:spPr>
          <a:xfrm>
            <a:off x="658368" y="1298448"/>
            <a:ext cx="5166360" cy="3063240"/>
          </a:xfrm>
          <a:prstGeom prst="rect">
            <a:avLst/>
          </a:prstGeom>
          <a:ln w="10160">
            <a:solidFill>
              <a:srgbClr val="27364D"/>
            </a:solidFill>
          </a:ln>
        </p:spPr>
      </p:pic>
      <p:pic>
        <p:nvPicPr>
          <p:cNvPr id="7" name="Picture 6" descr="revenue_month.jpg"/>
          <p:cNvPicPr>
            <a:picLocks noChangeAspect="1"/>
          </p:cNvPicPr>
          <p:nvPr/>
        </p:nvPicPr>
        <p:blipFill>
          <a:blip r:embed="rId3"/>
          <a:stretch>
            <a:fillRect/>
          </a:stretch>
        </p:blipFill>
        <p:spPr>
          <a:xfrm>
            <a:off x="6126480" y="1298448"/>
            <a:ext cx="5074920" cy="3063240"/>
          </a:xfrm>
          <a:prstGeom prst="rect">
            <a:avLst/>
          </a:prstGeom>
          <a:ln w="10160">
            <a:solidFill>
              <a:srgbClr val="27364D"/>
            </a:solidFill>
          </a:ln>
        </p:spPr>
      </p:pic>
      <p:sp>
        <p:nvSpPr>
          <p:cNvPr id="8" name="Rectangle 7"/>
          <p:cNvSpPr/>
          <p:nvPr/>
        </p:nvSpPr>
        <p:spPr>
          <a:xfrm>
            <a:off x="786384" y="4864608"/>
            <a:ext cx="2148840" cy="804672"/>
          </a:xfrm>
          <a:prstGeom prst="rect">
            <a:avLst/>
          </a:prstGeom>
          <a:solidFill>
            <a:srgbClr val="122033"/>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974336"/>
            <a:ext cx="1892808" cy="164592"/>
          </a:xfrm>
          <a:prstGeom prst="rect">
            <a:avLst/>
          </a:prstGeom>
          <a:noFill/>
        </p:spPr>
        <p:txBody>
          <a:bodyPr wrap="square" lIns="36576" tIns="18288" rIns="36576" bIns="18288">
            <a:normAutofit/>
          </a:bodyPr>
          <a:lstStyle/>
          <a:p>
            <a:pPr algn="l">
              <a:defRPr sz="750" b="1">
                <a:solidFill>
                  <a:srgbClr val="9AA9BD"/>
                </a:solidFill>
                <a:latin typeface="Arial" panose="020B0604020202020204"/>
              </a:defRPr>
            </a:pPr>
            <a:r>
              <a:t>BUDGET -&gt; REVENUE</a:t>
            </a:r>
          </a:p>
        </p:txBody>
      </p:sp>
      <p:sp>
        <p:nvSpPr>
          <p:cNvPr id="10" name="TextBox 9"/>
          <p:cNvSpPr txBox="1"/>
          <p:nvPr/>
        </p:nvSpPr>
        <p:spPr>
          <a:xfrm>
            <a:off x="914400" y="5202936"/>
            <a:ext cx="1892808" cy="310896"/>
          </a:xfrm>
          <a:prstGeom prst="rect">
            <a:avLst/>
          </a:prstGeom>
          <a:noFill/>
        </p:spPr>
        <p:txBody>
          <a:bodyPr wrap="square" lIns="36576" tIns="18288" rIns="36576" bIns="18288">
            <a:normAutofit/>
          </a:bodyPr>
          <a:lstStyle/>
          <a:p>
            <a:pPr algn="l">
              <a:defRPr sz="1700" b="1">
                <a:solidFill>
                  <a:srgbClr val="3B82F6"/>
                </a:solidFill>
                <a:latin typeface="Arial" panose="020B0604020202020204"/>
              </a:defRPr>
            </a:pPr>
            <a:r>
              <a:t>r = 0.67</a:t>
            </a:r>
          </a:p>
        </p:txBody>
      </p:sp>
      <p:sp>
        <p:nvSpPr>
          <p:cNvPr id="11" name="TextBox 10"/>
          <p:cNvSpPr txBox="1"/>
          <p:nvPr/>
        </p:nvSpPr>
        <p:spPr>
          <a:xfrm>
            <a:off x="914400" y="5559552"/>
            <a:ext cx="1892808" cy="91439"/>
          </a:xfrm>
          <a:prstGeom prst="rect">
            <a:avLst/>
          </a:prstGeom>
          <a:noFill/>
        </p:spPr>
        <p:txBody>
          <a:bodyPr wrap="square" lIns="36576" tIns="18288" rIns="36576" bIns="18288">
            <a:normAutofit fontScale="40000"/>
          </a:bodyPr>
          <a:lstStyle/>
          <a:p>
            <a:pPr algn="l">
              <a:defRPr sz="820" b="0">
                <a:solidFill>
                  <a:srgbClr val="9AA9BD"/>
                </a:solidFill>
                <a:latin typeface="Arial" panose="020B0604020202020204"/>
              </a:defRPr>
            </a:pPr>
            <a:r>
              <a:t>positive correlation in the live view</a:t>
            </a:r>
          </a:p>
        </p:txBody>
      </p:sp>
      <p:sp>
        <p:nvSpPr>
          <p:cNvPr id="12" name="Rectangle 11"/>
          <p:cNvSpPr/>
          <p:nvPr/>
        </p:nvSpPr>
        <p:spPr>
          <a:xfrm>
            <a:off x="3172968" y="4864608"/>
            <a:ext cx="2148840" cy="804672"/>
          </a:xfrm>
          <a:prstGeom prst="rect">
            <a:avLst/>
          </a:prstGeom>
          <a:solidFill>
            <a:srgbClr val="122033"/>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00984" y="4974336"/>
            <a:ext cx="1892808" cy="164592"/>
          </a:xfrm>
          <a:prstGeom prst="rect">
            <a:avLst/>
          </a:prstGeom>
          <a:noFill/>
        </p:spPr>
        <p:txBody>
          <a:bodyPr wrap="square" lIns="36576" tIns="18288" rIns="36576" bIns="18288">
            <a:normAutofit/>
          </a:bodyPr>
          <a:lstStyle/>
          <a:p>
            <a:pPr algn="l">
              <a:defRPr sz="750" b="1">
                <a:solidFill>
                  <a:srgbClr val="9AA9BD"/>
                </a:solidFill>
                <a:latin typeface="Arial" panose="020B0604020202020204"/>
              </a:defRPr>
            </a:pPr>
            <a:r>
              <a:t>MONTHLY REVENUE</a:t>
            </a:r>
          </a:p>
        </p:txBody>
      </p:sp>
      <p:sp>
        <p:nvSpPr>
          <p:cNvPr id="14" name="TextBox 13"/>
          <p:cNvSpPr txBox="1"/>
          <p:nvPr/>
        </p:nvSpPr>
        <p:spPr>
          <a:xfrm>
            <a:off x="3300984" y="5202936"/>
            <a:ext cx="1892808" cy="310896"/>
          </a:xfrm>
          <a:prstGeom prst="rect">
            <a:avLst/>
          </a:prstGeom>
          <a:noFill/>
        </p:spPr>
        <p:txBody>
          <a:bodyPr wrap="square" lIns="36576" tIns="18288" rIns="36576" bIns="18288">
            <a:normAutofit/>
          </a:bodyPr>
          <a:lstStyle/>
          <a:p>
            <a:pPr algn="l">
              <a:defRPr sz="1700" b="1">
                <a:solidFill>
                  <a:srgbClr val="2DD4BF"/>
                </a:solidFill>
                <a:latin typeface="Arial" panose="020B0604020202020204"/>
              </a:defRPr>
            </a:pPr>
            <a:r>
              <a:t>May peak</a:t>
            </a:r>
          </a:p>
        </p:txBody>
      </p:sp>
      <p:sp>
        <p:nvSpPr>
          <p:cNvPr id="15" name="TextBox 14"/>
          <p:cNvSpPr txBox="1"/>
          <p:nvPr/>
        </p:nvSpPr>
        <p:spPr>
          <a:xfrm>
            <a:off x="3300984" y="5559552"/>
            <a:ext cx="1892808" cy="91439"/>
          </a:xfrm>
          <a:prstGeom prst="rect">
            <a:avLst/>
          </a:prstGeom>
          <a:noFill/>
        </p:spPr>
        <p:txBody>
          <a:bodyPr wrap="square" lIns="36576" tIns="18288" rIns="36576" bIns="18288">
            <a:normAutofit fontScale="40000"/>
          </a:bodyPr>
          <a:lstStyle/>
          <a:p>
            <a:pPr algn="l">
              <a:defRPr sz="820" b="0">
                <a:solidFill>
                  <a:srgbClr val="9AA9BD"/>
                </a:solidFill>
                <a:latin typeface="Arial" panose="020B0604020202020204"/>
              </a:defRPr>
            </a:pPr>
            <a:r>
              <a:t>release window changes scale</a:t>
            </a:r>
          </a:p>
        </p:txBody>
      </p:sp>
      <p:sp>
        <p:nvSpPr>
          <p:cNvPr id="16" name="Rectangle 15"/>
          <p:cNvSpPr/>
          <p:nvPr/>
        </p:nvSpPr>
        <p:spPr>
          <a:xfrm>
            <a:off x="5559552" y="4864608"/>
            <a:ext cx="2148840" cy="804672"/>
          </a:xfrm>
          <a:prstGeom prst="rect">
            <a:avLst/>
          </a:prstGeom>
          <a:solidFill>
            <a:srgbClr val="122033"/>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87568" y="4974336"/>
            <a:ext cx="1892808" cy="164592"/>
          </a:xfrm>
          <a:prstGeom prst="rect">
            <a:avLst/>
          </a:prstGeom>
          <a:noFill/>
        </p:spPr>
        <p:txBody>
          <a:bodyPr wrap="square" lIns="36576" tIns="18288" rIns="36576" bIns="18288">
            <a:normAutofit/>
          </a:bodyPr>
          <a:lstStyle/>
          <a:p>
            <a:pPr algn="l">
              <a:defRPr sz="750" b="1">
                <a:solidFill>
                  <a:srgbClr val="9AA9BD"/>
                </a:solidFill>
                <a:latin typeface="Arial" panose="020B0604020202020204"/>
              </a:defRPr>
            </a:pPr>
            <a:r>
              <a:t>ROI LENS</a:t>
            </a:r>
          </a:p>
        </p:txBody>
      </p:sp>
      <p:sp>
        <p:nvSpPr>
          <p:cNvPr id="18" name="TextBox 17"/>
          <p:cNvSpPr txBox="1"/>
          <p:nvPr/>
        </p:nvSpPr>
        <p:spPr>
          <a:xfrm>
            <a:off x="5687568" y="5202936"/>
            <a:ext cx="1892808" cy="310896"/>
          </a:xfrm>
          <a:prstGeom prst="rect">
            <a:avLst/>
          </a:prstGeom>
          <a:noFill/>
        </p:spPr>
        <p:txBody>
          <a:bodyPr wrap="square" lIns="36576" tIns="18288" rIns="36576" bIns="18288">
            <a:normAutofit/>
          </a:bodyPr>
          <a:lstStyle/>
          <a:p>
            <a:pPr algn="l">
              <a:defRPr sz="1700" b="1">
                <a:solidFill>
                  <a:srgbClr val="86EFAC"/>
                </a:solidFill>
                <a:latin typeface="Arial" panose="020B0604020202020204"/>
              </a:defRPr>
            </a:pPr>
            <a:r>
              <a:t>98th cap</a:t>
            </a:r>
          </a:p>
        </p:txBody>
      </p:sp>
      <p:sp>
        <p:nvSpPr>
          <p:cNvPr id="19" name="TextBox 18"/>
          <p:cNvSpPr txBox="1"/>
          <p:nvPr/>
        </p:nvSpPr>
        <p:spPr>
          <a:xfrm>
            <a:off x="5687568" y="5559552"/>
            <a:ext cx="1892808" cy="91439"/>
          </a:xfrm>
          <a:prstGeom prst="rect">
            <a:avLst/>
          </a:prstGeom>
          <a:noFill/>
        </p:spPr>
        <p:txBody>
          <a:bodyPr wrap="square" lIns="36576" tIns="18288" rIns="36576" bIns="18288">
            <a:normAutofit fontScale="40000"/>
          </a:bodyPr>
          <a:lstStyle/>
          <a:p>
            <a:pPr algn="l">
              <a:defRPr sz="820" b="0">
                <a:solidFill>
                  <a:srgbClr val="9AA9BD"/>
                </a:solidFill>
                <a:latin typeface="Arial" panose="020B0604020202020204"/>
              </a:defRPr>
            </a:pPr>
            <a:r>
              <a:t>keeps outliers readable</a:t>
            </a:r>
          </a:p>
        </p:txBody>
      </p:sp>
      <p:sp>
        <p:nvSpPr>
          <p:cNvPr id="20" name="Rectangle 19"/>
          <p:cNvSpPr/>
          <p:nvPr/>
        </p:nvSpPr>
        <p:spPr>
          <a:xfrm>
            <a:off x="7946136" y="4864608"/>
            <a:ext cx="2148840" cy="804672"/>
          </a:xfrm>
          <a:prstGeom prst="rect">
            <a:avLst/>
          </a:prstGeom>
          <a:solidFill>
            <a:srgbClr val="122033"/>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74152" y="4974336"/>
            <a:ext cx="1892808" cy="164592"/>
          </a:xfrm>
          <a:prstGeom prst="rect">
            <a:avLst/>
          </a:prstGeom>
          <a:noFill/>
        </p:spPr>
        <p:txBody>
          <a:bodyPr wrap="square" lIns="36576" tIns="18288" rIns="36576" bIns="18288">
            <a:normAutofit/>
          </a:bodyPr>
          <a:lstStyle/>
          <a:p>
            <a:pPr algn="l">
              <a:defRPr sz="750" b="1">
                <a:solidFill>
                  <a:srgbClr val="9AA9BD"/>
                </a:solidFill>
                <a:latin typeface="Arial" panose="020B0604020202020204"/>
              </a:defRPr>
            </a:pPr>
            <a:r>
              <a:t>CONCLUSION</a:t>
            </a:r>
          </a:p>
        </p:txBody>
      </p:sp>
      <p:sp>
        <p:nvSpPr>
          <p:cNvPr id="22" name="TextBox 21"/>
          <p:cNvSpPr txBox="1"/>
          <p:nvPr/>
        </p:nvSpPr>
        <p:spPr>
          <a:xfrm>
            <a:off x="8074152" y="5202936"/>
            <a:ext cx="1892808" cy="310896"/>
          </a:xfrm>
          <a:prstGeom prst="rect">
            <a:avLst/>
          </a:prstGeom>
          <a:noFill/>
        </p:spPr>
        <p:txBody>
          <a:bodyPr wrap="square" lIns="36576" tIns="18288" rIns="36576" bIns="18288">
            <a:normAutofit/>
          </a:bodyPr>
          <a:lstStyle/>
          <a:p>
            <a:pPr algn="l">
              <a:defRPr sz="1600" b="1">
                <a:solidFill>
                  <a:srgbClr val="A855F7"/>
                </a:solidFill>
                <a:latin typeface="Arial" panose="020B0604020202020204"/>
              </a:defRPr>
            </a:pPr>
            <a:r>
              <a:t>Scale != efficiency</a:t>
            </a:r>
          </a:p>
        </p:txBody>
      </p:sp>
      <p:sp>
        <p:nvSpPr>
          <p:cNvPr id="23" name="TextBox 22"/>
          <p:cNvSpPr txBox="1"/>
          <p:nvPr/>
        </p:nvSpPr>
        <p:spPr>
          <a:xfrm>
            <a:off x="8074152" y="5559552"/>
            <a:ext cx="1892808" cy="91439"/>
          </a:xfrm>
          <a:prstGeom prst="rect">
            <a:avLst/>
          </a:prstGeom>
          <a:noFill/>
        </p:spPr>
        <p:txBody>
          <a:bodyPr wrap="square" lIns="36576" tIns="18288" rIns="36576" bIns="18288">
            <a:normAutofit fontScale="40000"/>
          </a:bodyPr>
          <a:lstStyle/>
          <a:p>
            <a:pPr algn="l">
              <a:defRPr sz="820" b="0">
                <a:solidFill>
                  <a:srgbClr val="9AA9BD"/>
                </a:solidFill>
                <a:latin typeface="Arial" panose="020B0604020202020204"/>
              </a:defRPr>
            </a:pPr>
            <a:r>
              <a:t>revenue and return differ</a:t>
            </a:r>
          </a:p>
        </p:txBody>
      </p:sp>
      <p:sp>
        <p:nvSpPr>
          <p:cNvPr id="24" name="Rectangle 23"/>
          <p:cNvSpPr/>
          <p:nvPr/>
        </p:nvSpPr>
        <p:spPr>
          <a:xfrm>
            <a:off x="502920" y="6272784"/>
            <a:ext cx="11201400" cy="329184"/>
          </a:xfrm>
          <a:prstGeom prst="rect">
            <a:avLst/>
          </a:prstGeom>
          <a:solidFill>
            <a:srgbClr val="0F1C2D"/>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 y="6345936"/>
            <a:ext cx="2926080" cy="137160"/>
          </a:xfrm>
          <a:prstGeom prst="rect">
            <a:avLst/>
          </a:prstGeom>
          <a:noFill/>
        </p:spPr>
        <p:txBody>
          <a:bodyPr wrap="square" lIns="36576" tIns="18288" rIns="36576" bIns="18288">
            <a:normAutofit fontScale="90000" lnSpcReduction="10000"/>
          </a:bodyPr>
          <a:lstStyle/>
          <a:p>
            <a:pPr algn="l">
              <a:defRPr sz="820" b="1">
                <a:solidFill>
                  <a:srgbClr val="2DD4BF"/>
                </a:solidFill>
                <a:latin typeface="Arial" panose="020B0604020202020204"/>
              </a:defRPr>
            </a:pPr>
            <a:r>
              <a:t>ZHOU Can · approx. 3 min</a:t>
            </a:r>
          </a:p>
        </p:txBody>
      </p:sp>
      <p:sp>
        <p:nvSpPr>
          <p:cNvPr id="26" name="TextBox 25"/>
          <p:cNvSpPr txBox="1"/>
          <p:nvPr/>
        </p:nvSpPr>
        <p:spPr>
          <a:xfrm>
            <a:off x="3337560" y="6345936"/>
            <a:ext cx="7955279" cy="137160"/>
          </a:xfrm>
          <a:prstGeom prst="rect">
            <a:avLst/>
          </a:prstGeom>
          <a:noFill/>
        </p:spPr>
        <p:txBody>
          <a:bodyPr wrap="square" lIns="36576" tIns="18288" rIns="36576" bIns="18288">
            <a:normAutofit fontScale="90000" lnSpcReduction="10000"/>
          </a:bodyPr>
          <a:lstStyle/>
          <a:p>
            <a:pPr algn="l">
              <a:defRPr sz="820" b="0">
                <a:solidFill>
                  <a:srgbClr val="9AA9BD"/>
                </a:solidFill>
                <a:latin typeface="Arial" panose="020B0604020202020204"/>
              </a:defRPr>
            </a:pPr>
            <a:r>
              <a:t>Revenue view</a:t>
            </a:r>
          </a:p>
        </p:txBody>
      </p:sp>
      <p:sp>
        <p:nvSpPr>
          <p:cNvPr id="27" name="final-page-marker"/>
          <p:cNvSpPr txBox="1"/>
          <p:nvPr/>
        </p:nvSpPr>
        <p:spPr>
          <a:xfrm>
            <a:off x="10378440" y="6345936"/>
            <a:ext cx="658368" cy="201168"/>
          </a:xfrm>
          <a:prstGeom prst="rect">
            <a:avLst/>
          </a:prstGeom>
          <a:noFill/>
        </p:spPr>
        <p:txBody>
          <a:bodyPr wrap="none">
            <a:spAutoFit/>
          </a:bodyPr>
          <a:lstStyle/>
          <a:p>
            <a:pPr algn="r"/>
            <a:r>
              <a:t>09 / 22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1"/>
          <a:stretch>
            <a:fillRect t="-170" b="-170"/>
          </a:stretch>
        </a:blipFill>
        <a:effectLst/>
      </p:bgPr>
    </p:bg>
    <p:spTree>
      <p:nvGrpSpPr>
        <p:cNvPr id="1" name=""/>
        <p:cNvGrpSpPr/>
        <p:nvPr/>
      </p:nvGrpSpPr>
      <p:grpSpPr/>
      <p:sp>
        <p:nvSpPr>
          <p:cNvPr id="2" name="TextBox 1"/>
          <p:cNvSpPr txBox="1"/>
          <p:nvPr/>
        </p:nvSpPr>
        <p:spPr>
          <a:xfrm>
            <a:off x="502920" y="274320"/>
            <a:ext cx="4206240" cy="201168"/>
          </a:xfrm>
          <a:prstGeom prst="rect">
            <a:avLst/>
          </a:prstGeom>
          <a:noFill/>
        </p:spPr>
        <p:txBody>
          <a:bodyPr wrap="square" lIns="36576" tIns="18288" rIns="36576" bIns="18288">
            <a:normAutofit/>
          </a:bodyPr>
          <a:lstStyle/>
          <a:p>
            <a:pPr algn="l">
              <a:defRPr sz="900" b="1">
                <a:solidFill>
                  <a:srgbClr val="3B82F6"/>
                </a:solidFill>
                <a:latin typeface="Arial" panose="020B0604020202020204"/>
              </a:defRPr>
            </a:pPr>
            <a:r>
              <a:t>ZHOU CAN</a:t>
            </a:r>
          </a:p>
        </p:txBody>
      </p:sp>
      <p:sp>
        <p:nvSpPr>
          <p:cNvPr id="3" name="TextBox 2"/>
          <p:cNvSpPr txBox="1"/>
          <p:nvPr/>
        </p:nvSpPr>
        <p:spPr>
          <a:xfrm>
            <a:off x="10652760" y="274320"/>
            <a:ext cx="914400" cy="201168"/>
          </a:xfrm>
          <a:prstGeom prst="rect">
            <a:avLst/>
          </a:prstGeom>
          <a:noFill/>
        </p:spPr>
        <p:txBody>
          <a:bodyPr wrap="square" lIns="36576" tIns="18288" rIns="36576" bIns="18288">
            <a:normAutofit/>
          </a:bodyPr>
          <a:lstStyle/>
          <a:p>
            <a:pPr algn="r">
              <a:defRPr sz="900" b="1">
                <a:solidFill>
                  <a:srgbClr val="9AA9BD"/>
                </a:solidFill>
                <a:latin typeface="Arial" panose="020B0604020202020204"/>
              </a:defRPr>
            </a:pPr>
            <a:r>
              <a:t>10 / 22</a:t>
            </a:r>
          </a:p>
        </p:txBody>
      </p:sp>
      <p:sp>
        <p:nvSpPr>
          <p:cNvPr id="4" name="TextBox 3"/>
          <p:cNvSpPr txBox="1"/>
          <p:nvPr/>
        </p:nvSpPr>
        <p:spPr>
          <a:xfrm>
            <a:off x="502920" y="566928"/>
            <a:ext cx="9144000" cy="365760"/>
          </a:xfrm>
          <a:prstGeom prst="rect">
            <a:avLst/>
          </a:prstGeom>
          <a:noFill/>
        </p:spPr>
        <p:txBody>
          <a:bodyPr wrap="square" lIns="36576" tIns="18288" rIns="36576" bIns="18288">
            <a:normAutofit lnSpcReduction="20000"/>
          </a:bodyPr>
          <a:lstStyle/>
          <a:p>
            <a:pPr algn="l">
              <a:defRPr sz="2300" b="1">
                <a:solidFill>
                  <a:srgbClr val="F2F6FF"/>
                </a:solidFill>
                <a:latin typeface="Arial" panose="020B0604020202020204"/>
              </a:defRPr>
            </a:pPr>
            <a:r>
              <a:t>Genres and Time: Category Mix Meets Release Window</a:t>
            </a:r>
          </a:p>
        </p:txBody>
      </p:sp>
      <p:sp>
        <p:nvSpPr>
          <p:cNvPr id="5" name="TextBox 4"/>
          <p:cNvSpPr txBox="1"/>
          <p:nvPr/>
        </p:nvSpPr>
        <p:spPr>
          <a:xfrm>
            <a:off x="521207" y="1005840"/>
            <a:ext cx="9966960" cy="219456"/>
          </a:xfrm>
          <a:prstGeom prst="rect">
            <a:avLst/>
          </a:prstGeom>
          <a:noFill/>
        </p:spPr>
        <p:txBody>
          <a:bodyPr wrap="square" lIns="36576" tIns="18288" rIns="36576" bIns="18288">
            <a:normAutofit/>
          </a:bodyPr>
          <a:lstStyle/>
          <a:p>
            <a:pPr algn="l">
              <a:defRPr sz="1050" b="0">
                <a:solidFill>
                  <a:srgbClr val="9AA9BD"/>
                </a:solidFill>
                <a:latin typeface="Arial" panose="020B0604020202020204"/>
              </a:defRPr>
            </a:pPr>
            <a:r>
              <a:t>Genre ranking, rating distribution and monthly revenue support release strategy.</a:t>
            </a:r>
          </a:p>
        </p:txBody>
      </p:sp>
      <p:pic>
        <p:nvPicPr>
          <p:cNvPr id="6" name="Picture 5" descr="genre_roi.jpg"/>
          <p:cNvPicPr>
            <a:picLocks noChangeAspect="1"/>
          </p:cNvPicPr>
          <p:nvPr/>
        </p:nvPicPr>
        <p:blipFill>
          <a:blip r:embed="rId2"/>
          <a:stretch>
            <a:fillRect/>
          </a:stretch>
        </p:blipFill>
        <p:spPr>
          <a:xfrm>
            <a:off x="530352" y="1298448"/>
            <a:ext cx="3493008" cy="2880360"/>
          </a:xfrm>
          <a:prstGeom prst="rect">
            <a:avLst/>
          </a:prstGeom>
          <a:ln w="10160">
            <a:solidFill>
              <a:srgbClr val="27364D"/>
            </a:solidFill>
          </a:ln>
        </p:spPr>
      </p:pic>
      <p:pic>
        <p:nvPicPr>
          <p:cNvPr id="7" name="Picture 6" descr="genre_rating.jpg"/>
          <p:cNvPicPr>
            <a:picLocks noChangeAspect="1"/>
          </p:cNvPicPr>
          <p:nvPr/>
        </p:nvPicPr>
        <p:blipFill>
          <a:blip r:embed="rId3"/>
          <a:stretch>
            <a:fillRect/>
          </a:stretch>
        </p:blipFill>
        <p:spPr>
          <a:xfrm>
            <a:off x="4261104" y="1298448"/>
            <a:ext cx="3493008" cy="2880360"/>
          </a:xfrm>
          <a:prstGeom prst="rect">
            <a:avLst/>
          </a:prstGeom>
          <a:ln w="10160">
            <a:solidFill>
              <a:srgbClr val="27364D"/>
            </a:solidFill>
          </a:ln>
        </p:spPr>
      </p:pic>
      <p:pic>
        <p:nvPicPr>
          <p:cNvPr id="8" name="Picture 7" descr="time_month.jpg"/>
          <p:cNvPicPr>
            <a:picLocks noChangeAspect="1"/>
          </p:cNvPicPr>
          <p:nvPr/>
        </p:nvPicPr>
        <p:blipFill>
          <a:blip r:embed="rId4"/>
          <a:stretch>
            <a:fillRect/>
          </a:stretch>
        </p:blipFill>
        <p:spPr>
          <a:xfrm>
            <a:off x="7991856" y="1298448"/>
            <a:ext cx="3493008" cy="2880360"/>
          </a:xfrm>
          <a:prstGeom prst="rect">
            <a:avLst/>
          </a:prstGeom>
          <a:ln w="10160">
            <a:solidFill>
              <a:srgbClr val="27364D"/>
            </a:solidFill>
          </a:ln>
        </p:spPr>
      </p:pic>
      <p:sp>
        <p:nvSpPr>
          <p:cNvPr id="9" name="Rectangle 8"/>
          <p:cNvSpPr/>
          <p:nvPr/>
        </p:nvSpPr>
        <p:spPr>
          <a:xfrm>
            <a:off x="694944" y="4681728"/>
            <a:ext cx="1993392" cy="822960"/>
          </a:xfrm>
          <a:prstGeom prst="rect">
            <a:avLst/>
          </a:prstGeom>
          <a:solidFill>
            <a:srgbClr val="122033"/>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791456"/>
            <a:ext cx="1737360" cy="164592"/>
          </a:xfrm>
          <a:prstGeom prst="rect">
            <a:avLst/>
          </a:prstGeom>
          <a:noFill/>
        </p:spPr>
        <p:txBody>
          <a:bodyPr wrap="square" lIns="36576" tIns="18288" rIns="36576" bIns="18288">
            <a:normAutofit/>
          </a:bodyPr>
          <a:lstStyle/>
          <a:p>
            <a:pPr algn="l">
              <a:defRPr sz="750" b="1">
                <a:solidFill>
                  <a:srgbClr val="9AA9BD"/>
                </a:solidFill>
                <a:latin typeface="Arial" panose="020B0604020202020204"/>
              </a:defRPr>
            </a:pPr>
            <a:r>
              <a:t>TOP ROI</a:t>
            </a:r>
          </a:p>
        </p:txBody>
      </p:sp>
      <p:sp>
        <p:nvSpPr>
          <p:cNvPr id="11" name="TextBox 10"/>
          <p:cNvSpPr txBox="1"/>
          <p:nvPr/>
        </p:nvSpPr>
        <p:spPr>
          <a:xfrm>
            <a:off x="822960" y="5020056"/>
            <a:ext cx="1737360" cy="310896"/>
          </a:xfrm>
          <a:prstGeom prst="rect">
            <a:avLst/>
          </a:prstGeom>
          <a:noFill/>
        </p:spPr>
        <p:txBody>
          <a:bodyPr wrap="square" lIns="36576" tIns="18288" rIns="36576" bIns="18288">
            <a:normAutofit/>
          </a:bodyPr>
          <a:lstStyle/>
          <a:p>
            <a:pPr algn="l">
              <a:defRPr sz="1800" b="1">
                <a:solidFill>
                  <a:srgbClr val="A855F7"/>
                </a:solidFill>
                <a:latin typeface="Arial" panose="020B0604020202020204"/>
              </a:defRPr>
            </a:pPr>
            <a:r>
              <a:t>Music</a:t>
            </a:r>
          </a:p>
        </p:txBody>
      </p:sp>
      <p:sp>
        <p:nvSpPr>
          <p:cNvPr id="12" name="TextBox 11"/>
          <p:cNvSpPr txBox="1"/>
          <p:nvPr/>
        </p:nvSpPr>
        <p:spPr>
          <a:xfrm>
            <a:off x="822960" y="5376672"/>
            <a:ext cx="1737360" cy="109728"/>
          </a:xfrm>
          <a:prstGeom prst="rect">
            <a:avLst/>
          </a:prstGeom>
          <a:noFill/>
        </p:spPr>
        <p:txBody>
          <a:bodyPr wrap="square" lIns="36576" tIns="18288" rIns="36576" bIns="18288">
            <a:normAutofit fontScale="50000"/>
          </a:bodyPr>
          <a:lstStyle/>
          <a:p>
            <a:pPr algn="l">
              <a:defRPr sz="820" b="0">
                <a:solidFill>
                  <a:srgbClr val="9AA9BD"/>
                </a:solidFill>
                <a:latin typeface="Arial" panose="020B0604020202020204"/>
              </a:defRPr>
            </a:pPr>
            <a:r>
              <a:t>7.0x in current filter slice</a:t>
            </a:r>
          </a:p>
        </p:txBody>
      </p:sp>
      <p:sp>
        <p:nvSpPr>
          <p:cNvPr id="13" name="Rectangle 12"/>
          <p:cNvSpPr/>
          <p:nvPr/>
        </p:nvSpPr>
        <p:spPr>
          <a:xfrm>
            <a:off x="2962656" y="4681728"/>
            <a:ext cx="1993392" cy="822960"/>
          </a:xfrm>
          <a:prstGeom prst="rect">
            <a:avLst/>
          </a:prstGeom>
          <a:solidFill>
            <a:srgbClr val="122033"/>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90672" y="4791456"/>
            <a:ext cx="1737360" cy="164592"/>
          </a:xfrm>
          <a:prstGeom prst="rect">
            <a:avLst/>
          </a:prstGeom>
          <a:noFill/>
        </p:spPr>
        <p:txBody>
          <a:bodyPr wrap="square" lIns="36576" tIns="18288" rIns="36576" bIns="18288">
            <a:normAutofit/>
          </a:bodyPr>
          <a:lstStyle/>
          <a:p>
            <a:pPr algn="l">
              <a:defRPr sz="750" b="1">
                <a:solidFill>
                  <a:srgbClr val="9AA9BD"/>
                </a:solidFill>
                <a:latin typeface="Arial" panose="020B0604020202020204"/>
              </a:defRPr>
            </a:pPr>
            <a:r>
              <a:t>RATING SPREAD</a:t>
            </a:r>
          </a:p>
        </p:txBody>
      </p:sp>
      <p:sp>
        <p:nvSpPr>
          <p:cNvPr id="15" name="TextBox 14"/>
          <p:cNvSpPr txBox="1"/>
          <p:nvPr/>
        </p:nvSpPr>
        <p:spPr>
          <a:xfrm>
            <a:off x="3090672" y="5020056"/>
            <a:ext cx="1737360" cy="310896"/>
          </a:xfrm>
          <a:prstGeom prst="rect">
            <a:avLst/>
          </a:prstGeom>
          <a:noFill/>
        </p:spPr>
        <p:txBody>
          <a:bodyPr wrap="square" lIns="36576" tIns="18288" rIns="36576" bIns="18288">
            <a:normAutofit/>
          </a:bodyPr>
          <a:lstStyle/>
          <a:p>
            <a:pPr algn="l">
              <a:defRPr sz="1400" b="1">
                <a:solidFill>
                  <a:srgbClr val="FBBF24"/>
                </a:solidFill>
                <a:latin typeface="Arial" panose="020B0604020202020204"/>
              </a:defRPr>
            </a:pPr>
            <a:r>
              <a:t>Genre-level</a:t>
            </a:r>
          </a:p>
        </p:txBody>
      </p:sp>
      <p:sp>
        <p:nvSpPr>
          <p:cNvPr id="16" name="TextBox 15"/>
          <p:cNvSpPr txBox="1"/>
          <p:nvPr/>
        </p:nvSpPr>
        <p:spPr>
          <a:xfrm>
            <a:off x="3090672" y="5376672"/>
            <a:ext cx="1737360" cy="109728"/>
          </a:xfrm>
          <a:prstGeom prst="rect">
            <a:avLst/>
          </a:prstGeom>
          <a:noFill/>
        </p:spPr>
        <p:txBody>
          <a:bodyPr wrap="square" lIns="36576" tIns="18288" rIns="36576" bIns="18288">
            <a:normAutofit fontScale="50000"/>
          </a:bodyPr>
          <a:lstStyle/>
          <a:p>
            <a:pPr algn="l">
              <a:defRPr sz="820" b="0">
                <a:solidFill>
                  <a:srgbClr val="9AA9BD"/>
                </a:solidFill>
                <a:latin typeface="Arial" panose="020B0604020202020204"/>
              </a:defRPr>
            </a:pPr>
            <a:r>
              <a:t>box plots show distribution, not only average</a:t>
            </a:r>
          </a:p>
        </p:txBody>
      </p:sp>
      <p:sp>
        <p:nvSpPr>
          <p:cNvPr id="17" name="Rectangle 16"/>
          <p:cNvSpPr/>
          <p:nvPr/>
        </p:nvSpPr>
        <p:spPr>
          <a:xfrm>
            <a:off x="5230368" y="4681728"/>
            <a:ext cx="1993392" cy="822960"/>
          </a:xfrm>
          <a:prstGeom prst="rect">
            <a:avLst/>
          </a:prstGeom>
          <a:solidFill>
            <a:srgbClr val="122033"/>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58383" y="4791456"/>
            <a:ext cx="1737360" cy="164592"/>
          </a:xfrm>
          <a:prstGeom prst="rect">
            <a:avLst/>
          </a:prstGeom>
          <a:noFill/>
        </p:spPr>
        <p:txBody>
          <a:bodyPr wrap="square" lIns="36576" tIns="18288" rIns="36576" bIns="18288">
            <a:normAutofit/>
          </a:bodyPr>
          <a:lstStyle/>
          <a:p>
            <a:pPr algn="l">
              <a:defRPr sz="750" b="1">
                <a:solidFill>
                  <a:srgbClr val="9AA9BD"/>
                </a:solidFill>
                <a:latin typeface="Arial" panose="020B0604020202020204"/>
              </a:defRPr>
            </a:pPr>
            <a:r>
              <a:t>BEST WINDOW</a:t>
            </a:r>
          </a:p>
        </p:txBody>
      </p:sp>
      <p:sp>
        <p:nvSpPr>
          <p:cNvPr id="19" name="TextBox 18"/>
          <p:cNvSpPr txBox="1"/>
          <p:nvPr/>
        </p:nvSpPr>
        <p:spPr>
          <a:xfrm>
            <a:off x="5358383" y="5020056"/>
            <a:ext cx="1737360" cy="310896"/>
          </a:xfrm>
          <a:prstGeom prst="rect">
            <a:avLst/>
          </a:prstGeom>
          <a:noFill/>
        </p:spPr>
        <p:txBody>
          <a:bodyPr wrap="square" lIns="36576" tIns="18288" rIns="36576" bIns="18288">
            <a:normAutofit/>
          </a:bodyPr>
          <a:lstStyle/>
          <a:p>
            <a:pPr algn="l">
              <a:defRPr sz="1700" b="1">
                <a:solidFill>
                  <a:srgbClr val="2DD4BF"/>
                </a:solidFill>
                <a:latin typeface="Arial" panose="020B0604020202020204"/>
              </a:defRPr>
            </a:pPr>
            <a:r>
              <a:t>May-Jun</a:t>
            </a:r>
          </a:p>
        </p:txBody>
      </p:sp>
      <p:sp>
        <p:nvSpPr>
          <p:cNvPr id="20" name="TextBox 19"/>
          <p:cNvSpPr txBox="1"/>
          <p:nvPr/>
        </p:nvSpPr>
        <p:spPr>
          <a:xfrm>
            <a:off x="5358383" y="5376672"/>
            <a:ext cx="1737360" cy="109728"/>
          </a:xfrm>
          <a:prstGeom prst="rect">
            <a:avLst/>
          </a:prstGeom>
          <a:noFill/>
        </p:spPr>
        <p:txBody>
          <a:bodyPr wrap="square" lIns="36576" tIns="18288" rIns="36576" bIns="18288">
            <a:normAutofit fontScale="50000"/>
          </a:bodyPr>
          <a:lstStyle/>
          <a:p>
            <a:pPr algn="l">
              <a:defRPr sz="820" b="0">
                <a:solidFill>
                  <a:srgbClr val="9AA9BD"/>
                </a:solidFill>
                <a:latin typeface="Arial" panose="020B0604020202020204"/>
              </a:defRPr>
            </a:pPr>
            <a:r>
              <a:t>spring-to-summer revenue peak</a:t>
            </a:r>
          </a:p>
        </p:txBody>
      </p:sp>
      <p:sp>
        <p:nvSpPr>
          <p:cNvPr id="21" name="Rectangle 20"/>
          <p:cNvSpPr/>
          <p:nvPr/>
        </p:nvSpPr>
        <p:spPr>
          <a:xfrm>
            <a:off x="7498079" y="4681728"/>
            <a:ext cx="1993392" cy="822960"/>
          </a:xfrm>
          <a:prstGeom prst="rect">
            <a:avLst/>
          </a:prstGeom>
          <a:solidFill>
            <a:srgbClr val="122033"/>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26096" y="4791456"/>
            <a:ext cx="1737360" cy="164592"/>
          </a:xfrm>
          <a:prstGeom prst="rect">
            <a:avLst/>
          </a:prstGeom>
          <a:noFill/>
        </p:spPr>
        <p:txBody>
          <a:bodyPr wrap="square" lIns="36576" tIns="18288" rIns="36576" bIns="18288">
            <a:normAutofit/>
          </a:bodyPr>
          <a:lstStyle/>
          <a:p>
            <a:pPr algn="l">
              <a:defRPr sz="750" b="1">
                <a:solidFill>
                  <a:srgbClr val="9AA9BD"/>
                </a:solidFill>
                <a:latin typeface="Arial" panose="020B0604020202020204"/>
              </a:defRPr>
            </a:pPr>
            <a:r>
              <a:t>INTERACTION</a:t>
            </a:r>
          </a:p>
        </p:txBody>
      </p:sp>
      <p:sp>
        <p:nvSpPr>
          <p:cNvPr id="23" name="TextBox 22"/>
          <p:cNvSpPr txBox="1"/>
          <p:nvPr/>
        </p:nvSpPr>
        <p:spPr>
          <a:xfrm>
            <a:off x="7626096" y="5020056"/>
            <a:ext cx="1737360" cy="310896"/>
          </a:xfrm>
          <a:prstGeom prst="rect">
            <a:avLst/>
          </a:prstGeom>
          <a:noFill/>
        </p:spPr>
        <p:txBody>
          <a:bodyPr wrap="square" lIns="36576" tIns="18288" rIns="36576" bIns="18288">
            <a:normAutofit/>
          </a:bodyPr>
          <a:lstStyle/>
          <a:p>
            <a:pPr algn="l">
              <a:defRPr sz="1400" b="1">
                <a:solidFill>
                  <a:srgbClr val="3B82F6"/>
                </a:solidFill>
                <a:latin typeface="Arial" panose="020B0604020202020204"/>
              </a:defRPr>
            </a:pPr>
            <a:r>
              <a:t>Metric toggle</a:t>
            </a:r>
          </a:p>
        </p:txBody>
      </p:sp>
      <p:sp>
        <p:nvSpPr>
          <p:cNvPr id="24" name="TextBox 23"/>
          <p:cNvSpPr txBox="1"/>
          <p:nvPr/>
        </p:nvSpPr>
        <p:spPr>
          <a:xfrm>
            <a:off x="7626096" y="5376672"/>
            <a:ext cx="1737360" cy="109728"/>
          </a:xfrm>
          <a:prstGeom prst="rect">
            <a:avLst/>
          </a:prstGeom>
          <a:noFill/>
        </p:spPr>
        <p:txBody>
          <a:bodyPr wrap="square" lIns="36576" tIns="18288" rIns="36576" bIns="18288">
            <a:normAutofit fontScale="50000"/>
          </a:bodyPr>
          <a:lstStyle/>
          <a:p>
            <a:pPr algn="l">
              <a:defRPr sz="820" b="0">
                <a:solidFill>
                  <a:srgbClr val="9AA9BD"/>
                </a:solidFill>
                <a:latin typeface="Arial" panose="020B0604020202020204"/>
              </a:defRPr>
            </a:pPr>
            <a:r>
              <a:t>ROI or average revenue ranking</a:t>
            </a:r>
          </a:p>
        </p:txBody>
      </p:sp>
      <p:sp>
        <p:nvSpPr>
          <p:cNvPr id="25" name="Rectangle 24"/>
          <p:cNvSpPr/>
          <p:nvPr/>
        </p:nvSpPr>
        <p:spPr>
          <a:xfrm>
            <a:off x="502920" y="6272784"/>
            <a:ext cx="11201400" cy="329184"/>
          </a:xfrm>
          <a:prstGeom prst="rect">
            <a:avLst/>
          </a:prstGeom>
          <a:solidFill>
            <a:srgbClr val="0F1C2D"/>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345936"/>
            <a:ext cx="2926080" cy="137160"/>
          </a:xfrm>
          <a:prstGeom prst="rect">
            <a:avLst/>
          </a:prstGeom>
          <a:noFill/>
        </p:spPr>
        <p:txBody>
          <a:bodyPr wrap="square" lIns="36576" tIns="18288" rIns="36576" bIns="18288">
            <a:normAutofit fontScale="90000" lnSpcReduction="10000"/>
          </a:bodyPr>
          <a:lstStyle/>
          <a:p>
            <a:pPr algn="l">
              <a:defRPr sz="820" b="1">
                <a:solidFill>
                  <a:srgbClr val="2DD4BF"/>
                </a:solidFill>
                <a:latin typeface="Arial" panose="020B0604020202020204"/>
              </a:defRPr>
            </a:pPr>
            <a:r>
              <a:t>ZHOU Can · approx. 3 min</a:t>
            </a:r>
          </a:p>
        </p:txBody>
      </p:sp>
      <p:sp>
        <p:nvSpPr>
          <p:cNvPr id="27" name="TextBox 26"/>
          <p:cNvSpPr txBox="1"/>
          <p:nvPr/>
        </p:nvSpPr>
        <p:spPr>
          <a:xfrm>
            <a:off x="3337560" y="6345936"/>
            <a:ext cx="7955279" cy="137160"/>
          </a:xfrm>
          <a:prstGeom prst="rect">
            <a:avLst/>
          </a:prstGeom>
          <a:noFill/>
        </p:spPr>
        <p:txBody>
          <a:bodyPr wrap="square" lIns="36576" tIns="18288" rIns="36576" bIns="18288">
            <a:normAutofit fontScale="90000" lnSpcReduction="10000"/>
          </a:bodyPr>
          <a:lstStyle/>
          <a:p>
            <a:pPr algn="l">
              <a:defRPr sz="820" b="0">
                <a:solidFill>
                  <a:srgbClr val="9AA9BD"/>
                </a:solidFill>
                <a:latin typeface="Arial" panose="020B0604020202020204"/>
              </a:defRPr>
            </a:pPr>
            <a:r>
              <a:t>Genres view + Time view</a:t>
            </a:r>
          </a:p>
        </p:txBody>
      </p:sp>
      <p:sp>
        <p:nvSpPr>
          <p:cNvPr id="28" name="final-page-marker"/>
          <p:cNvSpPr txBox="1"/>
          <p:nvPr/>
        </p:nvSpPr>
        <p:spPr>
          <a:xfrm>
            <a:off x="10378440" y="6345936"/>
            <a:ext cx="658368" cy="201168"/>
          </a:xfrm>
          <a:prstGeom prst="rect">
            <a:avLst/>
          </a:prstGeom>
          <a:noFill/>
        </p:spPr>
        <p:txBody>
          <a:bodyPr wrap="none">
            <a:spAutoFit/>
          </a:bodyPr>
          <a:lstStyle/>
          <a:p>
            <a:pPr algn="r"/>
            <a:r>
              <a:t>10 / 22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p:pic>
        <p:nvPicPr>
          <p:cNvPr id="11" name="图片 10" descr="post_object_image_3929940141"/>
          <p:cNvPicPr>
            <a:picLocks noChangeAspect="1"/>
          </p:cNvPicPr>
          <p:nvPr/>
        </p:nvPicPr>
        <p:blipFill>
          <a:blip r:embed="rId1"/>
          <a:stretch>
            <a:fillRect/>
          </a:stretch>
        </p:blipFill>
        <p:spPr>
          <a:xfrm>
            <a:off x="0" y="0"/>
            <a:ext cx="12191682" cy="6858000"/>
          </a:xfrm>
          <a:prstGeom prst="rect">
            <a:avLst/>
          </a:prstGeom>
        </p:spPr>
      </p:pic>
      <p:sp>
        <p:nvSpPr>
          <p:cNvPr id="4" name="TextBox 3"/>
          <p:cNvSpPr txBox="1"/>
          <p:nvPr/>
        </p:nvSpPr>
        <p:spPr>
          <a:xfrm>
            <a:off x="221932" y="264160"/>
            <a:ext cx="11049635" cy="415290"/>
          </a:xfrm>
          <a:prstGeom prst="rect">
            <a:avLst/>
          </a:prstGeom>
          <a:noFill/>
        </p:spPr>
        <p:txBody>
          <a:bodyPr wrap="none" lIns="0" tIns="0" rIns="0" bIns="0">
            <a:spAutoFit/>
          </a:bodyPr>
          <a:lstStyle/>
          <a:p>
            <a:pPr algn="l"/>
            <a:r>
              <a:rPr sz="2700" b="1">
                <a:solidFill>
                  <a:srgbClr val="F2F6FF"/>
                </a:solidFill>
                <a:latin typeface="Arial" panose="020B0604020202020204"/>
              </a:rPr>
              <a:t>Chi-Square：</a:t>
            </a:r>
            <a:r>
              <a:rPr lang="en-US" altLang="zh-CN" sz="2700" b="1">
                <a:solidFill>
                  <a:srgbClr val="F2F6FF"/>
                </a:solidFill>
                <a:latin typeface="Arial" panose="020B0604020202020204"/>
              </a:rPr>
              <a:t>Transform intuitive conclusions into significance tests</a:t>
            </a:r>
            <a:endParaRPr sz="2700" b="1">
              <a:solidFill>
                <a:srgbClr val="F2F6FF"/>
              </a:solidFill>
              <a:latin typeface="Arial" panose="020B0604020202020204"/>
            </a:endParaRPr>
          </a:p>
        </p:txBody>
      </p:sp>
      <p:sp>
        <p:nvSpPr>
          <p:cNvPr id="5" name="TextBox 4"/>
          <p:cNvSpPr txBox="1"/>
          <p:nvPr/>
        </p:nvSpPr>
        <p:spPr>
          <a:xfrm>
            <a:off x="221933" y="679450"/>
            <a:ext cx="6318250" cy="184150"/>
          </a:xfrm>
          <a:prstGeom prst="rect">
            <a:avLst/>
          </a:prstGeom>
          <a:noFill/>
        </p:spPr>
        <p:txBody>
          <a:bodyPr wrap="none" lIns="0" tIns="0" rIns="0" bIns="0">
            <a:spAutoFit/>
          </a:bodyPr>
          <a:lstStyle/>
          <a:p>
            <a:pPr algn="l"/>
            <a:r>
              <a:rPr lang="en-US" altLang="zh-CN" sz="1200">
                <a:solidFill>
                  <a:srgbClr val="9AA9BD"/>
                </a:solidFill>
                <a:latin typeface="Arial" panose="020B0604020202020204"/>
              </a:rPr>
              <a:t>Detect </a:t>
            </a:r>
            <a:r>
              <a:rPr lang="en-US" altLang="zh-CN" sz="1200">
                <a:solidFill>
                  <a:srgbClr val="9AA9BD"/>
                </a:solidFill>
                <a:latin typeface="Arial" panose="020B0604020202020204"/>
                <a:cs typeface="Arial" panose="020B0604020202020204" pitchFamily="34" charset="0"/>
              </a:rPr>
              <a:t>whether there is a statistically significant association between two categorical variables</a:t>
            </a:r>
            <a:endParaRPr sz="1200" b="0">
              <a:solidFill>
                <a:srgbClr val="9AA9BD"/>
              </a:solidFill>
              <a:latin typeface="Arial" panose="020B0604020202020204"/>
            </a:endParaRPr>
          </a:p>
        </p:txBody>
      </p:sp>
      <p:pic>
        <p:nvPicPr>
          <p:cNvPr id="9" name="图片 8" descr="post_object_image_2139124372"/>
          <p:cNvPicPr>
            <a:picLocks noChangeAspect="1"/>
          </p:cNvPicPr>
          <p:nvPr/>
        </p:nvPicPr>
        <p:blipFill>
          <a:blip r:embed="rId2"/>
          <a:stretch>
            <a:fillRect/>
          </a:stretch>
        </p:blipFill>
        <p:spPr>
          <a:xfrm>
            <a:off x="221933" y="863600"/>
            <a:ext cx="6781800" cy="1419225"/>
          </a:xfrm>
          <a:prstGeom prst="rect">
            <a:avLst/>
          </a:prstGeom>
        </p:spPr>
      </p:pic>
      <p:pic>
        <p:nvPicPr>
          <p:cNvPr id="12" name="图片 11" descr="post_object_image_631416165"/>
          <p:cNvPicPr>
            <a:picLocks noChangeAspect="1"/>
          </p:cNvPicPr>
          <p:nvPr/>
        </p:nvPicPr>
        <p:blipFill>
          <a:blip r:embed="rId3"/>
          <a:srcRect t="-855" r="49603" b="-924"/>
          <a:stretch>
            <a:fillRect/>
          </a:stretch>
        </p:blipFill>
        <p:spPr>
          <a:xfrm>
            <a:off x="7175183" y="863600"/>
            <a:ext cx="3494617" cy="1260270"/>
          </a:xfrm>
          <a:prstGeom prst="rect">
            <a:avLst/>
          </a:prstGeom>
        </p:spPr>
      </p:pic>
      <p:pic>
        <p:nvPicPr>
          <p:cNvPr id="13" name="图片 12" descr="post_object_image_1741481377"/>
          <p:cNvPicPr>
            <a:picLocks noChangeAspect="1"/>
          </p:cNvPicPr>
          <p:nvPr/>
        </p:nvPicPr>
        <p:blipFill>
          <a:blip r:embed="rId4"/>
          <a:stretch>
            <a:fillRect/>
          </a:stretch>
        </p:blipFill>
        <p:spPr>
          <a:xfrm>
            <a:off x="364808" y="2462742"/>
            <a:ext cx="6638925" cy="514350"/>
          </a:xfrm>
          <a:prstGeom prst="rect">
            <a:avLst/>
          </a:prstGeom>
        </p:spPr>
      </p:pic>
      <p:pic>
        <p:nvPicPr>
          <p:cNvPr id="15" name="图片 14" descr="post_object_image_4178585131"/>
          <p:cNvPicPr>
            <a:picLocks noChangeAspect="1"/>
          </p:cNvPicPr>
          <p:nvPr/>
        </p:nvPicPr>
        <p:blipFill>
          <a:blip r:embed="rId5"/>
          <a:stretch>
            <a:fillRect/>
          </a:stretch>
        </p:blipFill>
        <p:spPr>
          <a:xfrm>
            <a:off x="221933" y="3432175"/>
            <a:ext cx="6953250" cy="2705100"/>
          </a:xfrm>
          <a:prstGeom prst="rect">
            <a:avLst/>
          </a:prstGeom>
        </p:spPr>
      </p:pic>
      <p:pic>
        <p:nvPicPr>
          <p:cNvPr id="16" name="图片 15" descr="post_object_image_2902703221"/>
          <p:cNvPicPr>
            <a:picLocks noChangeAspect="1"/>
          </p:cNvPicPr>
          <p:nvPr/>
        </p:nvPicPr>
        <p:blipFill>
          <a:blip r:embed="rId6"/>
          <a:stretch>
            <a:fillRect/>
          </a:stretch>
        </p:blipFill>
        <p:spPr>
          <a:xfrm>
            <a:off x="7212140" y="2462784"/>
            <a:ext cx="3457575" cy="1304925"/>
          </a:xfrm>
          <a:prstGeom prst="rect">
            <a:avLst/>
          </a:prstGeom>
        </p:spPr>
      </p:pic>
      <p:sp>
        <p:nvSpPr>
          <p:cNvPr id="17" name="文本框 16"/>
          <p:cNvSpPr txBox="1"/>
          <p:nvPr userDrawn="1"/>
        </p:nvSpPr>
        <p:spPr>
          <a:xfrm>
            <a:off x="7212092" y="4101084"/>
            <a:ext cx="3333750" cy="645160"/>
          </a:xfrm>
          <a:prstGeom prst="rect">
            <a:avLst/>
          </a:prstGeom>
        </p:spPr>
        <p:txBody>
          <a:bodyPr wrap="square" rtlCol="0">
            <a:spAutoFit/>
          </a:bodyPr>
          <a:p>
            <a:r>
              <a:rPr lang="en-US" altLang="zh-CN">
                <a:solidFill>
                  <a:schemeClr val="bg1"/>
                </a:solidFill>
              </a:rPr>
              <a:t>Genre does not determine profitability</a:t>
            </a:r>
            <a:endParaRPr lang="zh-CN" altLang="en-US">
              <a:solidFill>
                <a:schemeClr val="bg1"/>
              </a:solidFill>
            </a:endParaRPr>
          </a:p>
        </p:txBody>
      </p:sp>
      <p:sp>
        <p:nvSpPr>
          <p:cNvPr id="6" name="Rectangle 5"/>
          <p:cNvSpPr/>
          <p:nvPr/>
        </p:nvSpPr>
        <p:spPr>
          <a:xfrm>
            <a:off x="502920" y="6291072"/>
            <a:ext cx="11201400" cy="320040"/>
          </a:xfrm>
          <a:prstGeom prst="rect">
            <a:avLst/>
          </a:prstGeom>
          <a:solidFill>
            <a:srgbClr val="0F1C2D"/>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inal-page-marker"/>
          <p:cNvSpPr txBox="1"/>
          <p:nvPr/>
        </p:nvSpPr>
        <p:spPr>
          <a:xfrm>
            <a:off x="10378440" y="6345936"/>
            <a:ext cx="658368" cy="201168"/>
          </a:xfrm>
          <a:prstGeom prst="rect">
            <a:avLst/>
          </a:prstGeom>
          <a:noFill/>
        </p:spPr>
        <p:txBody>
          <a:bodyPr wrap="none">
            <a:spAutoFit/>
          </a:bodyPr>
          <a:lstStyle/>
          <a:p>
            <a:pPr algn="r"/>
            <a:r>
              <a:t>11 / 22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p:pic>
        <p:nvPicPr>
          <p:cNvPr id="11" name="图片 10" descr="post_object_image_3929940141"/>
          <p:cNvPicPr>
            <a:picLocks noChangeAspect="1"/>
          </p:cNvPicPr>
          <p:nvPr/>
        </p:nvPicPr>
        <p:blipFill>
          <a:blip r:embed="rId1"/>
          <a:stretch>
            <a:fillRect/>
          </a:stretch>
        </p:blipFill>
        <p:spPr>
          <a:xfrm>
            <a:off x="0" y="0"/>
            <a:ext cx="12191682" cy="6858000"/>
          </a:xfrm>
          <a:prstGeom prst="rect">
            <a:avLst/>
          </a:prstGeom>
        </p:spPr>
      </p:pic>
      <p:sp>
        <p:nvSpPr>
          <p:cNvPr id="4" name="TextBox 3"/>
          <p:cNvSpPr txBox="1"/>
          <p:nvPr/>
        </p:nvSpPr>
        <p:spPr>
          <a:xfrm>
            <a:off x="221932" y="264160"/>
            <a:ext cx="11049635" cy="415290"/>
          </a:xfrm>
          <a:prstGeom prst="rect">
            <a:avLst/>
          </a:prstGeom>
          <a:noFill/>
        </p:spPr>
        <p:txBody>
          <a:bodyPr wrap="none" lIns="0" tIns="0" rIns="0" bIns="0">
            <a:spAutoFit/>
          </a:bodyPr>
          <a:lstStyle/>
          <a:p>
            <a:pPr algn="l"/>
            <a:r>
              <a:rPr sz="2700" b="1">
                <a:solidFill>
                  <a:srgbClr val="F2F6FF"/>
                </a:solidFill>
                <a:latin typeface="Arial" panose="020B0604020202020204"/>
              </a:rPr>
              <a:t>Chi-Square：</a:t>
            </a:r>
            <a:r>
              <a:rPr lang="en-US" altLang="zh-CN" sz="2700" b="1">
                <a:solidFill>
                  <a:srgbClr val="F2F6FF"/>
                </a:solidFill>
                <a:latin typeface="Arial" panose="020B0604020202020204"/>
              </a:rPr>
              <a:t>Transform intuitive conclusions into significance tests</a:t>
            </a:r>
            <a:endParaRPr sz="2700" b="1">
              <a:solidFill>
                <a:srgbClr val="F2F6FF"/>
              </a:solidFill>
              <a:latin typeface="Arial" panose="020B0604020202020204"/>
            </a:endParaRPr>
          </a:p>
        </p:txBody>
      </p:sp>
      <p:sp>
        <p:nvSpPr>
          <p:cNvPr id="5" name="TextBox 4"/>
          <p:cNvSpPr txBox="1"/>
          <p:nvPr/>
        </p:nvSpPr>
        <p:spPr>
          <a:xfrm>
            <a:off x="221933" y="679450"/>
            <a:ext cx="6318250" cy="184150"/>
          </a:xfrm>
          <a:prstGeom prst="rect">
            <a:avLst/>
          </a:prstGeom>
          <a:noFill/>
        </p:spPr>
        <p:txBody>
          <a:bodyPr wrap="none" lIns="0" tIns="0" rIns="0" bIns="0">
            <a:spAutoFit/>
          </a:bodyPr>
          <a:lstStyle/>
          <a:p>
            <a:pPr algn="l"/>
            <a:r>
              <a:rPr lang="en-US" altLang="zh-CN" sz="1200">
                <a:solidFill>
                  <a:srgbClr val="9AA9BD"/>
                </a:solidFill>
                <a:latin typeface="Arial" panose="020B0604020202020204"/>
              </a:rPr>
              <a:t>Detect </a:t>
            </a:r>
            <a:r>
              <a:rPr lang="en-US" altLang="zh-CN" sz="1200">
                <a:solidFill>
                  <a:srgbClr val="9AA9BD"/>
                </a:solidFill>
                <a:latin typeface="Arial" panose="020B0604020202020204"/>
                <a:cs typeface="Arial" panose="020B0604020202020204" pitchFamily="34" charset="0"/>
              </a:rPr>
              <a:t>whether there is a statistically significant association between two categorical variables</a:t>
            </a:r>
            <a:endParaRPr sz="1200" b="0">
              <a:solidFill>
                <a:srgbClr val="9AA9BD"/>
              </a:solidFill>
              <a:latin typeface="Arial" panose="020B0604020202020204"/>
            </a:endParaRPr>
          </a:p>
        </p:txBody>
      </p:sp>
      <p:pic>
        <p:nvPicPr>
          <p:cNvPr id="13" name="图片 12" descr="post_object_image_1741481377"/>
          <p:cNvPicPr>
            <a:picLocks noChangeAspect="1"/>
          </p:cNvPicPr>
          <p:nvPr/>
        </p:nvPicPr>
        <p:blipFill>
          <a:blip r:embed="rId2"/>
          <a:stretch>
            <a:fillRect/>
          </a:stretch>
        </p:blipFill>
        <p:spPr>
          <a:xfrm>
            <a:off x="364808" y="2462742"/>
            <a:ext cx="6638925" cy="514350"/>
          </a:xfrm>
          <a:prstGeom prst="rect">
            <a:avLst/>
          </a:prstGeom>
        </p:spPr>
      </p:pic>
      <p:sp>
        <p:nvSpPr>
          <p:cNvPr id="17" name="文本框 16"/>
          <p:cNvSpPr txBox="1"/>
          <p:nvPr userDrawn="1"/>
        </p:nvSpPr>
        <p:spPr>
          <a:xfrm>
            <a:off x="7307342" y="4027265"/>
            <a:ext cx="3333750" cy="645160"/>
          </a:xfrm>
          <a:prstGeom prst="rect">
            <a:avLst/>
          </a:prstGeom>
        </p:spPr>
        <p:txBody>
          <a:bodyPr wrap="square" rtlCol="0">
            <a:spAutoFit/>
          </a:bodyPr>
          <a:p>
            <a:r>
              <a:rPr lang="en-US" altLang="zh-CN">
                <a:solidFill>
                  <a:schemeClr val="bg1"/>
                </a:solidFill>
              </a:rPr>
              <a:t>Bud</a:t>
            </a:r>
            <a:r>
              <a:rPr lang="en-US" altLang="zh-CN">
                <a:solidFill>
                  <a:schemeClr val="bg1"/>
                </a:solidFill>
                <a:cs typeface="Arial" panose="020B0604020202020204" pitchFamily="34" charset="0"/>
              </a:rPr>
              <a:t>get Tier</a:t>
            </a:r>
            <a:r>
              <a:rPr lang="en-US" altLang="zh-CN">
                <a:solidFill>
                  <a:schemeClr val="bg1"/>
                </a:solidFill>
              </a:rPr>
              <a:t> does not determine profitability</a:t>
            </a:r>
            <a:endParaRPr lang="zh-CN" altLang="en-US">
              <a:solidFill>
                <a:schemeClr val="bg1"/>
              </a:solidFill>
            </a:endParaRPr>
          </a:p>
        </p:txBody>
      </p:sp>
      <p:pic>
        <p:nvPicPr>
          <p:cNvPr id="3" name="图片 2" descr="post_object_image_377694005"/>
          <p:cNvPicPr>
            <a:picLocks noChangeAspect="1"/>
          </p:cNvPicPr>
          <p:nvPr/>
        </p:nvPicPr>
        <p:blipFill>
          <a:blip r:embed="rId3"/>
          <a:stretch>
            <a:fillRect/>
          </a:stretch>
        </p:blipFill>
        <p:spPr>
          <a:xfrm>
            <a:off x="221983" y="976885"/>
            <a:ext cx="6848475" cy="1485900"/>
          </a:xfrm>
          <a:prstGeom prst="rect">
            <a:avLst/>
          </a:prstGeom>
        </p:spPr>
      </p:pic>
      <p:pic>
        <p:nvPicPr>
          <p:cNvPr id="2" name="图片 1" descr="post_object_image_103562053"/>
          <p:cNvPicPr>
            <a:picLocks noChangeAspect="1"/>
          </p:cNvPicPr>
          <p:nvPr/>
        </p:nvPicPr>
        <p:blipFill>
          <a:blip r:embed="rId4"/>
          <a:stretch>
            <a:fillRect/>
          </a:stretch>
        </p:blipFill>
        <p:spPr>
          <a:xfrm>
            <a:off x="364807" y="3482999"/>
            <a:ext cx="6847284" cy="2246765"/>
          </a:xfrm>
          <a:prstGeom prst="rect">
            <a:avLst/>
          </a:prstGeom>
        </p:spPr>
      </p:pic>
      <p:pic>
        <p:nvPicPr>
          <p:cNvPr id="6" name="图片 5" descr="post_object_image_4105002221"/>
          <p:cNvPicPr>
            <a:picLocks noChangeAspect="1"/>
          </p:cNvPicPr>
          <p:nvPr/>
        </p:nvPicPr>
        <p:blipFill>
          <a:blip r:embed="rId5"/>
          <a:stretch>
            <a:fillRect/>
          </a:stretch>
        </p:blipFill>
        <p:spPr>
          <a:xfrm>
            <a:off x="7307342" y="976908"/>
            <a:ext cx="3362325" cy="1257300"/>
          </a:xfrm>
          <a:prstGeom prst="rect">
            <a:avLst/>
          </a:prstGeom>
        </p:spPr>
      </p:pic>
      <p:pic>
        <p:nvPicPr>
          <p:cNvPr id="7" name="图片 6" descr="post_object_image_3007621543"/>
          <p:cNvPicPr>
            <a:picLocks noChangeAspect="1"/>
          </p:cNvPicPr>
          <p:nvPr/>
        </p:nvPicPr>
        <p:blipFill>
          <a:blip r:embed="rId6"/>
          <a:stretch>
            <a:fillRect/>
          </a:stretch>
        </p:blipFill>
        <p:spPr>
          <a:xfrm>
            <a:off x="7307342" y="2462689"/>
            <a:ext cx="3333750" cy="1209675"/>
          </a:xfrm>
          <a:prstGeom prst="rect">
            <a:avLst/>
          </a:prstGeom>
        </p:spPr>
      </p:pic>
      <p:sp>
        <p:nvSpPr>
          <p:cNvPr id="8" name="Rectangle 5"/>
          <p:cNvSpPr/>
          <p:nvPr/>
        </p:nvSpPr>
        <p:spPr>
          <a:xfrm>
            <a:off x="502920" y="6291072"/>
            <a:ext cx="11201400" cy="320040"/>
          </a:xfrm>
          <a:prstGeom prst="rect">
            <a:avLst/>
          </a:prstGeom>
          <a:solidFill>
            <a:srgbClr val="0F1C2D"/>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inal-page-marker"/>
          <p:cNvSpPr txBox="1"/>
          <p:nvPr/>
        </p:nvSpPr>
        <p:spPr>
          <a:xfrm>
            <a:off x="10378440" y="6345936"/>
            <a:ext cx="658368" cy="201168"/>
          </a:xfrm>
          <a:prstGeom prst="rect">
            <a:avLst/>
          </a:prstGeom>
          <a:noFill/>
        </p:spPr>
        <p:txBody>
          <a:bodyPr wrap="none">
            <a:spAutoFit/>
          </a:bodyPr>
          <a:lstStyle/>
          <a:p>
            <a:pPr algn="r"/>
            <a:r>
              <a:t>12 / 22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p:pic>
        <p:nvPicPr>
          <p:cNvPr id="11" name="图片 10" descr="post_object_image_3929940141"/>
          <p:cNvPicPr>
            <a:picLocks noChangeAspect="1"/>
          </p:cNvPicPr>
          <p:nvPr/>
        </p:nvPicPr>
        <p:blipFill>
          <a:blip r:embed="rId1"/>
          <a:stretch>
            <a:fillRect/>
          </a:stretch>
        </p:blipFill>
        <p:spPr>
          <a:xfrm>
            <a:off x="0" y="0"/>
            <a:ext cx="12191682" cy="6858000"/>
          </a:xfrm>
          <a:prstGeom prst="rect">
            <a:avLst/>
          </a:prstGeom>
        </p:spPr>
      </p:pic>
      <p:sp>
        <p:nvSpPr>
          <p:cNvPr id="4" name="TextBox 3"/>
          <p:cNvSpPr txBox="1"/>
          <p:nvPr/>
        </p:nvSpPr>
        <p:spPr>
          <a:xfrm>
            <a:off x="221932" y="264160"/>
            <a:ext cx="11049635" cy="415290"/>
          </a:xfrm>
          <a:prstGeom prst="rect">
            <a:avLst/>
          </a:prstGeom>
          <a:noFill/>
        </p:spPr>
        <p:txBody>
          <a:bodyPr wrap="none" lIns="0" tIns="0" rIns="0" bIns="0">
            <a:spAutoFit/>
          </a:bodyPr>
          <a:lstStyle/>
          <a:p>
            <a:pPr algn="l"/>
            <a:r>
              <a:rPr sz="2700" b="1">
                <a:solidFill>
                  <a:srgbClr val="F2F6FF"/>
                </a:solidFill>
                <a:latin typeface="Arial" panose="020B0604020202020204"/>
              </a:rPr>
              <a:t>Chi-Square：</a:t>
            </a:r>
            <a:r>
              <a:rPr lang="en-US" altLang="zh-CN" sz="2700" b="1">
                <a:solidFill>
                  <a:srgbClr val="F2F6FF"/>
                </a:solidFill>
                <a:latin typeface="Arial" panose="020B0604020202020204"/>
              </a:rPr>
              <a:t>Transform intuitive conclusions into significance tests</a:t>
            </a:r>
            <a:endParaRPr sz="2700" b="1">
              <a:solidFill>
                <a:srgbClr val="F2F6FF"/>
              </a:solidFill>
              <a:latin typeface="Arial" panose="020B0604020202020204"/>
            </a:endParaRPr>
          </a:p>
        </p:txBody>
      </p:sp>
      <p:sp>
        <p:nvSpPr>
          <p:cNvPr id="5" name="TextBox 4"/>
          <p:cNvSpPr txBox="1"/>
          <p:nvPr/>
        </p:nvSpPr>
        <p:spPr>
          <a:xfrm>
            <a:off x="221933" y="679450"/>
            <a:ext cx="6318250" cy="184150"/>
          </a:xfrm>
          <a:prstGeom prst="rect">
            <a:avLst/>
          </a:prstGeom>
          <a:noFill/>
        </p:spPr>
        <p:txBody>
          <a:bodyPr wrap="none" lIns="0" tIns="0" rIns="0" bIns="0">
            <a:spAutoFit/>
          </a:bodyPr>
          <a:lstStyle/>
          <a:p>
            <a:pPr algn="l"/>
            <a:r>
              <a:rPr lang="en-US" altLang="zh-CN" sz="1200">
                <a:solidFill>
                  <a:srgbClr val="9AA9BD"/>
                </a:solidFill>
                <a:latin typeface="Arial" panose="020B0604020202020204"/>
              </a:rPr>
              <a:t>Detect </a:t>
            </a:r>
            <a:r>
              <a:rPr lang="en-US" altLang="zh-CN" sz="1200">
                <a:solidFill>
                  <a:srgbClr val="9AA9BD"/>
                </a:solidFill>
                <a:latin typeface="Arial" panose="020B0604020202020204"/>
                <a:cs typeface="Arial" panose="020B0604020202020204" pitchFamily="34" charset="0"/>
              </a:rPr>
              <a:t>whether there is a statistically significant association between two categorical variables</a:t>
            </a:r>
            <a:endParaRPr sz="1200" b="0">
              <a:solidFill>
                <a:srgbClr val="9AA9BD"/>
              </a:solidFill>
              <a:latin typeface="Arial" panose="020B0604020202020204"/>
            </a:endParaRPr>
          </a:p>
        </p:txBody>
      </p:sp>
      <p:sp>
        <p:nvSpPr>
          <p:cNvPr id="17" name="文本框 16"/>
          <p:cNvSpPr txBox="1"/>
          <p:nvPr userDrawn="1"/>
        </p:nvSpPr>
        <p:spPr>
          <a:xfrm>
            <a:off x="7307342" y="4027265"/>
            <a:ext cx="3333750" cy="645160"/>
          </a:xfrm>
          <a:prstGeom prst="rect">
            <a:avLst/>
          </a:prstGeom>
        </p:spPr>
        <p:txBody>
          <a:bodyPr wrap="square" rtlCol="0">
            <a:spAutoFit/>
          </a:bodyPr>
          <a:p>
            <a:r>
              <a:rPr lang="en-US" altLang="zh-CN">
                <a:solidFill>
                  <a:schemeClr val="bg1"/>
                </a:solidFill>
              </a:rPr>
              <a:t>Release Season does not determine profitability</a:t>
            </a:r>
            <a:endParaRPr lang="zh-CN" altLang="en-US">
              <a:solidFill>
                <a:schemeClr val="bg1"/>
              </a:solidFill>
            </a:endParaRPr>
          </a:p>
        </p:txBody>
      </p:sp>
      <p:pic>
        <p:nvPicPr>
          <p:cNvPr id="8" name="图片 7" descr="post_object_image_1680858020"/>
          <p:cNvPicPr>
            <a:picLocks noChangeAspect="1"/>
          </p:cNvPicPr>
          <p:nvPr/>
        </p:nvPicPr>
        <p:blipFill>
          <a:blip r:embed="rId2"/>
          <a:stretch>
            <a:fillRect/>
          </a:stretch>
        </p:blipFill>
        <p:spPr>
          <a:xfrm>
            <a:off x="221932" y="976908"/>
            <a:ext cx="6877050" cy="1476375"/>
          </a:xfrm>
          <a:prstGeom prst="rect">
            <a:avLst/>
          </a:prstGeom>
        </p:spPr>
      </p:pic>
      <p:pic>
        <p:nvPicPr>
          <p:cNvPr id="9" name="图片 8" descr="post_object_image_687827555"/>
          <p:cNvPicPr>
            <a:picLocks noChangeAspect="1"/>
          </p:cNvPicPr>
          <p:nvPr/>
        </p:nvPicPr>
        <p:blipFill>
          <a:blip r:embed="rId3"/>
          <a:stretch>
            <a:fillRect/>
          </a:stretch>
        </p:blipFill>
        <p:spPr>
          <a:xfrm>
            <a:off x="269557" y="2572345"/>
            <a:ext cx="6829425" cy="400050"/>
          </a:xfrm>
          <a:prstGeom prst="rect">
            <a:avLst/>
          </a:prstGeom>
        </p:spPr>
      </p:pic>
      <p:pic>
        <p:nvPicPr>
          <p:cNvPr id="10" name="图片 9" descr="post_object_image_4021006831"/>
          <p:cNvPicPr>
            <a:picLocks noChangeAspect="1"/>
          </p:cNvPicPr>
          <p:nvPr/>
        </p:nvPicPr>
        <p:blipFill>
          <a:blip r:embed="rId4"/>
          <a:stretch>
            <a:fillRect/>
          </a:stretch>
        </p:blipFill>
        <p:spPr>
          <a:xfrm>
            <a:off x="269558" y="3195638"/>
            <a:ext cx="6829425" cy="2800350"/>
          </a:xfrm>
          <a:prstGeom prst="rect">
            <a:avLst/>
          </a:prstGeom>
        </p:spPr>
      </p:pic>
      <p:pic>
        <p:nvPicPr>
          <p:cNvPr id="12" name="图片 11" descr="post_object_image_2625135721"/>
          <p:cNvPicPr>
            <a:picLocks noChangeAspect="1"/>
          </p:cNvPicPr>
          <p:nvPr/>
        </p:nvPicPr>
        <p:blipFill>
          <a:blip r:embed="rId5"/>
          <a:stretch>
            <a:fillRect/>
          </a:stretch>
        </p:blipFill>
        <p:spPr>
          <a:xfrm>
            <a:off x="7307342" y="976908"/>
            <a:ext cx="3429000" cy="1200150"/>
          </a:xfrm>
          <a:prstGeom prst="rect">
            <a:avLst/>
          </a:prstGeom>
        </p:spPr>
      </p:pic>
      <p:pic>
        <p:nvPicPr>
          <p:cNvPr id="14" name="图片 13" descr="post_object_image_2081397850"/>
          <p:cNvPicPr>
            <a:picLocks noChangeAspect="1"/>
          </p:cNvPicPr>
          <p:nvPr/>
        </p:nvPicPr>
        <p:blipFill>
          <a:blip r:embed="rId6"/>
          <a:stretch>
            <a:fillRect/>
          </a:stretch>
        </p:blipFill>
        <p:spPr>
          <a:xfrm>
            <a:off x="7335917" y="2453283"/>
            <a:ext cx="3400425" cy="1200150"/>
          </a:xfrm>
          <a:prstGeom prst="rect">
            <a:avLst/>
          </a:prstGeom>
        </p:spPr>
      </p:pic>
      <p:sp>
        <p:nvSpPr>
          <p:cNvPr id="6" name="Rectangle 5"/>
          <p:cNvSpPr/>
          <p:nvPr/>
        </p:nvSpPr>
        <p:spPr>
          <a:xfrm>
            <a:off x="502920" y="6291072"/>
            <a:ext cx="11201400" cy="320040"/>
          </a:xfrm>
          <a:prstGeom prst="rect">
            <a:avLst/>
          </a:prstGeom>
          <a:solidFill>
            <a:srgbClr val="0F1C2D"/>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inal-page-marker"/>
          <p:cNvSpPr txBox="1"/>
          <p:nvPr/>
        </p:nvSpPr>
        <p:spPr>
          <a:xfrm>
            <a:off x="10378440" y="6345936"/>
            <a:ext cx="658368" cy="201168"/>
          </a:xfrm>
          <a:prstGeom prst="rect">
            <a:avLst/>
          </a:prstGeom>
          <a:noFill/>
        </p:spPr>
        <p:txBody>
          <a:bodyPr wrap="none">
            <a:spAutoFit/>
          </a:bodyPr>
          <a:lstStyle/>
          <a:p>
            <a:pPr algn="r"/>
            <a:r>
              <a:t>13 / 22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p:pic>
        <p:nvPicPr>
          <p:cNvPr id="11" name="图片 10" descr="post_object_image_3929940141"/>
          <p:cNvPicPr>
            <a:picLocks noChangeAspect="1"/>
          </p:cNvPicPr>
          <p:nvPr/>
        </p:nvPicPr>
        <p:blipFill>
          <a:blip r:embed="rId1"/>
          <a:stretch>
            <a:fillRect/>
          </a:stretch>
        </p:blipFill>
        <p:spPr>
          <a:xfrm>
            <a:off x="0" y="0"/>
            <a:ext cx="12191682" cy="6858000"/>
          </a:xfrm>
          <a:prstGeom prst="rect">
            <a:avLst/>
          </a:prstGeom>
        </p:spPr>
      </p:pic>
      <p:sp>
        <p:nvSpPr>
          <p:cNvPr id="4" name="TextBox 3"/>
          <p:cNvSpPr txBox="1"/>
          <p:nvPr/>
        </p:nvSpPr>
        <p:spPr>
          <a:xfrm>
            <a:off x="221932" y="264160"/>
            <a:ext cx="11049635" cy="415290"/>
          </a:xfrm>
          <a:prstGeom prst="rect">
            <a:avLst/>
          </a:prstGeom>
          <a:noFill/>
        </p:spPr>
        <p:txBody>
          <a:bodyPr wrap="none" lIns="0" tIns="0" rIns="0" bIns="0">
            <a:spAutoFit/>
          </a:bodyPr>
          <a:lstStyle/>
          <a:p>
            <a:pPr algn="l"/>
            <a:r>
              <a:rPr sz="2700" b="1">
                <a:solidFill>
                  <a:srgbClr val="F2F6FF"/>
                </a:solidFill>
                <a:latin typeface="Arial" panose="020B0604020202020204"/>
              </a:rPr>
              <a:t>Chi-Square：</a:t>
            </a:r>
            <a:r>
              <a:rPr lang="en-US" altLang="zh-CN" sz="2700" b="1">
                <a:solidFill>
                  <a:srgbClr val="F2F6FF"/>
                </a:solidFill>
                <a:latin typeface="Arial" panose="020B0604020202020204"/>
              </a:rPr>
              <a:t>Transform intuitive conclusions into significance tests</a:t>
            </a:r>
            <a:endParaRPr sz="2700" b="1">
              <a:solidFill>
                <a:srgbClr val="F2F6FF"/>
              </a:solidFill>
              <a:latin typeface="Arial" panose="020B0604020202020204"/>
            </a:endParaRPr>
          </a:p>
        </p:txBody>
      </p:sp>
      <p:sp>
        <p:nvSpPr>
          <p:cNvPr id="5" name="TextBox 4"/>
          <p:cNvSpPr txBox="1"/>
          <p:nvPr/>
        </p:nvSpPr>
        <p:spPr>
          <a:xfrm>
            <a:off x="221933" y="679450"/>
            <a:ext cx="6318250" cy="184150"/>
          </a:xfrm>
          <a:prstGeom prst="rect">
            <a:avLst/>
          </a:prstGeom>
          <a:noFill/>
        </p:spPr>
        <p:txBody>
          <a:bodyPr wrap="none" lIns="0" tIns="0" rIns="0" bIns="0">
            <a:spAutoFit/>
          </a:bodyPr>
          <a:lstStyle/>
          <a:p>
            <a:pPr algn="l"/>
            <a:r>
              <a:rPr lang="en-US" altLang="zh-CN" sz="1200">
                <a:solidFill>
                  <a:srgbClr val="9AA9BD"/>
                </a:solidFill>
                <a:latin typeface="Arial" panose="020B0604020202020204"/>
              </a:rPr>
              <a:t>Detect </a:t>
            </a:r>
            <a:r>
              <a:rPr lang="en-US" altLang="zh-CN" sz="1200">
                <a:solidFill>
                  <a:srgbClr val="9AA9BD"/>
                </a:solidFill>
                <a:latin typeface="Arial" panose="020B0604020202020204"/>
                <a:cs typeface="Arial" panose="020B0604020202020204" pitchFamily="34" charset="0"/>
              </a:rPr>
              <a:t>whether there is a statistically significant association between two categorical variables</a:t>
            </a:r>
            <a:endParaRPr sz="1200" b="0">
              <a:solidFill>
                <a:srgbClr val="9AA9BD"/>
              </a:solidFill>
              <a:latin typeface="Arial" panose="020B0604020202020204"/>
            </a:endParaRPr>
          </a:p>
        </p:txBody>
      </p:sp>
      <p:sp>
        <p:nvSpPr>
          <p:cNvPr id="17" name="文本框 16"/>
          <p:cNvSpPr txBox="1"/>
          <p:nvPr userDrawn="1"/>
        </p:nvSpPr>
        <p:spPr>
          <a:xfrm>
            <a:off x="7307342" y="4027265"/>
            <a:ext cx="3333750" cy="645160"/>
          </a:xfrm>
          <a:prstGeom prst="rect">
            <a:avLst/>
          </a:prstGeom>
        </p:spPr>
        <p:txBody>
          <a:bodyPr wrap="square" rtlCol="0">
            <a:spAutoFit/>
          </a:bodyPr>
          <a:p>
            <a:r>
              <a:rPr lang="en-US" altLang="zh-CN">
                <a:solidFill>
                  <a:schemeClr val="bg1"/>
                </a:solidFill>
              </a:rPr>
              <a:t>Genre can determine Rating Tier</a:t>
            </a:r>
            <a:endParaRPr lang="zh-CN" altLang="en-US">
              <a:solidFill>
                <a:schemeClr val="bg1"/>
              </a:solidFill>
            </a:endParaRPr>
          </a:p>
        </p:txBody>
      </p:sp>
      <p:pic>
        <p:nvPicPr>
          <p:cNvPr id="2" name="图片 1" descr="post_object_image_2115506139"/>
          <p:cNvPicPr>
            <a:picLocks noChangeAspect="1"/>
          </p:cNvPicPr>
          <p:nvPr/>
        </p:nvPicPr>
        <p:blipFill>
          <a:blip r:embed="rId2"/>
          <a:stretch>
            <a:fillRect/>
          </a:stretch>
        </p:blipFill>
        <p:spPr>
          <a:xfrm>
            <a:off x="269558" y="967383"/>
            <a:ext cx="6886575" cy="1485900"/>
          </a:xfrm>
          <a:prstGeom prst="rect">
            <a:avLst/>
          </a:prstGeom>
        </p:spPr>
      </p:pic>
      <p:pic>
        <p:nvPicPr>
          <p:cNvPr id="3" name="图片 2" descr="post_object_image_210103324"/>
          <p:cNvPicPr>
            <a:picLocks noChangeAspect="1"/>
          </p:cNvPicPr>
          <p:nvPr/>
        </p:nvPicPr>
        <p:blipFill>
          <a:blip r:embed="rId3"/>
          <a:stretch>
            <a:fillRect/>
          </a:stretch>
        </p:blipFill>
        <p:spPr>
          <a:xfrm>
            <a:off x="269558" y="2519363"/>
            <a:ext cx="6810375" cy="676275"/>
          </a:xfrm>
          <a:prstGeom prst="rect">
            <a:avLst/>
          </a:prstGeom>
        </p:spPr>
      </p:pic>
      <p:pic>
        <p:nvPicPr>
          <p:cNvPr id="6" name="图片 5" descr="post_object_image_3803418337"/>
          <p:cNvPicPr>
            <a:picLocks noChangeAspect="1"/>
          </p:cNvPicPr>
          <p:nvPr/>
        </p:nvPicPr>
        <p:blipFill>
          <a:blip r:embed="rId4"/>
          <a:stretch>
            <a:fillRect/>
          </a:stretch>
        </p:blipFill>
        <p:spPr>
          <a:xfrm>
            <a:off x="221933" y="3369469"/>
            <a:ext cx="6858000" cy="2143125"/>
          </a:xfrm>
          <a:prstGeom prst="rect">
            <a:avLst/>
          </a:prstGeom>
        </p:spPr>
      </p:pic>
      <p:pic>
        <p:nvPicPr>
          <p:cNvPr id="7" name="图片 6" descr="post_object_image_3475755632"/>
          <p:cNvPicPr>
            <a:picLocks noChangeAspect="1"/>
          </p:cNvPicPr>
          <p:nvPr/>
        </p:nvPicPr>
        <p:blipFill>
          <a:blip r:embed="rId5"/>
          <a:stretch>
            <a:fillRect/>
          </a:stretch>
        </p:blipFill>
        <p:spPr>
          <a:xfrm>
            <a:off x="7307342" y="967383"/>
            <a:ext cx="3390900" cy="1200150"/>
          </a:xfrm>
          <a:prstGeom prst="rect">
            <a:avLst/>
          </a:prstGeom>
        </p:spPr>
      </p:pic>
      <p:pic>
        <p:nvPicPr>
          <p:cNvPr id="13" name="图片 12" descr="post_object_image_1871869852"/>
          <p:cNvPicPr>
            <a:picLocks noChangeAspect="1"/>
          </p:cNvPicPr>
          <p:nvPr/>
        </p:nvPicPr>
        <p:blipFill>
          <a:blip r:embed="rId6"/>
          <a:stretch>
            <a:fillRect/>
          </a:stretch>
        </p:blipFill>
        <p:spPr>
          <a:xfrm>
            <a:off x="7321629" y="2453283"/>
            <a:ext cx="3362325" cy="1200150"/>
          </a:xfrm>
          <a:prstGeom prst="rect">
            <a:avLst/>
          </a:prstGeom>
        </p:spPr>
      </p:pic>
      <p:sp>
        <p:nvSpPr>
          <p:cNvPr id="8" name="Rectangle 5"/>
          <p:cNvSpPr/>
          <p:nvPr/>
        </p:nvSpPr>
        <p:spPr>
          <a:xfrm>
            <a:off x="502920" y="6291072"/>
            <a:ext cx="11201400" cy="320040"/>
          </a:xfrm>
          <a:prstGeom prst="rect">
            <a:avLst/>
          </a:prstGeom>
          <a:solidFill>
            <a:srgbClr val="0F1C2D"/>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inal-page-marker"/>
          <p:cNvSpPr txBox="1"/>
          <p:nvPr/>
        </p:nvSpPr>
        <p:spPr>
          <a:xfrm>
            <a:off x="10378440" y="6345936"/>
            <a:ext cx="658368" cy="201168"/>
          </a:xfrm>
          <a:prstGeom prst="rect">
            <a:avLst/>
          </a:prstGeom>
          <a:noFill/>
        </p:spPr>
        <p:txBody>
          <a:bodyPr wrap="none">
            <a:spAutoFit/>
          </a:bodyPr>
          <a:lstStyle/>
          <a:p>
            <a:pPr algn="r"/>
            <a:r>
              <a:t>14 / 22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p:pic>
        <p:nvPicPr>
          <p:cNvPr id="11" name="图片 10" descr="post_object_image_3929940141"/>
          <p:cNvPicPr>
            <a:picLocks noChangeAspect="1"/>
          </p:cNvPicPr>
          <p:nvPr/>
        </p:nvPicPr>
        <p:blipFill>
          <a:blip r:embed="rId1"/>
          <a:stretch>
            <a:fillRect/>
          </a:stretch>
        </p:blipFill>
        <p:spPr>
          <a:xfrm>
            <a:off x="0" y="0"/>
            <a:ext cx="12191682" cy="6858000"/>
          </a:xfrm>
          <a:prstGeom prst="rect">
            <a:avLst/>
          </a:prstGeom>
        </p:spPr>
      </p:pic>
      <p:sp>
        <p:nvSpPr>
          <p:cNvPr id="4" name="TextBox 3"/>
          <p:cNvSpPr txBox="1"/>
          <p:nvPr/>
        </p:nvSpPr>
        <p:spPr>
          <a:xfrm>
            <a:off x="221932" y="264160"/>
            <a:ext cx="11049635" cy="415290"/>
          </a:xfrm>
          <a:prstGeom prst="rect">
            <a:avLst/>
          </a:prstGeom>
          <a:noFill/>
        </p:spPr>
        <p:txBody>
          <a:bodyPr wrap="none" lIns="0" tIns="0" rIns="0" bIns="0">
            <a:spAutoFit/>
          </a:bodyPr>
          <a:lstStyle/>
          <a:p>
            <a:pPr algn="l"/>
            <a:r>
              <a:rPr sz="2700" b="1">
                <a:solidFill>
                  <a:srgbClr val="F2F6FF"/>
                </a:solidFill>
                <a:latin typeface="Arial" panose="020B0604020202020204"/>
              </a:rPr>
              <a:t>Chi-Square：</a:t>
            </a:r>
            <a:r>
              <a:rPr lang="en-US" altLang="zh-CN" sz="2700" b="1">
                <a:solidFill>
                  <a:srgbClr val="F2F6FF"/>
                </a:solidFill>
                <a:latin typeface="Arial" panose="020B0604020202020204"/>
              </a:rPr>
              <a:t>Transform intuitive conclusions into significance tests</a:t>
            </a:r>
            <a:endParaRPr sz="2700" b="1">
              <a:solidFill>
                <a:srgbClr val="F2F6FF"/>
              </a:solidFill>
              <a:latin typeface="Arial" panose="020B0604020202020204"/>
            </a:endParaRPr>
          </a:p>
        </p:txBody>
      </p:sp>
      <p:sp>
        <p:nvSpPr>
          <p:cNvPr id="5" name="TextBox 4"/>
          <p:cNvSpPr txBox="1"/>
          <p:nvPr/>
        </p:nvSpPr>
        <p:spPr>
          <a:xfrm>
            <a:off x="221933" y="679450"/>
            <a:ext cx="6318250" cy="184150"/>
          </a:xfrm>
          <a:prstGeom prst="rect">
            <a:avLst/>
          </a:prstGeom>
          <a:noFill/>
        </p:spPr>
        <p:txBody>
          <a:bodyPr wrap="none" lIns="0" tIns="0" rIns="0" bIns="0">
            <a:spAutoFit/>
          </a:bodyPr>
          <a:lstStyle/>
          <a:p>
            <a:pPr algn="l"/>
            <a:r>
              <a:rPr lang="en-US" altLang="zh-CN" sz="1200">
                <a:solidFill>
                  <a:srgbClr val="9AA9BD"/>
                </a:solidFill>
                <a:latin typeface="Arial" panose="020B0604020202020204"/>
              </a:rPr>
              <a:t>Detect </a:t>
            </a:r>
            <a:r>
              <a:rPr lang="en-US" altLang="zh-CN" sz="1200">
                <a:solidFill>
                  <a:srgbClr val="9AA9BD"/>
                </a:solidFill>
                <a:latin typeface="Arial" panose="020B0604020202020204"/>
                <a:cs typeface="Arial" panose="020B0604020202020204" pitchFamily="34" charset="0"/>
              </a:rPr>
              <a:t>whether there is a statistically significant association between two categorical variables</a:t>
            </a:r>
            <a:endParaRPr sz="1200" b="0">
              <a:solidFill>
                <a:srgbClr val="9AA9BD"/>
              </a:solidFill>
              <a:latin typeface="Arial" panose="020B0604020202020204"/>
            </a:endParaRPr>
          </a:p>
        </p:txBody>
      </p:sp>
      <p:sp>
        <p:nvSpPr>
          <p:cNvPr id="17" name="文本框 16"/>
          <p:cNvSpPr txBox="1"/>
          <p:nvPr userDrawn="1"/>
        </p:nvSpPr>
        <p:spPr>
          <a:xfrm>
            <a:off x="7307342" y="4027265"/>
            <a:ext cx="3333750" cy="645160"/>
          </a:xfrm>
          <a:prstGeom prst="rect">
            <a:avLst/>
          </a:prstGeom>
        </p:spPr>
        <p:txBody>
          <a:bodyPr wrap="square" rtlCol="0">
            <a:spAutoFit/>
          </a:bodyPr>
          <a:p>
            <a:r>
              <a:rPr lang="en-US" altLang="zh-CN">
                <a:solidFill>
                  <a:schemeClr val="bg1"/>
                </a:solidFill>
              </a:rPr>
              <a:t>Bud</a:t>
            </a:r>
            <a:r>
              <a:rPr lang="en-US" altLang="zh-CN">
                <a:solidFill>
                  <a:schemeClr val="bg1"/>
                </a:solidFill>
                <a:cs typeface="Arial" panose="020B0604020202020204" pitchFamily="34" charset="0"/>
              </a:rPr>
              <a:t>get</a:t>
            </a:r>
            <a:r>
              <a:rPr lang="en-US" altLang="zh-CN">
                <a:solidFill>
                  <a:schemeClr val="bg1"/>
                </a:solidFill>
              </a:rPr>
              <a:t> Tier can determine Rating Tier</a:t>
            </a:r>
            <a:endParaRPr lang="zh-CN" altLang="en-US">
              <a:solidFill>
                <a:schemeClr val="bg1"/>
              </a:solidFill>
            </a:endParaRPr>
          </a:p>
        </p:txBody>
      </p:sp>
      <p:pic>
        <p:nvPicPr>
          <p:cNvPr id="3" name="图片 2" descr="post_object_image_210103324"/>
          <p:cNvPicPr>
            <a:picLocks noChangeAspect="1"/>
          </p:cNvPicPr>
          <p:nvPr/>
        </p:nvPicPr>
        <p:blipFill>
          <a:blip r:embed="rId2"/>
          <a:stretch>
            <a:fillRect/>
          </a:stretch>
        </p:blipFill>
        <p:spPr>
          <a:xfrm>
            <a:off x="269558" y="2519363"/>
            <a:ext cx="6810375" cy="676275"/>
          </a:xfrm>
          <a:prstGeom prst="rect">
            <a:avLst/>
          </a:prstGeom>
        </p:spPr>
      </p:pic>
      <p:pic>
        <p:nvPicPr>
          <p:cNvPr id="8" name="图片 7" descr="post_object_image_1241299134"/>
          <p:cNvPicPr>
            <a:picLocks noChangeAspect="1"/>
          </p:cNvPicPr>
          <p:nvPr/>
        </p:nvPicPr>
        <p:blipFill>
          <a:blip r:embed="rId3"/>
          <a:stretch>
            <a:fillRect/>
          </a:stretch>
        </p:blipFill>
        <p:spPr>
          <a:xfrm>
            <a:off x="221932" y="967383"/>
            <a:ext cx="6877050" cy="1485900"/>
          </a:xfrm>
          <a:prstGeom prst="rect">
            <a:avLst/>
          </a:prstGeom>
        </p:spPr>
      </p:pic>
      <p:pic>
        <p:nvPicPr>
          <p:cNvPr id="9" name="图片 8" descr="post_object_image_3050533315"/>
          <p:cNvPicPr>
            <a:picLocks noChangeAspect="1"/>
          </p:cNvPicPr>
          <p:nvPr/>
        </p:nvPicPr>
        <p:blipFill>
          <a:blip r:embed="rId4"/>
          <a:stretch>
            <a:fillRect/>
          </a:stretch>
        </p:blipFill>
        <p:spPr>
          <a:xfrm>
            <a:off x="269558" y="3448156"/>
            <a:ext cx="6877050" cy="2233506"/>
          </a:xfrm>
          <a:prstGeom prst="rect">
            <a:avLst/>
          </a:prstGeom>
        </p:spPr>
      </p:pic>
      <p:pic>
        <p:nvPicPr>
          <p:cNvPr id="10" name="图片 9" descr="post_object_image_1230096833"/>
          <p:cNvPicPr>
            <a:picLocks noChangeAspect="1"/>
          </p:cNvPicPr>
          <p:nvPr/>
        </p:nvPicPr>
        <p:blipFill>
          <a:blip r:embed="rId5"/>
          <a:stretch>
            <a:fillRect/>
          </a:stretch>
        </p:blipFill>
        <p:spPr>
          <a:xfrm>
            <a:off x="7307342" y="967383"/>
            <a:ext cx="3409950" cy="1238250"/>
          </a:xfrm>
          <a:prstGeom prst="rect">
            <a:avLst/>
          </a:prstGeom>
        </p:spPr>
      </p:pic>
      <p:pic>
        <p:nvPicPr>
          <p:cNvPr id="12" name="图片 11" descr="post_object_image_3577514088"/>
          <p:cNvPicPr>
            <a:picLocks noChangeAspect="1"/>
          </p:cNvPicPr>
          <p:nvPr/>
        </p:nvPicPr>
        <p:blipFill>
          <a:blip r:embed="rId6"/>
          <a:stretch>
            <a:fillRect/>
          </a:stretch>
        </p:blipFill>
        <p:spPr>
          <a:xfrm>
            <a:off x="7316867" y="2453283"/>
            <a:ext cx="3390900" cy="1200150"/>
          </a:xfrm>
          <a:prstGeom prst="rect">
            <a:avLst/>
          </a:prstGeom>
        </p:spPr>
      </p:pic>
      <p:sp>
        <p:nvSpPr>
          <p:cNvPr id="6" name="Rectangle 5"/>
          <p:cNvSpPr/>
          <p:nvPr/>
        </p:nvSpPr>
        <p:spPr>
          <a:xfrm>
            <a:off x="502920" y="6291072"/>
            <a:ext cx="11201400" cy="320040"/>
          </a:xfrm>
          <a:prstGeom prst="rect">
            <a:avLst/>
          </a:prstGeom>
          <a:solidFill>
            <a:srgbClr val="0F1C2D"/>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final-page-marker"/>
          <p:cNvSpPr txBox="1"/>
          <p:nvPr/>
        </p:nvSpPr>
        <p:spPr>
          <a:xfrm>
            <a:off x="10378440" y="6345936"/>
            <a:ext cx="658368" cy="201168"/>
          </a:xfrm>
          <a:prstGeom prst="rect">
            <a:avLst/>
          </a:prstGeom>
          <a:noFill/>
        </p:spPr>
        <p:txBody>
          <a:bodyPr wrap="none">
            <a:spAutoFit/>
          </a:bodyPr>
          <a:lstStyle/>
          <a:p>
            <a:pPr algn="r"/>
            <a:r>
              <a:t>15 / 22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p:sp>
        <p:nvSpPr>
          <p:cNvPr id="2" name="TextBox 1"/>
          <p:cNvSpPr txBox="1"/>
          <p:nvPr/>
        </p:nvSpPr>
        <p:spPr>
          <a:xfrm>
            <a:off x="502920" y="292608"/>
            <a:ext cx="749300" cy="138430"/>
          </a:xfrm>
          <a:prstGeom prst="rect">
            <a:avLst/>
          </a:prstGeom>
          <a:noFill/>
        </p:spPr>
        <p:txBody>
          <a:bodyPr wrap="none" lIns="0" tIns="0" rIns="0" bIns="0">
            <a:spAutoFit/>
          </a:bodyPr>
          <a:lstStyle/>
          <a:p>
            <a:pPr algn="l"/>
            <a:r>
              <a:rPr lang="en-US" altLang="zh-CN" sz="900" b="1">
                <a:solidFill>
                  <a:srgbClr val="3B82F6"/>
                </a:solidFill>
                <a:latin typeface="Arial" panose="020B0604020202020204"/>
              </a:rPr>
              <a:t>LIAO Shuaiyu</a:t>
            </a:r>
            <a:endParaRPr>
              <a:latin typeface="Arial" panose="020B0604020202020204"/>
            </a:endParaRPr>
          </a:p>
        </p:txBody>
      </p:sp>
      <p:sp>
        <p:nvSpPr>
          <p:cNvPr id="3" name="TextBox 2"/>
          <p:cNvSpPr txBox="1"/>
          <p:nvPr/>
        </p:nvSpPr>
        <p:spPr>
          <a:xfrm>
            <a:off x="10592602" y="292608"/>
            <a:ext cx="1005840" cy="219456"/>
          </a:xfrm>
          <a:prstGeom prst="rect">
            <a:avLst/>
          </a:prstGeom>
          <a:noFill/>
        </p:spPr>
        <p:txBody>
          <a:bodyPr wrap="none" lIns="0" tIns="0" rIns="0" bIns="0">
            <a:spAutoFit/>
          </a:bodyPr>
          <a:lstStyle/>
          <a:p>
            <a:pPr algn="r"/>
            <a:r>
              <a:t>16 / 22</a:t>
            </a:r>
            <a:endParaRPr sz="900" b="1">
              <a:solidFill>
                <a:srgbClr val="9AA9BD"/>
              </a:solidFill>
              <a:latin typeface="Arial" panose="020B0604020202020204"/>
            </a:endParaRPr>
          </a:p>
        </p:txBody>
      </p:sp>
      <p:sp>
        <p:nvSpPr>
          <p:cNvPr id="4" name="TextBox 3"/>
          <p:cNvSpPr txBox="1"/>
          <p:nvPr/>
        </p:nvSpPr>
        <p:spPr>
          <a:xfrm>
            <a:off x="502920" y="585216"/>
            <a:ext cx="2990850" cy="415290"/>
          </a:xfrm>
          <a:prstGeom prst="rect">
            <a:avLst/>
          </a:prstGeom>
          <a:noFill/>
        </p:spPr>
        <p:txBody>
          <a:bodyPr wrap="none" lIns="0" tIns="0" rIns="0" bIns="0">
            <a:spAutoFit/>
          </a:bodyPr>
          <a:lstStyle/>
          <a:p>
            <a:pPr algn="l"/>
            <a:r>
              <a:rPr lang="en-US" altLang="zh-CN" sz="2700" b="1">
                <a:solidFill>
                  <a:srgbClr val="F2F6FF"/>
                </a:solidFill>
                <a:latin typeface="Arial" panose="020B0604020202020204"/>
              </a:rPr>
              <a:t>Lin</a:t>
            </a:r>
            <a:r>
              <a:rPr lang="en-US" altLang="zh-CN" sz="2700" b="1">
                <a:solidFill>
                  <a:srgbClr val="F2F6FF"/>
                </a:solidFill>
                <a:latin typeface="Arial" panose="020B0604020202020204"/>
                <a:cs typeface="Arial" panose="020B0604020202020204" pitchFamily="34" charset="0"/>
              </a:rPr>
              <a:t>ear </a:t>
            </a:r>
            <a:r>
              <a:rPr sz="2700" b="1">
                <a:solidFill>
                  <a:srgbClr val="F2F6FF"/>
                </a:solidFill>
                <a:latin typeface="Arial" panose="020B0604020202020204"/>
              </a:rPr>
              <a:t>Regressio</a:t>
            </a:r>
            <a:r>
              <a:rPr lang="en-US" altLang="zh-CN" sz="2700" b="1">
                <a:solidFill>
                  <a:srgbClr val="F2F6FF"/>
                </a:solidFill>
                <a:latin typeface="Arial" panose="020B0604020202020204"/>
              </a:rPr>
              <a:t>n</a:t>
            </a:r>
            <a:endParaRPr sz="2700" b="1">
              <a:solidFill>
                <a:srgbClr val="F2F6FF"/>
              </a:solidFill>
              <a:latin typeface="Arial" panose="020B0604020202020204"/>
            </a:endParaRPr>
          </a:p>
        </p:txBody>
      </p:sp>
      <p:sp>
        <p:nvSpPr>
          <p:cNvPr id="6" name="Rectangle 5"/>
          <p:cNvSpPr/>
          <p:nvPr/>
        </p:nvSpPr>
        <p:spPr>
          <a:xfrm>
            <a:off x="502920" y="6291072"/>
            <a:ext cx="11201400" cy="320040"/>
          </a:xfrm>
          <a:prstGeom prst="rect">
            <a:avLst/>
          </a:prstGeom>
          <a:solidFill>
            <a:srgbClr val="0F1C2D"/>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9.png"/>
          <p:cNvPicPr>
            <a:picLocks noChangeAspect="1"/>
          </p:cNvPicPr>
          <p:nvPr/>
        </p:nvPicPr>
        <p:blipFill>
          <a:blip r:embed="rId1"/>
          <a:stretch>
            <a:fillRect/>
          </a:stretch>
        </p:blipFill>
        <p:spPr>
          <a:xfrm>
            <a:off x="685800" y="1325880"/>
            <a:ext cx="6583680" cy="3474720"/>
          </a:xfrm>
          <a:prstGeom prst="rect">
            <a:avLst/>
          </a:prstGeom>
        </p:spPr>
      </p:pic>
      <p:grpSp>
        <p:nvGrpSpPr>
          <p:cNvPr id="5" name="组合 4"/>
          <p:cNvGrpSpPr/>
          <p:nvPr userDrawn="1"/>
        </p:nvGrpSpPr>
        <p:grpSpPr>
          <a:xfrm>
            <a:off x="7635240" y="1554480"/>
            <a:ext cx="2539365" cy="1127125"/>
            <a:chOff x="12024" y="2448"/>
            <a:chExt cx="3999" cy="1775"/>
          </a:xfrm>
        </p:grpSpPr>
        <p:sp>
          <p:nvSpPr>
            <p:cNvPr id="10" name="Rectangle 9"/>
            <p:cNvSpPr/>
            <p:nvPr/>
          </p:nvSpPr>
          <p:spPr>
            <a:xfrm>
              <a:off x="12024" y="2448"/>
              <a:ext cx="3960" cy="1296"/>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283" y="2678"/>
              <a:ext cx="2053" cy="436"/>
            </a:xfrm>
            <a:prstGeom prst="rect">
              <a:avLst/>
            </a:prstGeom>
            <a:noFill/>
          </p:spPr>
          <p:txBody>
            <a:bodyPr wrap="none" lIns="0" tIns="0" rIns="0" bIns="0">
              <a:spAutoFit/>
            </a:bodyPr>
            <a:lstStyle/>
            <a:p>
              <a:pPr algn="l"/>
              <a:r>
                <a:rPr b="1">
                  <a:solidFill>
                    <a:srgbClr val="9AA9BD"/>
                  </a:solidFill>
                  <a:latin typeface="Arial" panose="020B0604020202020204"/>
                </a:rPr>
                <a:t>VARIABLES</a:t>
              </a:r>
              <a:endParaRPr b="1">
                <a:solidFill>
                  <a:srgbClr val="9AA9BD"/>
                </a:solidFill>
                <a:latin typeface="Arial" panose="020B0604020202020204"/>
              </a:endParaRPr>
            </a:p>
          </p:txBody>
        </p:sp>
        <p:sp>
          <p:nvSpPr>
            <p:cNvPr id="12" name="TextBox 11"/>
            <p:cNvSpPr txBox="1"/>
            <p:nvPr/>
          </p:nvSpPr>
          <p:spPr>
            <a:xfrm>
              <a:off x="12283" y="3082"/>
              <a:ext cx="267" cy="581"/>
            </a:xfrm>
            <a:prstGeom prst="rect">
              <a:avLst/>
            </a:prstGeom>
            <a:noFill/>
          </p:spPr>
          <p:txBody>
            <a:bodyPr wrap="none" lIns="0" tIns="0" rIns="0" bIns="0">
              <a:spAutoFit/>
            </a:bodyPr>
            <a:lstStyle/>
            <a:p>
              <a:pPr algn="l"/>
              <a:r>
                <a:rPr sz="2400" b="1">
                  <a:solidFill>
                    <a:srgbClr val="3B82F6"/>
                  </a:solidFill>
                  <a:latin typeface="Arial" panose="020B0604020202020204"/>
                </a:rPr>
                <a:t>8</a:t>
              </a:r>
              <a:endParaRPr sz="2400" b="1">
                <a:solidFill>
                  <a:srgbClr val="3B82F6"/>
                </a:solidFill>
                <a:latin typeface="Arial" panose="020B0604020202020204"/>
              </a:endParaRPr>
            </a:p>
          </p:txBody>
        </p:sp>
        <p:sp>
          <p:nvSpPr>
            <p:cNvPr id="13" name="TextBox 12"/>
            <p:cNvSpPr txBox="1"/>
            <p:nvPr/>
          </p:nvSpPr>
          <p:spPr>
            <a:xfrm>
              <a:off x="12283" y="3787"/>
              <a:ext cx="3740" cy="436"/>
            </a:xfrm>
            <a:prstGeom prst="rect">
              <a:avLst/>
            </a:prstGeom>
            <a:noFill/>
          </p:spPr>
          <p:txBody>
            <a:bodyPr wrap="none" lIns="0" tIns="0" rIns="0" bIns="0">
              <a:spAutoFit/>
            </a:bodyPr>
            <a:lstStyle/>
            <a:p>
              <a:pPr algn="l"/>
              <a:r>
                <a:rPr b="0">
                  <a:solidFill>
                    <a:srgbClr val="9AA9BD"/>
                  </a:solidFill>
                  <a:latin typeface="Arial" panose="020B0604020202020204"/>
                </a:rPr>
                <a:t>budget, revenue, ROI...</a:t>
              </a:r>
              <a:endParaRPr b="0">
                <a:solidFill>
                  <a:srgbClr val="9AA9BD"/>
                </a:solidFill>
                <a:latin typeface="Arial" panose="020B0604020202020204"/>
              </a:endParaRPr>
            </a:p>
          </p:txBody>
        </p:sp>
      </p:grpSp>
      <p:grpSp>
        <p:nvGrpSpPr>
          <p:cNvPr id="7" name="组合 6"/>
          <p:cNvGrpSpPr/>
          <p:nvPr userDrawn="1"/>
        </p:nvGrpSpPr>
        <p:grpSpPr>
          <a:xfrm>
            <a:off x="7635305" y="2956061"/>
            <a:ext cx="2514600" cy="1127125"/>
            <a:chOff x="12024" y="4176"/>
            <a:chExt cx="3960" cy="1775"/>
          </a:xfrm>
        </p:grpSpPr>
        <p:sp>
          <p:nvSpPr>
            <p:cNvPr id="14" name="Rectangle 13"/>
            <p:cNvSpPr/>
            <p:nvPr/>
          </p:nvSpPr>
          <p:spPr>
            <a:xfrm>
              <a:off x="12024" y="4176"/>
              <a:ext cx="3960" cy="1296"/>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283" y="4406"/>
              <a:ext cx="1020" cy="436"/>
            </a:xfrm>
            <a:prstGeom prst="rect">
              <a:avLst/>
            </a:prstGeom>
            <a:noFill/>
          </p:spPr>
          <p:txBody>
            <a:bodyPr wrap="none" lIns="0" tIns="0" rIns="0" bIns="0">
              <a:spAutoFit/>
            </a:bodyPr>
            <a:lstStyle/>
            <a:p>
              <a:pPr algn="l"/>
              <a:r>
                <a:rPr b="1">
                  <a:solidFill>
                    <a:srgbClr val="9AA9BD"/>
                  </a:solidFill>
                  <a:latin typeface="Arial" panose="020B0604020202020204"/>
                </a:rPr>
                <a:t>SPLIT</a:t>
              </a:r>
              <a:endParaRPr b="1">
                <a:solidFill>
                  <a:srgbClr val="9AA9BD"/>
                </a:solidFill>
                <a:latin typeface="Arial" panose="020B0604020202020204"/>
              </a:endParaRPr>
            </a:p>
          </p:txBody>
        </p:sp>
        <p:sp>
          <p:nvSpPr>
            <p:cNvPr id="16" name="TextBox 15"/>
            <p:cNvSpPr txBox="1"/>
            <p:nvPr/>
          </p:nvSpPr>
          <p:spPr>
            <a:xfrm>
              <a:off x="12283" y="4810"/>
              <a:ext cx="1201" cy="581"/>
            </a:xfrm>
            <a:prstGeom prst="rect">
              <a:avLst/>
            </a:prstGeom>
            <a:noFill/>
          </p:spPr>
          <p:txBody>
            <a:bodyPr wrap="none" lIns="0" tIns="0" rIns="0" bIns="0">
              <a:spAutoFit/>
            </a:bodyPr>
            <a:lstStyle/>
            <a:p>
              <a:pPr algn="l"/>
              <a:r>
                <a:rPr sz="2400" b="1">
                  <a:solidFill>
                    <a:srgbClr val="2DD4BF"/>
                  </a:solidFill>
                  <a:latin typeface="Arial" panose="020B0604020202020204"/>
                </a:rPr>
                <a:t>80/20</a:t>
              </a:r>
              <a:endParaRPr sz="2400" b="1">
                <a:solidFill>
                  <a:srgbClr val="2DD4BF"/>
                </a:solidFill>
                <a:latin typeface="Arial" panose="020B0604020202020204"/>
              </a:endParaRPr>
            </a:p>
          </p:txBody>
        </p:sp>
        <p:sp>
          <p:nvSpPr>
            <p:cNvPr id="17" name="TextBox 16"/>
            <p:cNvSpPr txBox="1"/>
            <p:nvPr/>
          </p:nvSpPr>
          <p:spPr>
            <a:xfrm>
              <a:off x="12283" y="5515"/>
              <a:ext cx="1580" cy="436"/>
            </a:xfrm>
            <a:prstGeom prst="rect">
              <a:avLst/>
            </a:prstGeom>
            <a:noFill/>
          </p:spPr>
          <p:txBody>
            <a:bodyPr wrap="none" lIns="0" tIns="0" rIns="0" bIns="0">
              <a:spAutoFit/>
            </a:bodyPr>
            <a:lstStyle/>
            <a:p>
              <a:pPr algn="l"/>
              <a:r>
                <a:rPr b="0">
                  <a:solidFill>
                    <a:srgbClr val="9AA9BD"/>
                  </a:solidFill>
                  <a:latin typeface="Arial" panose="020B0604020202020204"/>
                </a:rPr>
                <a:t>train / test</a:t>
              </a:r>
              <a:endParaRPr b="0">
                <a:solidFill>
                  <a:srgbClr val="9AA9BD"/>
                </a:solidFill>
                <a:latin typeface="Arial" panose="020B0604020202020204"/>
              </a:endParaRPr>
            </a:p>
          </p:txBody>
        </p:sp>
      </p:grpSp>
      <p:grpSp>
        <p:nvGrpSpPr>
          <p:cNvPr id="8" name="组合 7"/>
          <p:cNvGrpSpPr/>
          <p:nvPr userDrawn="1"/>
        </p:nvGrpSpPr>
        <p:grpSpPr>
          <a:xfrm>
            <a:off x="7635305" y="4362034"/>
            <a:ext cx="2514600" cy="1127125"/>
            <a:chOff x="12024" y="5904"/>
            <a:chExt cx="3960" cy="1775"/>
          </a:xfrm>
        </p:grpSpPr>
        <p:sp>
          <p:nvSpPr>
            <p:cNvPr id="18" name="Rectangle 17"/>
            <p:cNvSpPr/>
            <p:nvPr/>
          </p:nvSpPr>
          <p:spPr>
            <a:xfrm>
              <a:off x="12024" y="5904"/>
              <a:ext cx="3960" cy="1296"/>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283" y="6134"/>
              <a:ext cx="1480" cy="436"/>
            </a:xfrm>
            <a:prstGeom prst="rect">
              <a:avLst/>
            </a:prstGeom>
            <a:noFill/>
          </p:spPr>
          <p:txBody>
            <a:bodyPr wrap="none" lIns="0" tIns="0" rIns="0" bIns="0">
              <a:spAutoFit/>
            </a:bodyPr>
            <a:lstStyle/>
            <a:p>
              <a:pPr algn="l"/>
              <a:r>
                <a:rPr b="1">
                  <a:solidFill>
                    <a:srgbClr val="9AA9BD"/>
                  </a:solidFill>
                  <a:latin typeface="Arial" panose="020B0604020202020204"/>
                </a:rPr>
                <a:t>OUTPUT</a:t>
              </a:r>
              <a:endParaRPr b="1">
                <a:solidFill>
                  <a:srgbClr val="9AA9BD"/>
                </a:solidFill>
                <a:latin typeface="Arial" panose="020B0604020202020204"/>
              </a:endParaRPr>
            </a:p>
          </p:txBody>
        </p:sp>
        <p:sp>
          <p:nvSpPr>
            <p:cNvPr id="20" name="TextBox 19"/>
            <p:cNvSpPr txBox="1"/>
            <p:nvPr/>
          </p:nvSpPr>
          <p:spPr>
            <a:xfrm>
              <a:off x="12283" y="6538"/>
              <a:ext cx="1879" cy="581"/>
            </a:xfrm>
            <a:prstGeom prst="rect">
              <a:avLst/>
            </a:prstGeom>
            <a:noFill/>
          </p:spPr>
          <p:txBody>
            <a:bodyPr wrap="none" lIns="0" tIns="0" rIns="0" bIns="0">
              <a:spAutoFit/>
            </a:bodyPr>
            <a:lstStyle/>
            <a:p>
              <a:pPr algn="l"/>
              <a:r>
                <a:rPr sz="2400" b="1">
                  <a:solidFill>
                    <a:srgbClr val="A855F7"/>
                  </a:solidFill>
                  <a:latin typeface="Arial" panose="020B0604020202020204"/>
                </a:rPr>
                <a:t>R² + line</a:t>
              </a:r>
              <a:endParaRPr sz="2400" b="1">
                <a:solidFill>
                  <a:srgbClr val="A855F7"/>
                </a:solidFill>
                <a:latin typeface="Arial" panose="020B0604020202020204"/>
              </a:endParaRPr>
            </a:p>
          </p:txBody>
        </p:sp>
        <p:sp>
          <p:nvSpPr>
            <p:cNvPr id="21" name="TextBox 20"/>
            <p:cNvSpPr txBox="1"/>
            <p:nvPr/>
          </p:nvSpPr>
          <p:spPr>
            <a:xfrm>
              <a:off x="12283" y="7243"/>
              <a:ext cx="2520" cy="436"/>
            </a:xfrm>
            <a:prstGeom prst="rect">
              <a:avLst/>
            </a:prstGeom>
            <a:noFill/>
          </p:spPr>
          <p:txBody>
            <a:bodyPr wrap="none" lIns="0" tIns="0" rIns="0" bIns="0">
              <a:spAutoFit/>
            </a:bodyPr>
            <a:lstStyle/>
            <a:p>
              <a:pPr algn="l"/>
              <a:r>
                <a:rPr b="0">
                  <a:solidFill>
                    <a:srgbClr val="9AA9BD"/>
                  </a:solidFill>
                  <a:latin typeface="Arial" panose="020B0604020202020204"/>
                </a:rPr>
                <a:t>fit quality visible</a:t>
              </a:r>
              <a:endParaRPr b="0">
                <a:solidFill>
                  <a:srgbClr val="9AA9BD"/>
                </a:solidFill>
                <a:latin typeface="Arial" panose="020B0604020202020204"/>
              </a:endParaRPr>
            </a:p>
          </p:txBody>
        </p:sp>
      </p:grpSp>
      <p:sp>
        <p:nvSpPr>
          <p:cNvPr id="22" name="final-page-marker"/>
          <p:cNvSpPr txBox="1"/>
          <p:nvPr/>
        </p:nvSpPr>
        <p:spPr>
          <a:xfrm>
            <a:off x="10378440" y="6345936"/>
            <a:ext cx="658368" cy="201168"/>
          </a:xfrm>
          <a:prstGeom prst="rect">
            <a:avLst/>
          </a:prstGeom>
          <a:noFill/>
        </p:spPr>
        <p:txBody>
          <a:bodyPr wrap="none">
            <a:spAutoFit/>
          </a:bodyPr>
          <a:lstStyle/>
          <a:p>
            <a:pPr algn="r"/>
            <a:r>
              <a:t>16 / 22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p:sp>
        <p:nvSpPr>
          <p:cNvPr id="3" name="TextBox 2"/>
          <p:cNvSpPr txBox="1"/>
          <p:nvPr/>
        </p:nvSpPr>
        <p:spPr>
          <a:xfrm>
            <a:off x="10607040" y="292608"/>
            <a:ext cx="1005840" cy="219456"/>
          </a:xfrm>
          <a:prstGeom prst="rect">
            <a:avLst/>
          </a:prstGeom>
          <a:noFill/>
        </p:spPr>
        <p:txBody>
          <a:bodyPr wrap="none" lIns="0" tIns="0" rIns="0" bIns="0">
            <a:spAutoFit/>
          </a:bodyPr>
          <a:lstStyle/>
          <a:p>
            <a:pPr algn="r"/>
            <a:r>
              <a:t>17 / 22</a:t>
            </a:r>
            <a:endParaRPr sz="900" b="1">
              <a:solidFill>
                <a:srgbClr val="9AA9BD"/>
              </a:solidFill>
              <a:latin typeface="Arial" panose="020B0604020202020204"/>
            </a:endParaRPr>
          </a:p>
        </p:txBody>
      </p:sp>
      <p:sp>
        <p:nvSpPr>
          <p:cNvPr id="4" name="TextBox 3"/>
          <p:cNvSpPr txBox="1"/>
          <p:nvPr/>
        </p:nvSpPr>
        <p:spPr>
          <a:xfrm>
            <a:off x="502920" y="585216"/>
            <a:ext cx="5010785" cy="415290"/>
          </a:xfrm>
          <a:prstGeom prst="rect">
            <a:avLst/>
          </a:prstGeom>
          <a:noFill/>
        </p:spPr>
        <p:txBody>
          <a:bodyPr wrap="none" lIns="0" tIns="0" rIns="0" bIns="0">
            <a:spAutoFit/>
          </a:bodyPr>
          <a:lstStyle/>
          <a:p>
            <a:pPr algn="l"/>
            <a:r>
              <a:rPr sz="2700" b="1">
                <a:solidFill>
                  <a:srgbClr val="F2F6FF"/>
                </a:solidFill>
                <a:latin typeface="Arial" panose="020B0604020202020204"/>
              </a:rPr>
              <a:t>Prediction：Gradient Boosting</a:t>
            </a:r>
            <a:endParaRPr sz="2700" b="1">
              <a:solidFill>
                <a:srgbClr val="F2F6FF"/>
              </a:solidFill>
              <a:latin typeface="Arial" panose="020B0604020202020204"/>
            </a:endParaRPr>
          </a:p>
        </p:txBody>
      </p:sp>
      <p:pic>
        <p:nvPicPr>
          <p:cNvPr id="9" name="Picture 8" descr="image10.png"/>
          <p:cNvPicPr>
            <a:picLocks noChangeAspect="1"/>
          </p:cNvPicPr>
          <p:nvPr/>
        </p:nvPicPr>
        <p:blipFill>
          <a:blip r:embed="rId1"/>
          <a:stretch>
            <a:fillRect/>
          </a:stretch>
        </p:blipFill>
        <p:spPr>
          <a:xfrm>
            <a:off x="397228" y="1328909"/>
            <a:ext cx="11397025" cy="2568877"/>
          </a:xfrm>
          <a:prstGeom prst="rect">
            <a:avLst/>
          </a:prstGeom>
        </p:spPr>
      </p:pic>
      <p:grpSp>
        <p:nvGrpSpPr>
          <p:cNvPr id="42" name="组合 41"/>
          <p:cNvGrpSpPr/>
          <p:nvPr userDrawn="1"/>
        </p:nvGrpSpPr>
        <p:grpSpPr>
          <a:xfrm>
            <a:off x="7003286" y="4086928"/>
            <a:ext cx="2194560" cy="1065530"/>
            <a:chOff x="11592" y="2232"/>
            <a:chExt cx="3456" cy="1678"/>
          </a:xfrm>
        </p:grpSpPr>
        <p:sp>
          <p:nvSpPr>
            <p:cNvPr id="10" name="Rectangle 9"/>
            <p:cNvSpPr/>
            <p:nvPr/>
          </p:nvSpPr>
          <p:spPr>
            <a:xfrm>
              <a:off x="11592" y="2232"/>
              <a:ext cx="3456" cy="1296"/>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51" y="2462"/>
              <a:ext cx="2938" cy="317"/>
            </a:xfrm>
            <a:prstGeom prst="rect">
              <a:avLst/>
            </a:prstGeom>
            <a:noFill/>
          </p:spPr>
          <p:txBody>
            <a:bodyPr wrap="none" lIns="0" tIns="0" rIns="0" bIns="0">
              <a:spAutoFit/>
            </a:bodyPr>
            <a:lstStyle/>
            <a:p>
              <a:pPr algn="l"/>
              <a:r>
                <a:rPr sz="800" b="1">
                  <a:solidFill>
                    <a:srgbClr val="9AA9BD"/>
                  </a:solidFill>
                  <a:latin typeface="Arial" panose="020B0604020202020204"/>
                </a:rPr>
                <a:t>FEATURE 1</a:t>
              </a:r>
              <a:endParaRPr sz="800" b="1">
                <a:solidFill>
                  <a:srgbClr val="9AA9BD"/>
                </a:solidFill>
                <a:latin typeface="Arial" panose="020B0604020202020204"/>
              </a:endParaRPr>
            </a:p>
          </p:txBody>
        </p:sp>
        <p:sp>
          <p:nvSpPr>
            <p:cNvPr id="12" name="TextBox 11"/>
            <p:cNvSpPr txBox="1"/>
            <p:nvPr/>
          </p:nvSpPr>
          <p:spPr>
            <a:xfrm>
              <a:off x="11851" y="2866"/>
              <a:ext cx="2938" cy="634"/>
            </a:xfrm>
            <a:prstGeom prst="rect">
              <a:avLst/>
            </a:prstGeom>
            <a:noFill/>
          </p:spPr>
          <p:txBody>
            <a:bodyPr wrap="none" lIns="0" tIns="0" rIns="0" bIns="0">
              <a:spAutoFit/>
            </a:bodyPr>
            <a:lstStyle/>
            <a:p>
              <a:pPr algn="l"/>
              <a:r>
                <a:rPr sz="2200" b="1">
                  <a:solidFill>
                    <a:srgbClr val="3B82F6"/>
                  </a:solidFill>
                  <a:latin typeface="Arial" panose="020B0604020202020204"/>
                </a:rPr>
                <a:t>log(budget)</a:t>
              </a:r>
              <a:endParaRPr sz="2200" b="1">
                <a:solidFill>
                  <a:srgbClr val="3B82F6"/>
                </a:solidFill>
                <a:latin typeface="Arial" panose="020B0604020202020204"/>
              </a:endParaRPr>
            </a:p>
          </p:txBody>
        </p:sp>
        <p:sp>
          <p:nvSpPr>
            <p:cNvPr id="13" name="TextBox 12"/>
            <p:cNvSpPr txBox="1"/>
            <p:nvPr/>
          </p:nvSpPr>
          <p:spPr>
            <a:xfrm>
              <a:off x="11851" y="3571"/>
              <a:ext cx="2196" cy="339"/>
            </a:xfrm>
            <a:prstGeom prst="rect">
              <a:avLst/>
            </a:prstGeom>
            <a:noFill/>
          </p:spPr>
          <p:txBody>
            <a:bodyPr wrap="none" lIns="0" tIns="0" rIns="0" bIns="0">
              <a:spAutoFit/>
            </a:bodyPr>
            <a:lstStyle/>
            <a:p>
              <a:pPr algn="l"/>
              <a:r>
                <a:rPr sz="1400" b="0">
                  <a:solidFill>
                    <a:srgbClr val="9AA9BD"/>
                  </a:solidFill>
                  <a:latin typeface="Arial" panose="020B0604020202020204"/>
                </a:rPr>
                <a:t>scale stabilisation</a:t>
              </a:r>
              <a:endParaRPr sz="1400" b="0">
                <a:solidFill>
                  <a:srgbClr val="9AA9BD"/>
                </a:solidFill>
                <a:latin typeface="Arial" panose="020B0604020202020204"/>
              </a:endParaRPr>
            </a:p>
          </p:txBody>
        </p:sp>
      </p:grpSp>
      <p:grpSp>
        <p:nvGrpSpPr>
          <p:cNvPr id="43" name="组合 42"/>
          <p:cNvGrpSpPr/>
          <p:nvPr userDrawn="1"/>
        </p:nvGrpSpPr>
        <p:grpSpPr>
          <a:xfrm>
            <a:off x="9756124" y="4086928"/>
            <a:ext cx="1828800" cy="1065530"/>
            <a:chOff x="15336" y="2232"/>
            <a:chExt cx="2880" cy="1678"/>
          </a:xfrm>
        </p:grpSpPr>
        <p:sp>
          <p:nvSpPr>
            <p:cNvPr id="14" name="Rectangle 13"/>
            <p:cNvSpPr/>
            <p:nvPr/>
          </p:nvSpPr>
          <p:spPr>
            <a:xfrm>
              <a:off x="15336" y="2232"/>
              <a:ext cx="2880" cy="1296"/>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595" y="2462"/>
              <a:ext cx="2362" cy="317"/>
            </a:xfrm>
            <a:prstGeom prst="rect">
              <a:avLst/>
            </a:prstGeom>
            <a:noFill/>
          </p:spPr>
          <p:txBody>
            <a:bodyPr wrap="none" lIns="0" tIns="0" rIns="0" bIns="0">
              <a:spAutoFit/>
            </a:bodyPr>
            <a:lstStyle/>
            <a:p>
              <a:pPr algn="l"/>
              <a:r>
                <a:rPr sz="800" b="1">
                  <a:solidFill>
                    <a:srgbClr val="9AA9BD"/>
                  </a:solidFill>
                  <a:latin typeface="Arial" panose="020B0604020202020204"/>
                </a:rPr>
                <a:t>FEATURE 2</a:t>
              </a:r>
              <a:endParaRPr sz="800" b="1">
                <a:solidFill>
                  <a:srgbClr val="9AA9BD"/>
                </a:solidFill>
                <a:latin typeface="Arial" panose="020B0604020202020204"/>
              </a:endParaRPr>
            </a:p>
          </p:txBody>
        </p:sp>
        <p:sp>
          <p:nvSpPr>
            <p:cNvPr id="16" name="TextBox 15"/>
            <p:cNvSpPr txBox="1"/>
            <p:nvPr/>
          </p:nvSpPr>
          <p:spPr>
            <a:xfrm>
              <a:off x="15595" y="2866"/>
              <a:ext cx="2362" cy="634"/>
            </a:xfrm>
            <a:prstGeom prst="rect">
              <a:avLst/>
            </a:prstGeom>
            <a:noFill/>
          </p:spPr>
          <p:txBody>
            <a:bodyPr wrap="none" lIns="0" tIns="0" rIns="0" bIns="0">
              <a:spAutoFit/>
            </a:bodyPr>
            <a:lstStyle/>
            <a:p>
              <a:pPr algn="l"/>
              <a:r>
                <a:rPr sz="2200" b="1">
                  <a:solidFill>
                    <a:srgbClr val="2DD4BF"/>
                  </a:solidFill>
                  <a:latin typeface="Arial" panose="020B0604020202020204"/>
                </a:rPr>
                <a:t>genre</a:t>
              </a:r>
              <a:endParaRPr sz="2200" b="1">
                <a:solidFill>
                  <a:srgbClr val="2DD4BF"/>
                </a:solidFill>
                <a:latin typeface="Arial" panose="020B0604020202020204"/>
              </a:endParaRPr>
            </a:p>
          </p:txBody>
        </p:sp>
        <p:sp>
          <p:nvSpPr>
            <p:cNvPr id="17" name="TextBox 16"/>
            <p:cNvSpPr txBox="1"/>
            <p:nvPr/>
          </p:nvSpPr>
          <p:spPr>
            <a:xfrm>
              <a:off x="15595" y="3571"/>
              <a:ext cx="1947" cy="339"/>
            </a:xfrm>
            <a:prstGeom prst="rect">
              <a:avLst/>
            </a:prstGeom>
            <a:noFill/>
          </p:spPr>
          <p:txBody>
            <a:bodyPr wrap="none" lIns="0" tIns="0" rIns="0" bIns="0">
              <a:spAutoFit/>
            </a:bodyPr>
            <a:lstStyle/>
            <a:p>
              <a:pPr algn="l"/>
              <a:r>
                <a:rPr sz="1400" b="0">
                  <a:solidFill>
                    <a:srgbClr val="9AA9BD"/>
                  </a:solidFill>
                  <a:latin typeface="Arial" panose="020B0604020202020204"/>
                </a:rPr>
                <a:t>OrdinalEncoder</a:t>
              </a:r>
              <a:endParaRPr sz="1400" b="0">
                <a:solidFill>
                  <a:srgbClr val="9AA9BD"/>
                </a:solidFill>
                <a:latin typeface="Arial" panose="020B0604020202020204"/>
              </a:endParaRPr>
            </a:p>
          </p:txBody>
        </p:sp>
      </p:grpSp>
      <p:grpSp>
        <p:nvGrpSpPr>
          <p:cNvPr id="44" name="组合 43"/>
          <p:cNvGrpSpPr/>
          <p:nvPr userDrawn="1"/>
        </p:nvGrpSpPr>
        <p:grpSpPr>
          <a:xfrm>
            <a:off x="7003337" y="5311470"/>
            <a:ext cx="2194560" cy="1065530"/>
            <a:chOff x="11592" y="3960"/>
            <a:chExt cx="3456" cy="1678"/>
          </a:xfrm>
        </p:grpSpPr>
        <p:sp>
          <p:nvSpPr>
            <p:cNvPr id="18" name="Rectangle 17"/>
            <p:cNvSpPr/>
            <p:nvPr/>
          </p:nvSpPr>
          <p:spPr>
            <a:xfrm>
              <a:off x="11592" y="3960"/>
              <a:ext cx="3456" cy="1296"/>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851" y="4190"/>
              <a:ext cx="2938" cy="317"/>
            </a:xfrm>
            <a:prstGeom prst="rect">
              <a:avLst/>
            </a:prstGeom>
            <a:noFill/>
          </p:spPr>
          <p:txBody>
            <a:bodyPr wrap="none" lIns="0" tIns="0" rIns="0" bIns="0">
              <a:spAutoFit/>
            </a:bodyPr>
            <a:lstStyle/>
            <a:p>
              <a:pPr algn="l"/>
              <a:r>
                <a:rPr sz="800" b="1">
                  <a:solidFill>
                    <a:srgbClr val="9AA9BD"/>
                  </a:solidFill>
                  <a:latin typeface="Arial" panose="020B0604020202020204"/>
                </a:rPr>
                <a:t>FEATURE 3</a:t>
              </a:r>
              <a:endParaRPr sz="800" b="1">
                <a:solidFill>
                  <a:srgbClr val="9AA9BD"/>
                </a:solidFill>
                <a:latin typeface="Arial" panose="020B0604020202020204"/>
              </a:endParaRPr>
            </a:p>
          </p:txBody>
        </p:sp>
        <p:sp>
          <p:nvSpPr>
            <p:cNvPr id="20" name="TextBox 19"/>
            <p:cNvSpPr txBox="1"/>
            <p:nvPr/>
          </p:nvSpPr>
          <p:spPr>
            <a:xfrm>
              <a:off x="11851" y="4594"/>
              <a:ext cx="2938" cy="634"/>
            </a:xfrm>
            <a:prstGeom prst="rect">
              <a:avLst/>
            </a:prstGeom>
            <a:noFill/>
          </p:spPr>
          <p:txBody>
            <a:bodyPr wrap="none" lIns="0" tIns="0" rIns="0" bIns="0">
              <a:spAutoFit/>
            </a:bodyPr>
            <a:lstStyle/>
            <a:p>
              <a:pPr algn="l"/>
              <a:r>
                <a:rPr sz="2200" b="1">
                  <a:solidFill>
                    <a:srgbClr val="A855F7"/>
                  </a:solidFill>
                  <a:latin typeface="Arial" panose="020B0604020202020204"/>
                </a:rPr>
                <a:t>month</a:t>
              </a:r>
              <a:endParaRPr sz="2200" b="1">
                <a:solidFill>
                  <a:srgbClr val="A855F7"/>
                </a:solidFill>
                <a:latin typeface="Arial" panose="020B0604020202020204"/>
              </a:endParaRPr>
            </a:p>
          </p:txBody>
        </p:sp>
        <p:sp>
          <p:nvSpPr>
            <p:cNvPr id="21" name="TextBox 20"/>
            <p:cNvSpPr txBox="1"/>
            <p:nvPr/>
          </p:nvSpPr>
          <p:spPr>
            <a:xfrm>
              <a:off x="11851" y="5299"/>
              <a:ext cx="1744" cy="339"/>
            </a:xfrm>
            <a:prstGeom prst="rect">
              <a:avLst/>
            </a:prstGeom>
            <a:noFill/>
          </p:spPr>
          <p:txBody>
            <a:bodyPr wrap="none" lIns="0" tIns="0" rIns="0" bIns="0">
              <a:spAutoFit/>
            </a:bodyPr>
            <a:lstStyle/>
            <a:p>
              <a:pPr algn="l"/>
              <a:r>
                <a:rPr sz="1400" b="0">
                  <a:solidFill>
                    <a:srgbClr val="9AA9BD"/>
                  </a:solidFill>
                  <a:latin typeface="Arial" panose="020B0604020202020204"/>
                </a:rPr>
                <a:t>release timing</a:t>
              </a:r>
              <a:endParaRPr sz="1400" b="0">
                <a:solidFill>
                  <a:srgbClr val="9AA9BD"/>
                </a:solidFill>
                <a:latin typeface="Arial" panose="020B0604020202020204"/>
              </a:endParaRPr>
            </a:p>
          </p:txBody>
        </p:sp>
      </p:grpSp>
      <p:grpSp>
        <p:nvGrpSpPr>
          <p:cNvPr id="45" name="组合 44"/>
          <p:cNvGrpSpPr/>
          <p:nvPr userDrawn="1"/>
        </p:nvGrpSpPr>
        <p:grpSpPr>
          <a:xfrm>
            <a:off x="9756175" y="5311470"/>
            <a:ext cx="1828800" cy="1065530"/>
            <a:chOff x="15336" y="3960"/>
            <a:chExt cx="2880" cy="1678"/>
          </a:xfrm>
        </p:grpSpPr>
        <p:sp>
          <p:nvSpPr>
            <p:cNvPr id="22" name="Rectangle 21"/>
            <p:cNvSpPr/>
            <p:nvPr/>
          </p:nvSpPr>
          <p:spPr>
            <a:xfrm>
              <a:off x="15336" y="3960"/>
              <a:ext cx="2880" cy="1296"/>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595" y="4190"/>
              <a:ext cx="2362" cy="317"/>
            </a:xfrm>
            <a:prstGeom prst="rect">
              <a:avLst/>
            </a:prstGeom>
            <a:noFill/>
          </p:spPr>
          <p:txBody>
            <a:bodyPr wrap="none" lIns="0" tIns="0" rIns="0" bIns="0">
              <a:spAutoFit/>
            </a:bodyPr>
            <a:lstStyle/>
            <a:p>
              <a:pPr algn="l"/>
              <a:r>
                <a:rPr sz="800" b="1">
                  <a:solidFill>
                    <a:srgbClr val="9AA9BD"/>
                  </a:solidFill>
                  <a:latin typeface="Arial" panose="020B0604020202020204"/>
                </a:rPr>
                <a:t>FEATURE 4</a:t>
              </a:r>
              <a:endParaRPr sz="800" b="1">
                <a:solidFill>
                  <a:srgbClr val="9AA9BD"/>
                </a:solidFill>
                <a:latin typeface="Arial" panose="020B0604020202020204"/>
              </a:endParaRPr>
            </a:p>
          </p:txBody>
        </p:sp>
        <p:sp>
          <p:nvSpPr>
            <p:cNvPr id="24" name="TextBox 23"/>
            <p:cNvSpPr txBox="1"/>
            <p:nvPr/>
          </p:nvSpPr>
          <p:spPr>
            <a:xfrm>
              <a:off x="15595" y="4594"/>
              <a:ext cx="2362" cy="634"/>
            </a:xfrm>
            <a:prstGeom prst="rect">
              <a:avLst/>
            </a:prstGeom>
            <a:noFill/>
          </p:spPr>
          <p:txBody>
            <a:bodyPr wrap="none" lIns="0" tIns="0" rIns="0" bIns="0">
              <a:spAutoFit/>
            </a:bodyPr>
            <a:lstStyle/>
            <a:p>
              <a:pPr algn="l"/>
              <a:r>
                <a:rPr sz="2200" b="1">
                  <a:solidFill>
                    <a:srgbClr val="FBBF24"/>
                  </a:solidFill>
                  <a:latin typeface="Arial" panose="020B0604020202020204"/>
                </a:rPr>
                <a:t>runtime</a:t>
              </a:r>
              <a:endParaRPr sz="2200" b="1">
                <a:solidFill>
                  <a:srgbClr val="FBBF24"/>
                </a:solidFill>
                <a:latin typeface="Arial" panose="020B0604020202020204"/>
              </a:endParaRPr>
            </a:p>
          </p:txBody>
        </p:sp>
        <p:sp>
          <p:nvSpPr>
            <p:cNvPr id="25" name="TextBox 24"/>
            <p:cNvSpPr txBox="1"/>
            <p:nvPr/>
          </p:nvSpPr>
          <p:spPr>
            <a:xfrm>
              <a:off x="15595" y="5299"/>
              <a:ext cx="981" cy="339"/>
            </a:xfrm>
            <a:prstGeom prst="rect">
              <a:avLst/>
            </a:prstGeom>
            <a:noFill/>
          </p:spPr>
          <p:txBody>
            <a:bodyPr wrap="none" lIns="0" tIns="0" rIns="0" bIns="0">
              <a:spAutoFit/>
            </a:bodyPr>
            <a:lstStyle/>
            <a:p>
              <a:pPr algn="l"/>
              <a:r>
                <a:rPr sz="1400" b="0">
                  <a:solidFill>
                    <a:srgbClr val="9AA9BD"/>
                  </a:solidFill>
                  <a:latin typeface="Arial" panose="020B0604020202020204"/>
                </a:rPr>
                <a:t>minutes</a:t>
              </a:r>
              <a:endParaRPr sz="1400" b="0">
                <a:solidFill>
                  <a:srgbClr val="9AA9BD"/>
                </a:solidFill>
                <a:latin typeface="Arial" panose="020B0604020202020204"/>
              </a:endParaRPr>
            </a:p>
          </p:txBody>
        </p:sp>
      </p:grpSp>
      <p:grpSp>
        <p:nvGrpSpPr>
          <p:cNvPr id="46" name="组合 45"/>
          <p:cNvGrpSpPr/>
          <p:nvPr userDrawn="1"/>
        </p:nvGrpSpPr>
        <p:grpSpPr>
          <a:xfrm>
            <a:off x="761336" y="3897843"/>
            <a:ext cx="2194560" cy="1079500"/>
            <a:chOff x="1440" y="7272"/>
            <a:chExt cx="3456" cy="1700"/>
          </a:xfrm>
        </p:grpSpPr>
        <p:sp>
          <p:nvSpPr>
            <p:cNvPr id="26" name="Rectangle 25"/>
            <p:cNvSpPr/>
            <p:nvPr/>
          </p:nvSpPr>
          <p:spPr>
            <a:xfrm>
              <a:off x="1440" y="7272"/>
              <a:ext cx="3456" cy="1296"/>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99" y="7502"/>
              <a:ext cx="1354" cy="339"/>
            </a:xfrm>
            <a:prstGeom prst="rect">
              <a:avLst/>
            </a:prstGeom>
            <a:noFill/>
          </p:spPr>
          <p:txBody>
            <a:bodyPr wrap="none" lIns="0" tIns="0" rIns="0" bIns="0">
              <a:spAutoFit/>
            </a:bodyPr>
            <a:lstStyle/>
            <a:p>
              <a:pPr algn="l"/>
              <a:r>
                <a:rPr sz="1400" b="1">
                  <a:solidFill>
                    <a:srgbClr val="9AA9BD"/>
                  </a:solidFill>
                  <a:latin typeface="Arial" panose="020B0604020202020204"/>
                </a:rPr>
                <a:t>REVENUE</a:t>
              </a:r>
              <a:endParaRPr sz="1400" b="1">
                <a:solidFill>
                  <a:srgbClr val="9AA9BD"/>
                </a:solidFill>
                <a:latin typeface="Arial" panose="020B0604020202020204"/>
              </a:endParaRPr>
            </a:p>
          </p:txBody>
        </p:sp>
        <p:sp>
          <p:nvSpPr>
            <p:cNvPr id="28" name="TextBox 27"/>
            <p:cNvSpPr txBox="1"/>
            <p:nvPr/>
          </p:nvSpPr>
          <p:spPr>
            <a:xfrm>
              <a:off x="1699" y="7906"/>
              <a:ext cx="2938" cy="634"/>
            </a:xfrm>
            <a:prstGeom prst="rect">
              <a:avLst/>
            </a:prstGeom>
            <a:noFill/>
          </p:spPr>
          <p:txBody>
            <a:bodyPr wrap="none" lIns="0" tIns="0" rIns="0" bIns="0">
              <a:spAutoFit/>
            </a:bodyPr>
            <a:lstStyle/>
            <a:p>
              <a:pPr algn="l"/>
              <a:r>
                <a:rPr sz="2200" b="1">
                  <a:solidFill>
                    <a:srgbClr val="3B82F6"/>
                  </a:solidFill>
                  <a:latin typeface="Arial" panose="020B0604020202020204"/>
                </a:rPr>
                <a:t>GB Regressor</a:t>
              </a:r>
              <a:endParaRPr sz="2200" b="1">
                <a:solidFill>
                  <a:srgbClr val="3B82F6"/>
                </a:solidFill>
                <a:latin typeface="Arial" panose="020B0604020202020204"/>
              </a:endParaRPr>
            </a:p>
          </p:txBody>
        </p:sp>
        <p:sp>
          <p:nvSpPr>
            <p:cNvPr id="29" name="TextBox 28"/>
            <p:cNvSpPr txBox="1"/>
            <p:nvPr/>
          </p:nvSpPr>
          <p:spPr>
            <a:xfrm>
              <a:off x="1699" y="8634"/>
              <a:ext cx="2260" cy="339"/>
            </a:xfrm>
            <a:prstGeom prst="rect">
              <a:avLst/>
            </a:prstGeom>
            <a:noFill/>
          </p:spPr>
          <p:txBody>
            <a:bodyPr wrap="none" lIns="0" tIns="0" rIns="0" bIns="0">
              <a:spAutoFit/>
            </a:bodyPr>
            <a:lstStyle/>
            <a:p>
              <a:pPr algn="l"/>
              <a:r>
                <a:rPr sz="1400" b="0">
                  <a:solidFill>
                    <a:srgbClr val="9AA9BD"/>
                  </a:solidFill>
                  <a:latin typeface="Arial" panose="020B0604020202020204"/>
                </a:rPr>
                <a:t>log revenue target</a:t>
              </a:r>
              <a:endParaRPr sz="1400" b="0">
                <a:solidFill>
                  <a:srgbClr val="9AA9BD"/>
                </a:solidFill>
                <a:latin typeface="Arial" panose="020B0604020202020204"/>
              </a:endParaRPr>
            </a:p>
          </p:txBody>
        </p:sp>
      </p:grpSp>
      <p:grpSp>
        <p:nvGrpSpPr>
          <p:cNvPr id="47" name="组合 46"/>
          <p:cNvGrpSpPr/>
          <p:nvPr userDrawn="1"/>
        </p:nvGrpSpPr>
        <p:grpSpPr>
          <a:xfrm>
            <a:off x="761336" y="5296901"/>
            <a:ext cx="2194560" cy="1079500"/>
            <a:chOff x="5400" y="7272"/>
            <a:chExt cx="3456" cy="1700"/>
          </a:xfrm>
        </p:grpSpPr>
        <p:sp>
          <p:nvSpPr>
            <p:cNvPr id="30" name="Rectangle 29"/>
            <p:cNvSpPr/>
            <p:nvPr/>
          </p:nvSpPr>
          <p:spPr>
            <a:xfrm>
              <a:off x="5400" y="7272"/>
              <a:ext cx="3456" cy="1296"/>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59" y="7502"/>
              <a:ext cx="498" cy="339"/>
            </a:xfrm>
            <a:prstGeom prst="rect">
              <a:avLst/>
            </a:prstGeom>
            <a:noFill/>
          </p:spPr>
          <p:txBody>
            <a:bodyPr wrap="none" lIns="0" tIns="0" rIns="0" bIns="0">
              <a:spAutoFit/>
            </a:bodyPr>
            <a:lstStyle/>
            <a:p>
              <a:pPr algn="l"/>
              <a:r>
                <a:rPr sz="1400" b="1">
                  <a:solidFill>
                    <a:srgbClr val="9AA9BD"/>
                  </a:solidFill>
                  <a:latin typeface="Arial" panose="020B0604020202020204"/>
                </a:rPr>
                <a:t>ROI</a:t>
              </a:r>
              <a:endParaRPr sz="1400" b="1">
                <a:solidFill>
                  <a:srgbClr val="9AA9BD"/>
                </a:solidFill>
                <a:latin typeface="Arial" panose="020B0604020202020204"/>
              </a:endParaRPr>
            </a:p>
          </p:txBody>
        </p:sp>
        <p:sp>
          <p:nvSpPr>
            <p:cNvPr id="32" name="TextBox 31"/>
            <p:cNvSpPr txBox="1"/>
            <p:nvPr/>
          </p:nvSpPr>
          <p:spPr>
            <a:xfrm>
              <a:off x="5659" y="7906"/>
              <a:ext cx="2938" cy="634"/>
            </a:xfrm>
            <a:prstGeom prst="rect">
              <a:avLst/>
            </a:prstGeom>
            <a:noFill/>
          </p:spPr>
          <p:txBody>
            <a:bodyPr wrap="none" lIns="0" tIns="0" rIns="0" bIns="0">
              <a:spAutoFit/>
            </a:bodyPr>
            <a:lstStyle/>
            <a:p>
              <a:pPr algn="l"/>
              <a:r>
                <a:rPr sz="2200" b="1">
                  <a:solidFill>
                    <a:srgbClr val="A855F7"/>
                  </a:solidFill>
                  <a:latin typeface="Arial" panose="020B0604020202020204"/>
                </a:rPr>
                <a:t>GB Regressor</a:t>
              </a:r>
              <a:endParaRPr sz="2200" b="1">
                <a:solidFill>
                  <a:srgbClr val="A855F7"/>
                </a:solidFill>
                <a:latin typeface="Arial" panose="020B0604020202020204"/>
              </a:endParaRPr>
            </a:p>
          </p:txBody>
        </p:sp>
        <p:sp>
          <p:nvSpPr>
            <p:cNvPr id="33" name="TextBox 32"/>
            <p:cNvSpPr txBox="1"/>
            <p:nvPr/>
          </p:nvSpPr>
          <p:spPr>
            <a:xfrm>
              <a:off x="5659" y="8634"/>
              <a:ext cx="2369" cy="339"/>
            </a:xfrm>
            <a:prstGeom prst="rect">
              <a:avLst/>
            </a:prstGeom>
            <a:noFill/>
          </p:spPr>
          <p:txBody>
            <a:bodyPr wrap="none" lIns="0" tIns="0" rIns="0" bIns="0">
              <a:spAutoFit/>
            </a:bodyPr>
            <a:lstStyle/>
            <a:p>
              <a:pPr algn="l"/>
              <a:r>
                <a:rPr sz="1400" b="0">
                  <a:solidFill>
                    <a:srgbClr val="9AA9BD"/>
                  </a:solidFill>
                  <a:latin typeface="Arial" panose="020B0604020202020204"/>
                </a:rPr>
                <a:t>97th percentile cap</a:t>
              </a:r>
              <a:endParaRPr sz="1400" b="0">
                <a:solidFill>
                  <a:srgbClr val="9AA9BD"/>
                </a:solidFill>
                <a:latin typeface="Arial" panose="020B0604020202020204"/>
              </a:endParaRPr>
            </a:p>
          </p:txBody>
        </p:sp>
      </p:grpSp>
      <p:grpSp>
        <p:nvGrpSpPr>
          <p:cNvPr id="48" name="组合 47"/>
          <p:cNvGrpSpPr/>
          <p:nvPr userDrawn="1"/>
        </p:nvGrpSpPr>
        <p:grpSpPr>
          <a:xfrm>
            <a:off x="3517952" y="3897785"/>
            <a:ext cx="2194560" cy="1080095"/>
            <a:chOff x="9360" y="7272"/>
            <a:chExt cx="3456" cy="1701"/>
          </a:xfrm>
        </p:grpSpPr>
        <p:sp>
          <p:nvSpPr>
            <p:cNvPr id="34" name="Rectangle 33"/>
            <p:cNvSpPr/>
            <p:nvPr/>
          </p:nvSpPr>
          <p:spPr>
            <a:xfrm>
              <a:off x="9360" y="7272"/>
              <a:ext cx="3456" cy="1296"/>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19" y="7502"/>
              <a:ext cx="1027" cy="339"/>
            </a:xfrm>
            <a:prstGeom prst="rect">
              <a:avLst/>
            </a:prstGeom>
            <a:noFill/>
          </p:spPr>
          <p:txBody>
            <a:bodyPr wrap="none" lIns="0" tIns="0" rIns="0" bIns="0">
              <a:spAutoFit/>
            </a:bodyPr>
            <a:lstStyle/>
            <a:p>
              <a:pPr algn="l"/>
              <a:r>
                <a:rPr sz="1400" b="1">
                  <a:solidFill>
                    <a:srgbClr val="9AA9BD"/>
                  </a:solidFill>
                  <a:latin typeface="Arial" panose="020B0604020202020204"/>
                </a:rPr>
                <a:t>PROFIT</a:t>
              </a:r>
              <a:endParaRPr sz="1400" b="1">
                <a:solidFill>
                  <a:srgbClr val="9AA9BD"/>
                </a:solidFill>
                <a:latin typeface="Arial" panose="020B0604020202020204"/>
              </a:endParaRPr>
            </a:p>
          </p:txBody>
        </p:sp>
        <p:sp>
          <p:nvSpPr>
            <p:cNvPr id="36" name="TextBox 35"/>
            <p:cNvSpPr txBox="1"/>
            <p:nvPr/>
          </p:nvSpPr>
          <p:spPr>
            <a:xfrm>
              <a:off x="9619" y="7906"/>
              <a:ext cx="2764" cy="533"/>
            </a:xfrm>
            <a:prstGeom prst="rect">
              <a:avLst/>
            </a:prstGeom>
            <a:noFill/>
          </p:spPr>
          <p:txBody>
            <a:bodyPr wrap="none" lIns="0" tIns="0" rIns="0" bIns="0">
              <a:spAutoFit/>
            </a:bodyPr>
            <a:lstStyle/>
            <a:p>
              <a:pPr marL="0" indent="0" algn="l" defTabSz="457200" rtl="0" eaLnBrk="1" latinLnBrk="0" hangingPunct="1">
                <a:spcBef>
                  <a:spcPct val="0"/>
                </a:spcBef>
                <a:spcAft>
                  <a:spcPct val="0"/>
                </a:spcAft>
                <a:buNone/>
              </a:pPr>
              <a:r>
                <a:rPr sz="2200" b="1">
                  <a:solidFill>
                    <a:srgbClr val="2DD4BF"/>
                  </a:solidFill>
                  <a:latin typeface="Arial" panose="020B0604020202020204" pitchFamily="34" charset="0"/>
                </a:rPr>
                <a:t>GB Classifier</a:t>
              </a:r>
              <a:endParaRPr sz="2200" b="1">
                <a:solidFill>
                  <a:srgbClr val="2DD4BF"/>
                </a:solidFill>
                <a:latin typeface="Arial" panose="020B0604020202020204" pitchFamily="34" charset="0"/>
              </a:endParaRPr>
            </a:p>
          </p:txBody>
        </p:sp>
        <p:sp>
          <p:nvSpPr>
            <p:cNvPr id="37" name="TextBox 36"/>
            <p:cNvSpPr txBox="1"/>
            <p:nvPr/>
          </p:nvSpPr>
          <p:spPr>
            <a:xfrm>
              <a:off x="9619" y="8634"/>
              <a:ext cx="2191" cy="339"/>
            </a:xfrm>
            <a:prstGeom prst="rect">
              <a:avLst/>
            </a:prstGeom>
            <a:noFill/>
          </p:spPr>
          <p:txBody>
            <a:bodyPr wrap="none" lIns="0" tIns="0" rIns="0" bIns="0">
              <a:spAutoFit/>
            </a:bodyPr>
            <a:lstStyle/>
            <a:p>
              <a:pPr algn="l"/>
              <a:r>
                <a:rPr sz="1400" b="0">
                  <a:solidFill>
                    <a:srgbClr val="9AA9BD"/>
                  </a:solidFill>
                  <a:latin typeface="Arial" panose="020B0604020202020204"/>
                </a:rPr>
                <a:t>revenue &gt; budget</a:t>
              </a:r>
              <a:endParaRPr sz="1400" b="0">
                <a:solidFill>
                  <a:srgbClr val="9AA9BD"/>
                </a:solidFill>
                <a:latin typeface="Arial" panose="020B0604020202020204"/>
              </a:endParaRPr>
            </a:p>
          </p:txBody>
        </p:sp>
      </p:grpSp>
      <p:grpSp>
        <p:nvGrpSpPr>
          <p:cNvPr id="49" name="组合 48"/>
          <p:cNvGrpSpPr/>
          <p:nvPr userDrawn="1"/>
        </p:nvGrpSpPr>
        <p:grpSpPr>
          <a:xfrm>
            <a:off x="3517912" y="5296864"/>
            <a:ext cx="2194560" cy="1080135"/>
            <a:chOff x="13320" y="7272"/>
            <a:chExt cx="3456" cy="1701"/>
          </a:xfrm>
        </p:grpSpPr>
        <p:sp>
          <p:nvSpPr>
            <p:cNvPr id="38" name="Rectangle 37"/>
            <p:cNvSpPr/>
            <p:nvPr/>
          </p:nvSpPr>
          <p:spPr>
            <a:xfrm>
              <a:off x="13320" y="7272"/>
              <a:ext cx="3456" cy="1296"/>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3579" y="7502"/>
              <a:ext cx="1192" cy="339"/>
            </a:xfrm>
            <a:prstGeom prst="rect">
              <a:avLst/>
            </a:prstGeom>
            <a:noFill/>
          </p:spPr>
          <p:txBody>
            <a:bodyPr wrap="none" lIns="0" tIns="0" rIns="0" bIns="0">
              <a:spAutoFit/>
            </a:bodyPr>
            <a:lstStyle/>
            <a:p>
              <a:pPr algn="l"/>
              <a:r>
                <a:rPr sz="1400" b="1">
                  <a:solidFill>
                    <a:srgbClr val="9AA9BD"/>
                  </a:solidFill>
                  <a:latin typeface="Arial" panose="020B0604020202020204"/>
                </a:rPr>
                <a:t>PARAMS</a:t>
              </a:r>
              <a:endParaRPr sz="1400" b="1">
                <a:solidFill>
                  <a:srgbClr val="9AA9BD"/>
                </a:solidFill>
                <a:latin typeface="Arial" panose="020B0604020202020204"/>
              </a:endParaRPr>
            </a:p>
          </p:txBody>
        </p:sp>
        <p:sp>
          <p:nvSpPr>
            <p:cNvPr id="40" name="TextBox 39"/>
            <p:cNvSpPr txBox="1"/>
            <p:nvPr/>
          </p:nvSpPr>
          <p:spPr>
            <a:xfrm>
              <a:off x="13579" y="7906"/>
              <a:ext cx="2619" cy="533"/>
            </a:xfrm>
            <a:prstGeom prst="rect">
              <a:avLst/>
            </a:prstGeom>
            <a:noFill/>
          </p:spPr>
          <p:txBody>
            <a:bodyPr wrap="none" lIns="0" tIns="0" rIns="0" bIns="0">
              <a:spAutoFit/>
            </a:bodyPr>
            <a:lstStyle/>
            <a:p>
              <a:pPr algn="l"/>
              <a:r>
                <a:rPr sz="2200" b="1">
                  <a:solidFill>
                    <a:srgbClr val="FBBF24"/>
                  </a:solidFill>
                  <a:latin typeface="Arial" panose="020B0604020202020204"/>
                </a:rPr>
                <a:t>300</a:t>
              </a:r>
              <a:r>
                <a:rPr lang="en-US" altLang="zh-CN" sz="2200" b="1">
                  <a:solidFill>
                    <a:srgbClr val="FBBF24"/>
                  </a:solidFill>
                  <a:latin typeface="Arial" panose="020B0604020202020204"/>
                </a:rPr>
                <a:t> · 4</a:t>
              </a:r>
              <a:r>
                <a:rPr sz="2200" b="1">
                  <a:solidFill>
                    <a:srgbClr val="FBBF24"/>
                  </a:solidFill>
                  <a:latin typeface="Arial" panose="020B0604020202020204"/>
                </a:rPr>
                <a:t> · 0.05</a:t>
              </a:r>
              <a:endParaRPr sz="2200" b="1">
                <a:solidFill>
                  <a:srgbClr val="FBBF24"/>
                </a:solidFill>
                <a:latin typeface="Arial" panose="020B0604020202020204"/>
              </a:endParaRPr>
            </a:p>
          </p:txBody>
        </p:sp>
        <p:sp>
          <p:nvSpPr>
            <p:cNvPr id="41" name="TextBox 40"/>
            <p:cNvSpPr txBox="1"/>
            <p:nvPr/>
          </p:nvSpPr>
          <p:spPr>
            <a:xfrm>
              <a:off x="13579" y="8634"/>
              <a:ext cx="1900" cy="339"/>
            </a:xfrm>
            <a:prstGeom prst="rect">
              <a:avLst/>
            </a:prstGeom>
            <a:noFill/>
          </p:spPr>
          <p:txBody>
            <a:bodyPr wrap="none" lIns="0" tIns="0" rIns="0" bIns="0">
              <a:spAutoFit/>
            </a:bodyPr>
            <a:lstStyle/>
            <a:p>
              <a:pPr algn="l"/>
              <a:r>
                <a:rPr sz="1400" b="0">
                  <a:solidFill>
                    <a:srgbClr val="9AA9BD"/>
                  </a:solidFill>
                  <a:latin typeface="Arial" panose="020B0604020202020204"/>
                </a:rPr>
                <a:t>trees</a:t>
              </a:r>
              <a:r>
                <a:rPr lang="en-US" altLang="zh-CN" sz="1400" b="0">
                  <a:solidFill>
                    <a:srgbClr val="9AA9BD"/>
                  </a:solidFill>
                  <a:latin typeface="Arial" panose="020B0604020202020204"/>
                </a:rPr>
                <a:t>· depth</a:t>
              </a:r>
              <a:r>
                <a:rPr sz="1400" b="0">
                  <a:solidFill>
                    <a:srgbClr val="9AA9BD"/>
                  </a:solidFill>
                  <a:latin typeface="Arial" panose="020B0604020202020204"/>
                </a:rPr>
                <a:t> · lr</a:t>
              </a:r>
              <a:endParaRPr sz="1400" b="0">
                <a:solidFill>
                  <a:srgbClr val="9AA9BD"/>
                </a:solidFill>
                <a:latin typeface="Arial" panose="020B0604020202020204"/>
              </a:endParaRPr>
            </a:p>
          </p:txBody>
        </p:sp>
      </p:grpSp>
      <p:sp>
        <p:nvSpPr>
          <p:cNvPr id="50" name="final-page-marker"/>
          <p:cNvSpPr txBox="1"/>
          <p:nvPr/>
        </p:nvSpPr>
        <p:spPr>
          <a:xfrm>
            <a:off x="10378440" y="6345936"/>
            <a:ext cx="658368" cy="201168"/>
          </a:xfrm>
          <a:prstGeom prst="rect">
            <a:avLst/>
          </a:prstGeom>
          <a:noFill/>
        </p:spPr>
        <p:txBody>
          <a:bodyPr wrap="none">
            <a:spAutoFit/>
          </a:bodyPr>
          <a:lstStyle/>
          <a:p>
            <a:pPr algn="r"/>
            <a:r>
              <a:t>17 / 22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p:sp>
        <p:nvSpPr>
          <p:cNvPr id="3" name="TextBox 2"/>
          <p:cNvSpPr txBox="1"/>
          <p:nvPr/>
        </p:nvSpPr>
        <p:spPr>
          <a:xfrm>
            <a:off x="10607040" y="292608"/>
            <a:ext cx="1005840" cy="219456"/>
          </a:xfrm>
          <a:prstGeom prst="rect">
            <a:avLst/>
          </a:prstGeom>
          <a:noFill/>
        </p:spPr>
        <p:txBody>
          <a:bodyPr wrap="none" lIns="0" tIns="0" rIns="0" bIns="0">
            <a:spAutoFit/>
          </a:bodyPr>
          <a:lstStyle/>
          <a:p>
            <a:pPr algn="r"/>
            <a:r>
              <a:t>18 / 22</a:t>
            </a:r>
            <a:endParaRPr sz="900" b="1">
              <a:solidFill>
                <a:srgbClr val="9AA9BD"/>
              </a:solidFill>
              <a:latin typeface="Arial" panose="020B0604020202020204"/>
            </a:endParaRPr>
          </a:p>
        </p:txBody>
      </p:sp>
      <p:sp>
        <p:nvSpPr>
          <p:cNvPr id="4" name="TextBox 3"/>
          <p:cNvSpPr txBox="1"/>
          <p:nvPr/>
        </p:nvSpPr>
        <p:spPr>
          <a:xfrm>
            <a:off x="502920" y="585216"/>
            <a:ext cx="1676400" cy="415290"/>
          </a:xfrm>
          <a:prstGeom prst="rect">
            <a:avLst/>
          </a:prstGeom>
          <a:noFill/>
        </p:spPr>
        <p:txBody>
          <a:bodyPr wrap="none" lIns="0" tIns="0" rIns="0" bIns="0">
            <a:spAutoFit/>
          </a:bodyPr>
          <a:lstStyle/>
          <a:p>
            <a:pPr algn="l"/>
            <a:r>
              <a:rPr sz="2700" b="1">
                <a:solidFill>
                  <a:srgbClr val="F2F6FF"/>
                </a:solidFill>
                <a:latin typeface="Arial" panose="020B0604020202020204"/>
              </a:rPr>
              <a:t>Prediction</a:t>
            </a:r>
            <a:endParaRPr sz="2700" b="1">
              <a:solidFill>
                <a:srgbClr val="F2F6FF"/>
              </a:solidFill>
              <a:latin typeface="Arial" panose="020B0604020202020204"/>
            </a:endParaRPr>
          </a:p>
        </p:txBody>
      </p:sp>
      <p:sp>
        <p:nvSpPr>
          <p:cNvPr id="6" name="Rectangle 5"/>
          <p:cNvSpPr/>
          <p:nvPr/>
        </p:nvSpPr>
        <p:spPr>
          <a:xfrm>
            <a:off x="502920" y="6291072"/>
            <a:ext cx="11201400" cy="320040"/>
          </a:xfrm>
          <a:prstGeom prst="rect">
            <a:avLst/>
          </a:prstGeom>
          <a:solidFill>
            <a:srgbClr val="0F1C2D"/>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325880"/>
            <a:ext cx="2057400" cy="896112"/>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399992"/>
            <a:ext cx="685800" cy="276860"/>
          </a:xfrm>
          <a:prstGeom prst="rect">
            <a:avLst/>
          </a:prstGeom>
          <a:noFill/>
        </p:spPr>
        <p:txBody>
          <a:bodyPr wrap="none" lIns="0" tIns="0" rIns="0" bIns="0">
            <a:spAutoFit/>
          </a:bodyPr>
          <a:lstStyle/>
          <a:p>
            <a:pPr algn="l"/>
            <a:r>
              <a:rPr b="1">
                <a:solidFill>
                  <a:srgbClr val="9AA9BD"/>
                </a:solidFill>
                <a:latin typeface="Arial" panose="020B0604020202020204"/>
              </a:rPr>
              <a:t>INPUT</a:t>
            </a:r>
            <a:endParaRPr b="1">
              <a:solidFill>
                <a:srgbClr val="9AA9BD"/>
              </a:solidFill>
              <a:latin typeface="Arial" panose="020B0604020202020204"/>
            </a:endParaRPr>
          </a:p>
        </p:txBody>
      </p:sp>
      <p:sp>
        <p:nvSpPr>
          <p:cNvPr id="11" name="TextBox 10"/>
          <p:cNvSpPr txBox="1"/>
          <p:nvPr/>
        </p:nvSpPr>
        <p:spPr>
          <a:xfrm>
            <a:off x="896112" y="1742654"/>
            <a:ext cx="762635" cy="368935"/>
          </a:xfrm>
          <a:prstGeom prst="rect">
            <a:avLst/>
          </a:prstGeom>
          <a:noFill/>
        </p:spPr>
        <p:txBody>
          <a:bodyPr wrap="none" lIns="0" tIns="0" rIns="0" bIns="0">
            <a:spAutoFit/>
          </a:bodyPr>
          <a:lstStyle/>
          <a:p>
            <a:pPr algn="l"/>
            <a:r>
              <a:rPr sz="2400" b="1">
                <a:solidFill>
                  <a:srgbClr val="3B82F6"/>
                </a:solidFill>
                <a:latin typeface="Arial" panose="020B0604020202020204"/>
              </a:rPr>
              <a:t>$80M</a:t>
            </a:r>
            <a:endParaRPr sz="2400" b="1">
              <a:solidFill>
                <a:srgbClr val="3B82F6"/>
              </a:solidFill>
              <a:latin typeface="Arial" panose="020B0604020202020204"/>
            </a:endParaRPr>
          </a:p>
        </p:txBody>
      </p:sp>
      <p:sp>
        <p:nvSpPr>
          <p:cNvPr id="12" name="TextBox 11"/>
          <p:cNvSpPr txBox="1"/>
          <p:nvPr/>
        </p:nvSpPr>
        <p:spPr>
          <a:xfrm>
            <a:off x="766167" y="2248464"/>
            <a:ext cx="2006600" cy="276860"/>
          </a:xfrm>
          <a:prstGeom prst="rect">
            <a:avLst/>
          </a:prstGeom>
          <a:noFill/>
        </p:spPr>
        <p:txBody>
          <a:bodyPr wrap="none" lIns="0" tIns="0" rIns="0" bIns="0">
            <a:spAutoFit/>
          </a:bodyPr>
          <a:lstStyle/>
          <a:p>
            <a:pPr algn="l"/>
            <a:r>
              <a:rPr b="0">
                <a:solidFill>
                  <a:srgbClr val="9AA9BD"/>
                </a:solidFill>
                <a:latin typeface="Arial" panose="020B0604020202020204"/>
              </a:rPr>
              <a:t>Action·July·125 min</a:t>
            </a:r>
            <a:endParaRPr b="0">
              <a:solidFill>
                <a:srgbClr val="9AA9BD"/>
              </a:solidFill>
              <a:latin typeface="Arial" panose="020B0604020202020204"/>
            </a:endParaRPr>
          </a:p>
        </p:txBody>
      </p:sp>
      <p:sp>
        <p:nvSpPr>
          <p:cNvPr id="13" name="Rectangle 12"/>
          <p:cNvSpPr/>
          <p:nvPr/>
        </p:nvSpPr>
        <p:spPr>
          <a:xfrm>
            <a:off x="3063240" y="1325880"/>
            <a:ext cx="2057400" cy="896112"/>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27832" y="1399992"/>
            <a:ext cx="1104900" cy="276860"/>
          </a:xfrm>
          <a:prstGeom prst="rect">
            <a:avLst/>
          </a:prstGeom>
          <a:noFill/>
        </p:spPr>
        <p:txBody>
          <a:bodyPr wrap="none" lIns="0" tIns="0" rIns="0" bIns="0">
            <a:spAutoFit/>
          </a:bodyPr>
          <a:lstStyle/>
          <a:p>
            <a:pPr algn="l"/>
            <a:r>
              <a:rPr b="1">
                <a:solidFill>
                  <a:srgbClr val="9AA9BD"/>
                </a:solidFill>
                <a:latin typeface="Arial" panose="020B0604020202020204"/>
              </a:rPr>
              <a:t>REVENUE</a:t>
            </a:r>
            <a:endParaRPr b="1">
              <a:solidFill>
                <a:srgbClr val="9AA9BD"/>
              </a:solidFill>
              <a:latin typeface="Arial" panose="020B0604020202020204"/>
            </a:endParaRPr>
          </a:p>
        </p:txBody>
      </p:sp>
      <p:sp>
        <p:nvSpPr>
          <p:cNvPr id="15" name="TextBox 14"/>
          <p:cNvSpPr txBox="1"/>
          <p:nvPr/>
        </p:nvSpPr>
        <p:spPr>
          <a:xfrm>
            <a:off x="3227832" y="1742654"/>
            <a:ext cx="1186180" cy="368935"/>
          </a:xfrm>
          <a:prstGeom prst="rect">
            <a:avLst/>
          </a:prstGeom>
          <a:noFill/>
        </p:spPr>
        <p:txBody>
          <a:bodyPr wrap="none" lIns="0" tIns="0" rIns="0" bIns="0">
            <a:spAutoFit/>
          </a:bodyPr>
          <a:lstStyle/>
          <a:p>
            <a:pPr algn="l"/>
            <a:r>
              <a:rPr sz="2400" b="1">
                <a:solidFill>
                  <a:srgbClr val="2DD4BF"/>
                </a:solidFill>
                <a:latin typeface="Arial" panose="020B0604020202020204"/>
              </a:rPr>
              <a:t>$184.1M</a:t>
            </a:r>
            <a:endParaRPr sz="2400" b="1">
              <a:solidFill>
                <a:srgbClr val="2DD4BF"/>
              </a:solidFill>
              <a:latin typeface="Arial" panose="020B0604020202020204"/>
            </a:endParaRPr>
          </a:p>
        </p:txBody>
      </p:sp>
      <p:sp>
        <p:nvSpPr>
          <p:cNvPr id="16" name="TextBox 15"/>
          <p:cNvSpPr txBox="1"/>
          <p:nvPr/>
        </p:nvSpPr>
        <p:spPr>
          <a:xfrm>
            <a:off x="3097887" y="2248464"/>
            <a:ext cx="1981200" cy="276860"/>
          </a:xfrm>
          <a:prstGeom prst="rect">
            <a:avLst/>
          </a:prstGeom>
          <a:noFill/>
        </p:spPr>
        <p:txBody>
          <a:bodyPr wrap="none" lIns="0" tIns="0" rIns="0" bIns="0">
            <a:spAutoFit/>
          </a:bodyPr>
          <a:lstStyle/>
          <a:p>
            <a:pPr algn="l"/>
            <a:r>
              <a:rPr b="0">
                <a:solidFill>
                  <a:srgbClr val="9AA9BD"/>
                </a:solidFill>
                <a:latin typeface="Arial" panose="020B0604020202020204"/>
              </a:rPr>
              <a:t>$132.5M - $261.4M</a:t>
            </a:r>
            <a:endParaRPr b="0">
              <a:solidFill>
                <a:srgbClr val="9AA9BD"/>
              </a:solidFill>
              <a:latin typeface="Arial" panose="020B0604020202020204"/>
            </a:endParaRPr>
          </a:p>
        </p:txBody>
      </p:sp>
      <p:sp>
        <p:nvSpPr>
          <p:cNvPr id="17" name="Rectangle 16"/>
          <p:cNvSpPr/>
          <p:nvPr/>
        </p:nvSpPr>
        <p:spPr>
          <a:xfrm>
            <a:off x="5394960" y="1325880"/>
            <a:ext cx="2057400" cy="896112"/>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59552" y="1399992"/>
            <a:ext cx="406400" cy="276860"/>
          </a:xfrm>
          <a:prstGeom prst="rect">
            <a:avLst/>
          </a:prstGeom>
          <a:noFill/>
        </p:spPr>
        <p:txBody>
          <a:bodyPr wrap="none" lIns="0" tIns="0" rIns="0" bIns="0">
            <a:spAutoFit/>
          </a:bodyPr>
          <a:lstStyle/>
          <a:p>
            <a:pPr algn="l"/>
            <a:r>
              <a:rPr b="1">
                <a:solidFill>
                  <a:srgbClr val="9AA9BD"/>
                </a:solidFill>
                <a:latin typeface="Arial" panose="020B0604020202020204"/>
              </a:rPr>
              <a:t>ROI</a:t>
            </a:r>
            <a:endParaRPr b="1">
              <a:solidFill>
                <a:srgbClr val="9AA9BD"/>
              </a:solidFill>
              <a:latin typeface="Arial" panose="020B0604020202020204"/>
            </a:endParaRPr>
          </a:p>
        </p:txBody>
      </p:sp>
      <p:sp>
        <p:nvSpPr>
          <p:cNvPr id="19" name="TextBox 18"/>
          <p:cNvSpPr txBox="1"/>
          <p:nvPr/>
        </p:nvSpPr>
        <p:spPr>
          <a:xfrm>
            <a:off x="5559552" y="1742654"/>
            <a:ext cx="762635" cy="368935"/>
          </a:xfrm>
          <a:prstGeom prst="rect">
            <a:avLst/>
          </a:prstGeom>
          <a:noFill/>
        </p:spPr>
        <p:txBody>
          <a:bodyPr wrap="none" lIns="0" tIns="0" rIns="0" bIns="0">
            <a:spAutoFit/>
          </a:bodyPr>
          <a:lstStyle/>
          <a:p>
            <a:pPr algn="l"/>
            <a:r>
              <a:rPr sz="2400" b="1">
                <a:solidFill>
                  <a:srgbClr val="A855F7"/>
                </a:solidFill>
                <a:latin typeface="Arial" panose="020B0604020202020204"/>
              </a:rPr>
              <a:t>3.35x</a:t>
            </a:r>
            <a:endParaRPr sz="2400" b="1">
              <a:solidFill>
                <a:srgbClr val="A855F7"/>
              </a:solidFill>
              <a:latin typeface="Arial" panose="020B0604020202020204"/>
            </a:endParaRPr>
          </a:p>
        </p:txBody>
      </p:sp>
      <p:sp>
        <p:nvSpPr>
          <p:cNvPr id="20" name="TextBox 19"/>
          <p:cNvSpPr txBox="1"/>
          <p:nvPr/>
        </p:nvSpPr>
        <p:spPr>
          <a:xfrm>
            <a:off x="5429607" y="2248464"/>
            <a:ext cx="1917700" cy="276860"/>
          </a:xfrm>
          <a:prstGeom prst="rect">
            <a:avLst/>
          </a:prstGeom>
          <a:noFill/>
        </p:spPr>
        <p:txBody>
          <a:bodyPr wrap="none" lIns="0" tIns="0" rIns="0" bIns="0">
            <a:spAutoFit/>
          </a:bodyPr>
          <a:lstStyle/>
          <a:p>
            <a:pPr algn="l"/>
            <a:r>
              <a:rPr b="0">
                <a:solidFill>
                  <a:srgbClr val="9AA9BD"/>
                </a:solidFill>
                <a:latin typeface="Arial" panose="020B0604020202020204"/>
              </a:rPr>
              <a:t>predicted multiplier</a:t>
            </a:r>
            <a:endParaRPr b="0">
              <a:solidFill>
                <a:srgbClr val="9AA9BD"/>
              </a:solidFill>
              <a:latin typeface="Arial" panose="020B0604020202020204"/>
            </a:endParaRPr>
          </a:p>
        </p:txBody>
      </p:sp>
      <p:sp>
        <p:nvSpPr>
          <p:cNvPr id="21" name="Rectangle 20"/>
          <p:cNvSpPr/>
          <p:nvPr/>
        </p:nvSpPr>
        <p:spPr>
          <a:xfrm>
            <a:off x="7726679" y="1325880"/>
            <a:ext cx="2057400" cy="896112"/>
          </a:xfrm>
          <a:prstGeom prst="rect">
            <a:avLst/>
          </a:prstGeom>
          <a:solidFill>
            <a:srgbClr val="122033"/>
          </a:solidFill>
          <a:ln w="1016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91271" y="1399992"/>
            <a:ext cx="1625600" cy="276860"/>
          </a:xfrm>
          <a:prstGeom prst="rect">
            <a:avLst/>
          </a:prstGeom>
          <a:noFill/>
        </p:spPr>
        <p:txBody>
          <a:bodyPr wrap="none" lIns="0" tIns="0" rIns="0" bIns="0">
            <a:spAutoFit/>
          </a:bodyPr>
          <a:lstStyle/>
          <a:p>
            <a:pPr algn="l"/>
            <a:r>
              <a:rPr b="1">
                <a:solidFill>
                  <a:srgbClr val="9AA9BD"/>
                </a:solidFill>
                <a:latin typeface="Arial" panose="020B0604020202020204"/>
              </a:rPr>
              <a:t>PROFIT PROB.</a:t>
            </a:r>
            <a:endParaRPr b="1">
              <a:solidFill>
                <a:srgbClr val="9AA9BD"/>
              </a:solidFill>
              <a:latin typeface="Arial" panose="020B0604020202020204"/>
            </a:endParaRPr>
          </a:p>
        </p:txBody>
      </p:sp>
      <p:sp>
        <p:nvSpPr>
          <p:cNvPr id="23" name="TextBox 22"/>
          <p:cNvSpPr txBox="1"/>
          <p:nvPr/>
        </p:nvSpPr>
        <p:spPr>
          <a:xfrm>
            <a:off x="7891271" y="1742654"/>
            <a:ext cx="864235" cy="368935"/>
          </a:xfrm>
          <a:prstGeom prst="rect">
            <a:avLst/>
          </a:prstGeom>
          <a:noFill/>
        </p:spPr>
        <p:txBody>
          <a:bodyPr wrap="none" lIns="0" tIns="0" rIns="0" bIns="0">
            <a:spAutoFit/>
          </a:bodyPr>
          <a:lstStyle/>
          <a:p>
            <a:pPr algn="l"/>
            <a:r>
              <a:rPr sz="2400" b="1">
                <a:solidFill>
                  <a:srgbClr val="86EFAC"/>
                </a:solidFill>
                <a:latin typeface="Arial" panose="020B0604020202020204"/>
              </a:rPr>
              <a:t>84.9%</a:t>
            </a:r>
            <a:endParaRPr sz="2400" b="1">
              <a:solidFill>
                <a:srgbClr val="86EFAC"/>
              </a:solidFill>
              <a:latin typeface="Arial" panose="020B0604020202020204"/>
            </a:endParaRPr>
          </a:p>
        </p:txBody>
      </p:sp>
      <p:sp>
        <p:nvSpPr>
          <p:cNvPr id="24" name="TextBox 23"/>
          <p:cNvSpPr txBox="1"/>
          <p:nvPr/>
        </p:nvSpPr>
        <p:spPr>
          <a:xfrm>
            <a:off x="7761326" y="2248464"/>
            <a:ext cx="2089150" cy="276860"/>
          </a:xfrm>
          <a:prstGeom prst="rect">
            <a:avLst/>
          </a:prstGeom>
          <a:noFill/>
        </p:spPr>
        <p:txBody>
          <a:bodyPr wrap="none" lIns="0" tIns="0" rIns="0" bIns="0">
            <a:spAutoFit/>
          </a:bodyPr>
          <a:lstStyle/>
          <a:p>
            <a:pPr algn="l"/>
            <a:r>
              <a:rPr b="0">
                <a:solidFill>
                  <a:srgbClr val="9AA9BD"/>
                </a:solidFill>
                <a:latin typeface="Arial" panose="020B0604020202020204"/>
              </a:rPr>
              <a:t>P(revenue &gt; budget)</a:t>
            </a:r>
            <a:endParaRPr b="0">
              <a:solidFill>
                <a:srgbClr val="9AA9BD"/>
              </a:solidFill>
              <a:latin typeface="Arial" panose="020B0604020202020204"/>
            </a:endParaRPr>
          </a:p>
        </p:txBody>
      </p:sp>
      <p:graphicFrame>
        <p:nvGraphicFramePr>
          <p:cNvPr id="25" name="Table 24"/>
          <p:cNvGraphicFramePr>
            <a:graphicFrameLocks noGrp="1"/>
          </p:cNvGraphicFramePr>
          <p:nvPr/>
        </p:nvGraphicFramePr>
        <p:xfrm>
          <a:off x="731520" y="2743200"/>
          <a:ext cx="8030471" cy="2514600"/>
        </p:xfrm>
        <a:graphic>
          <a:graphicData uri="http://schemas.openxmlformats.org/drawingml/2006/table">
            <a:tbl>
              <a:tblPr firstRow="1" bandRow="1">
                <a:tableStyleId>{5C22544A-7EE6-4342-B048-85BDC9FD1C3A}</a:tableStyleId>
              </a:tblPr>
              <a:tblGrid>
                <a:gridCol w="2370626"/>
                <a:gridCol w="808549"/>
                <a:gridCol w="1068440"/>
                <a:gridCol w="1140632"/>
                <a:gridCol w="822988"/>
                <a:gridCol w="909618"/>
                <a:gridCol w="909618"/>
              </a:tblGrid>
              <a:tr h="419100">
                <a:tc>
                  <a:txBody>
                    <a:bodyPr/>
                    <a:lstStyle/>
                    <a:p>
                      <a:pPr algn="ctr">
                        <a:defRPr sz="800" b="1">
                          <a:solidFill>
                            <a:srgbClr val="9AA9BD"/>
                          </a:solidFill>
                          <a:latin typeface="Arial" panose="020B0604020202020204"/>
                        </a:defRPr>
                      </a:pPr>
                      <a:r>
                        <a:rPr sz="1800"/>
                        <a:t>Title</a:t>
                      </a:r>
                      <a:endParaRPr sz="1800"/>
                    </a:p>
                  </a:txBody>
                  <a:tcPr>
                    <a:solidFill>
                      <a:srgbClr val="0F1C2D"/>
                    </a:solidFill>
                  </a:tcPr>
                </a:tc>
                <a:tc>
                  <a:txBody>
                    <a:bodyPr/>
                    <a:lstStyle/>
                    <a:p>
                      <a:pPr algn="ctr">
                        <a:defRPr sz="800" b="1">
                          <a:solidFill>
                            <a:srgbClr val="9AA9BD"/>
                          </a:solidFill>
                          <a:latin typeface="Arial" panose="020B0604020202020204"/>
                        </a:defRPr>
                      </a:pPr>
                      <a:r>
                        <a:rPr sz="1800"/>
                        <a:t>Year</a:t>
                      </a:r>
                      <a:endParaRPr sz="1800"/>
                    </a:p>
                  </a:txBody>
                  <a:tcPr>
                    <a:solidFill>
                      <a:srgbClr val="0F1C2D"/>
                    </a:solidFill>
                  </a:tcPr>
                </a:tc>
                <a:tc>
                  <a:txBody>
                    <a:bodyPr/>
                    <a:lstStyle/>
                    <a:p>
                      <a:pPr algn="ctr">
                        <a:defRPr sz="800" b="1">
                          <a:solidFill>
                            <a:srgbClr val="9AA9BD"/>
                          </a:solidFill>
                          <a:latin typeface="Arial" panose="020B0604020202020204"/>
                        </a:defRPr>
                      </a:pPr>
                      <a:r>
                        <a:rPr sz="1800"/>
                        <a:t>Budget</a:t>
                      </a:r>
                      <a:endParaRPr sz="1800"/>
                    </a:p>
                  </a:txBody>
                  <a:tcPr>
                    <a:solidFill>
                      <a:srgbClr val="0F1C2D"/>
                    </a:solidFill>
                  </a:tcPr>
                </a:tc>
                <a:tc>
                  <a:txBody>
                    <a:bodyPr/>
                    <a:lstStyle/>
                    <a:p>
                      <a:pPr algn="ctr">
                        <a:defRPr sz="800" b="1">
                          <a:solidFill>
                            <a:srgbClr val="9AA9BD"/>
                          </a:solidFill>
                          <a:latin typeface="Arial" panose="020B0604020202020204"/>
                        </a:defRPr>
                      </a:pPr>
                      <a:r>
                        <a:rPr sz="1800"/>
                        <a:t>Revenue</a:t>
                      </a:r>
                      <a:endParaRPr sz="1800"/>
                    </a:p>
                  </a:txBody>
                  <a:tcPr>
                    <a:solidFill>
                      <a:srgbClr val="0F1C2D"/>
                    </a:solidFill>
                  </a:tcPr>
                </a:tc>
                <a:tc>
                  <a:txBody>
                    <a:bodyPr/>
                    <a:lstStyle/>
                    <a:p>
                      <a:pPr algn="ctr">
                        <a:defRPr sz="800" b="1">
                          <a:solidFill>
                            <a:srgbClr val="9AA9BD"/>
                          </a:solidFill>
                          <a:latin typeface="Arial" panose="020B0604020202020204"/>
                        </a:defRPr>
                      </a:pPr>
                      <a:r>
                        <a:rPr sz="1800"/>
                        <a:t>ROI</a:t>
                      </a:r>
                      <a:endParaRPr sz="1800"/>
                    </a:p>
                  </a:txBody>
                  <a:tcPr>
                    <a:solidFill>
                      <a:srgbClr val="0F1C2D"/>
                    </a:solidFill>
                  </a:tcPr>
                </a:tc>
                <a:tc>
                  <a:txBody>
                    <a:bodyPr/>
                    <a:lstStyle/>
                    <a:p>
                      <a:pPr algn="ctr">
                        <a:defRPr sz="800" b="1">
                          <a:solidFill>
                            <a:srgbClr val="9AA9BD"/>
                          </a:solidFill>
                          <a:latin typeface="Arial" panose="020B0604020202020204"/>
                        </a:defRPr>
                      </a:pPr>
                      <a:r>
                        <a:rPr sz="1800"/>
                        <a:t>Rating</a:t>
                      </a:r>
                      <a:endParaRPr sz="1800"/>
                    </a:p>
                  </a:txBody>
                  <a:tcPr>
                    <a:solidFill>
                      <a:srgbClr val="0F1C2D"/>
                    </a:solidFill>
                  </a:tcPr>
                </a:tc>
                <a:tc>
                  <a:txBody>
                    <a:bodyPr/>
                    <a:lstStyle/>
                    <a:p>
                      <a:pPr algn="ctr">
                        <a:defRPr sz="800" b="1">
                          <a:solidFill>
                            <a:srgbClr val="9AA9BD"/>
                          </a:solidFill>
                          <a:latin typeface="Arial" panose="020B0604020202020204"/>
                        </a:defRPr>
                      </a:pPr>
                      <a:r>
                        <a:rPr sz="1800"/>
                        <a:t>Genre</a:t>
                      </a:r>
                      <a:endParaRPr sz="1800"/>
                    </a:p>
                  </a:txBody>
                  <a:tcPr>
                    <a:solidFill>
                      <a:srgbClr val="0F1C2D"/>
                    </a:solidFill>
                  </a:tcPr>
                </a:tc>
              </a:tr>
              <a:tr h="419100">
                <a:tc>
                  <a:txBody>
                    <a:bodyPr/>
                    <a:lstStyle/>
                    <a:p>
                      <a:pPr algn="ctr">
                        <a:defRPr sz="800" b="0">
                          <a:solidFill>
                            <a:srgbClr val="F2F6FF"/>
                          </a:solidFill>
                          <a:latin typeface="Arial" panose="020B0604020202020204"/>
                        </a:defRPr>
                      </a:pPr>
                      <a:r>
                        <a:rPr sz="1800"/>
                        <a:t>Batman Returns</a:t>
                      </a:r>
                      <a:endParaRPr sz="1800"/>
                    </a:p>
                  </a:txBody>
                  <a:tcPr>
                    <a:solidFill>
                      <a:srgbClr val="122033"/>
                    </a:solidFill>
                  </a:tcPr>
                </a:tc>
                <a:tc>
                  <a:txBody>
                    <a:bodyPr/>
                    <a:lstStyle/>
                    <a:p>
                      <a:pPr algn="ctr">
                        <a:defRPr sz="800" b="0">
                          <a:solidFill>
                            <a:srgbClr val="F2F6FF"/>
                          </a:solidFill>
                          <a:latin typeface="Arial" panose="020B0604020202020204"/>
                        </a:defRPr>
                      </a:pPr>
                      <a:r>
                        <a:rPr sz="1800"/>
                        <a:t>1992</a:t>
                      </a:r>
                      <a:endParaRPr sz="1800"/>
                    </a:p>
                  </a:txBody>
                  <a:tcPr>
                    <a:solidFill>
                      <a:srgbClr val="122033"/>
                    </a:solidFill>
                  </a:tcPr>
                </a:tc>
                <a:tc>
                  <a:txBody>
                    <a:bodyPr/>
                    <a:lstStyle/>
                    <a:p>
                      <a:pPr algn="ctr">
                        <a:defRPr sz="800" b="0">
                          <a:solidFill>
                            <a:srgbClr val="F2F6FF"/>
                          </a:solidFill>
                          <a:latin typeface="Arial" panose="020B0604020202020204"/>
                        </a:defRPr>
                      </a:pPr>
                      <a:r>
                        <a:rPr sz="1800"/>
                        <a:t>$80.0M</a:t>
                      </a:r>
                      <a:endParaRPr sz="1800"/>
                    </a:p>
                  </a:txBody>
                  <a:tcPr>
                    <a:solidFill>
                      <a:srgbClr val="122033"/>
                    </a:solidFill>
                  </a:tcPr>
                </a:tc>
                <a:tc>
                  <a:txBody>
                    <a:bodyPr/>
                    <a:lstStyle/>
                    <a:p>
                      <a:pPr algn="ctr">
                        <a:defRPr sz="800" b="0">
                          <a:solidFill>
                            <a:srgbClr val="F2F6FF"/>
                          </a:solidFill>
                          <a:latin typeface="Arial" panose="020B0604020202020204"/>
                        </a:defRPr>
                      </a:pPr>
                      <a:r>
                        <a:rPr sz="1800"/>
                        <a:t>$280.0M</a:t>
                      </a:r>
                      <a:endParaRPr sz="1800"/>
                    </a:p>
                  </a:txBody>
                  <a:tcPr>
                    <a:solidFill>
                      <a:srgbClr val="122033"/>
                    </a:solidFill>
                  </a:tcPr>
                </a:tc>
                <a:tc>
                  <a:txBody>
                    <a:bodyPr/>
                    <a:lstStyle/>
                    <a:p>
                      <a:pPr algn="ctr">
                        <a:defRPr sz="800" b="0">
                          <a:solidFill>
                            <a:srgbClr val="F2F6FF"/>
                          </a:solidFill>
                          <a:latin typeface="Arial" panose="020B0604020202020204"/>
                        </a:defRPr>
                      </a:pPr>
                      <a:r>
                        <a:rPr sz="1800"/>
                        <a:t>3.50x</a:t>
                      </a:r>
                      <a:endParaRPr sz="1800"/>
                    </a:p>
                  </a:txBody>
                  <a:tcPr>
                    <a:solidFill>
                      <a:srgbClr val="122033"/>
                    </a:solidFill>
                  </a:tcPr>
                </a:tc>
                <a:tc>
                  <a:txBody>
                    <a:bodyPr/>
                    <a:lstStyle/>
                    <a:p>
                      <a:pPr algn="ctr">
                        <a:defRPr sz="800" b="0">
                          <a:solidFill>
                            <a:srgbClr val="F2F6FF"/>
                          </a:solidFill>
                          <a:latin typeface="Arial" panose="020B0604020202020204"/>
                        </a:defRPr>
                      </a:pPr>
                      <a:r>
                        <a:rPr sz="1800"/>
                        <a:t>6.2</a:t>
                      </a:r>
                      <a:endParaRPr sz="1800"/>
                    </a:p>
                  </a:txBody>
                  <a:tcPr>
                    <a:solidFill>
                      <a:srgbClr val="122033"/>
                    </a:solidFill>
                  </a:tcPr>
                </a:tc>
                <a:tc>
                  <a:txBody>
                    <a:bodyPr/>
                    <a:lstStyle/>
                    <a:p>
                      <a:pPr algn="ctr">
                        <a:defRPr sz="800" b="0">
                          <a:solidFill>
                            <a:srgbClr val="F2F6FF"/>
                          </a:solidFill>
                          <a:latin typeface="Arial" panose="020B0604020202020204"/>
                        </a:defRPr>
                      </a:pPr>
                      <a:r>
                        <a:rPr sz="1800"/>
                        <a:t>Action</a:t>
                      </a:r>
                      <a:endParaRPr sz="1800"/>
                    </a:p>
                  </a:txBody>
                  <a:tcPr>
                    <a:solidFill>
                      <a:srgbClr val="122033"/>
                    </a:solidFill>
                  </a:tcPr>
                </a:tc>
              </a:tr>
              <a:tr h="419100">
                <a:tc>
                  <a:txBody>
                    <a:bodyPr/>
                    <a:lstStyle/>
                    <a:p>
                      <a:pPr algn="ctr">
                        <a:defRPr sz="800" b="0">
                          <a:solidFill>
                            <a:srgbClr val="F2F6FF"/>
                          </a:solidFill>
                          <a:latin typeface="Arial" panose="020B0604020202020204"/>
                        </a:defRPr>
                      </a:pPr>
                      <a:r>
                        <a:rPr sz="1800"/>
                        <a:t>The Mummy</a:t>
                      </a:r>
                      <a:endParaRPr sz="1800"/>
                    </a:p>
                  </a:txBody>
                  <a:tcPr>
                    <a:solidFill>
                      <a:srgbClr val="07111F"/>
                    </a:solidFill>
                  </a:tcPr>
                </a:tc>
                <a:tc>
                  <a:txBody>
                    <a:bodyPr/>
                    <a:lstStyle/>
                    <a:p>
                      <a:pPr algn="ctr">
                        <a:defRPr sz="800" b="0">
                          <a:solidFill>
                            <a:srgbClr val="F2F6FF"/>
                          </a:solidFill>
                          <a:latin typeface="Arial" panose="020B0604020202020204"/>
                        </a:defRPr>
                      </a:pPr>
                      <a:r>
                        <a:rPr sz="1800"/>
                        <a:t>1999</a:t>
                      </a:r>
                      <a:endParaRPr sz="1800"/>
                    </a:p>
                  </a:txBody>
                  <a:tcPr>
                    <a:solidFill>
                      <a:srgbClr val="07111F"/>
                    </a:solidFill>
                  </a:tcPr>
                </a:tc>
                <a:tc>
                  <a:txBody>
                    <a:bodyPr/>
                    <a:lstStyle/>
                    <a:p>
                      <a:pPr algn="ctr">
                        <a:defRPr sz="800" b="0">
                          <a:solidFill>
                            <a:srgbClr val="F2F6FF"/>
                          </a:solidFill>
                          <a:latin typeface="Arial" panose="020B0604020202020204"/>
                        </a:defRPr>
                      </a:pPr>
                      <a:r>
                        <a:rPr sz="1800"/>
                        <a:t>$80.0M</a:t>
                      </a:r>
                      <a:endParaRPr sz="1800"/>
                    </a:p>
                  </a:txBody>
                  <a:tcPr>
                    <a:solidFill>
                      <a:srgbClr val="07111F"/>
                    </a:solidFill>
                  </a:tcPr>
                </a:tc>
                <a:tc>
                  <a:txBody>
                    <a:bodyPr/>
                    <a:lstStyle/>
                    <a:p>
                      <a:pPr algn="ctr">
                        <a:defRPr sz="800" b="0">
                          <a:solidFill>
                            <a:srgbClr val="F2F6FF"/>
                          </a:solidFill>
                          <a:latin typeface="Arial" panose="020B0604020202020204"/>
                        </a:defRPr>
                      </a:pPr>
                      <a:r>
                        <a:rPr sz="1800"/>
                        <a:t>$415.9M</a:t>
                      </a:r>
                      <a:endParaRPr sz="1800"/>
                    </a:p>
                  </a:txBody>
                  <a:tcPr>
                    <a:solidFill>
                      <a:srgbClr val="07111F"/>
                    </a:solidFill>
                  </a:tcPr>
                </a:tc>
                <a:tc>
                  <a:txBody>
                    <a:bodyPr/>
                    <a:lstStyle/>
                    <a:p>
                      <a:pPr algn="ctr">
                        <a:defRPr sz="800" b="0">
                          <a:solidFill>
                            <a:srgbClr val="F2F6FF"/>
                          </a:solidFill>
                          <a:latin typeface="Arial" panose="020B0604020202020204"/>
                        </a:defRPr>
                      </a:pPr>
                      <a:r>
                        <a:rPr sz="1800"/>
                        <a:t>5.20x</a:t>
                      </a:r>
                      <a:endParaRPr sz="1800"/>
                    </a:p>
                  </a:txBody>
                  <a:tcPr>
                    <a:solidFill>
                      <a:srgbClr val="07111F"/>
                    </a:solidFill>
                  </a:tcPr>
                </a:tc>
                <a:tc>
                  <a:txBody>
                    <a:bodyPr/>
                    <a:lstStyle/>
                    <a:p>
                      <a:pPr algn="ctr">
                        <a:defRPr sz="800" b="0">
                          <a:solidFill>
                            <a:srgbClr val="F2F6FF"/>
                          </a:solidFill>
                          <a:latin typeface="Arial" panose="020B0604020202020204"/>
                        </a:defRPr>
                      </a:pPr>
                      <a:r>
                        <a:rPr sz="1800"/>
                        <a:t>6.6</a:t>
                      </a:r>
                      <a:endParaRPr sz="1800"/>
                    </a:p>
                  </a:txBody>
                  <a:tcPr>
                    <a:solidFill>
                      <a:srgbClr val="07111F"/>
                    </a:solidFill>
                  </a:tcPr>
                </a:tc>
                <a:tc>
                  <a:txBody>
                    <a:bodyPr/>
                    <a:lstStyle/>
                    <a:p>
                      <a:pPr algn="ctr">
                        <a:defRPr sz="800" b="0">
                          <a:solidFill>
                            <a:srgbClr val="F2F6FF"/>
                          </a:solidFill>
                          <a:latin typeface="Arial" panose="020B0604020202020204"/>
                        </a:defRPr>
                      </a:pPr>
                      <a:r>
                        <a:rPr sz="1800"/>
                        <a:t>Action</a:t>
                      </a:r>
                      <a:endParaRPr sz="1800"/>
                    </a:p>
                  </a:txBody>
                  <a:tcPr>
                    <a:solidFill>
                      <a:srgbClr val="07111F"/>
                    </a:solidFill>
                  </a:tcPr>
                </a:tc>
              </a:tr>
              <a:tr h="419100">
                <a:tc>
                  <a:txBody>
                    <a:bodyPr/>
                    <a:lstStyle/>
                    <a:p>
                      <a:pPr algn="ctr">
                        <a:defRPr sz="800" b="0">
                          <a:solidFill>
                            <a:srgbClr val="F2F6FF"/>
                          </a:solidFill>
                          <a:latin typeface="Arial" panose="020B0604020202020204"/>
                        </a:defRPr>
                      </a:pPr>
                      <a:r>
                        <a:rPr sz="1800"/>
                        <a:t>Face/Off</a:t>
                      </a:r>
                      <a:endParaRPr sz="1800"/>
                    </a:p>
                  </a:txBody>
                  <a:tcPr>
                    <a:solidFill>
                      <a:srgbClr val="122033"/>
                    </a:solidFill>
                  </a:tcPr>
                </a:tc>
                <a:tc>
                  <a:txBody>
                    <a:bodyPr/>
                    <a:lstStyle/>
                    <a:p>
                      <a:pPr algn="ctr">
                        <a:defRPr sz="800" b="0">
                          <a:solidFill>
                            <a:srgbClr val="F2F6FF"/>
                          </a:solidFill>
                          <a:latin typeface="Arial" panose="020B0604020202020204"/>
                        </a:defRPr>
                      </a:pPr>
                      <a:r>
                        <a:rPr sz="1800"/>
                        <a:t>1997</a:t>
                      </a:r>
                      <a:endParaRPr sz="1800"/>
                    </a:p>
                  </a:txBody>
                  <a:tcPr>
                    <a:solidFill>
                      <a:srgbClr val="122033"/>
                    </a:solidFill>
                  </a:tcPr>
                </a:tc>
                <a:tc>
                  <a:txBody>
                    <a:bodyPr/>
                    <a:lstStyle/>
                    <a:p>
                      <a:pPr algn="ctr">
                        <a:defRPr sz="800" b="0">
                          <a:solidFill>
                            <a:srgbClr val="F2F6FF"/>
                          </a:solidFill>
                          <a:latin typeface="Arial" panose="020B0604020202020204"/>
                        </a:defRPr>
                      </a:pPr>
                      <a:r>
                        <a:rPr sz="1800"/>
                        <a:t>$80.0M</a:t>
                      </a:r>
                      <a:endParaRPr sz="1800"/>
                    </a:p>
                  </a:txBody>
                  <a:tcPr>
                    <a:solidFill>
                      <a:srgbClr val="122033"/>
                    </a:solidFill>
                  </a:tcPr>
                </a:tc>
                <a:tc>
                  <a:txBody>
                    <a:bodyPr/>
                    <a:lstStyle/>
                    <a:p>
                      <a:pPr algn="ctr">
                        <a:defRPr sz="800" b="0">
                          <a:solidFill>
                            <a:srgbClr val="F2F6FF"/>
                          </a:solidFill>
                          <a:latin typeface="Arial" panose="020B0604020202020204"/>
                        </a:defRPr>
                      </a:pPr>
                      <a:r>
                        <a:rPr sz="1800"/>
                        <a:t>$245.7M</a:t>
                      </a:r>
                      <a:endParaRPr sz="1800"/>
                    </a:p>
                  </a:txBody>
                  <a:tcPr>
                    <a:solidFill>
                      <a:srgbClr val="122033"/>
                    </a:solidFill>
                  </a:tcPr>
                </a:tc>
                <a:tc>
                  <a:txBody>
                    <a:bodyPr/>
                    <a:lstStyle/>
                    <a:p>
                      <a:pPr algn="ctr">
                        <a:defRPr sz="800" b="0">
                          <a:solidFill>
                            <a:srgbClr val="F2F6FF"/>
                          </a:solidFill>
                          <a:latin typeface="Arial" panose="020B0604020202020204"/>
                        </a:defRPr>
                      </a:pPr>
                      <a:r>
                        <a:rPr sz="1800"/>
                        <a:t>3.07x</a:t>
                      </a:r>
                      <a:endParaRPr sz="1800"/>
                    </a:p>
                  </a:txBody>
                  <a:tcPr>
                    <a:solidFill>
                      <a:srgbClr val="122033"/>
                    </a:solidFill>
                  </a:tcPr>
                </a:tc>
                <a:tc>
                  <a:txBody>
                    <a:bodyPr/>
                    <a:lstStyle/>
                    <a:p>
                      <a:pPr algn="ctr">
                        <a:defRPr sz="800" b="0">
                          <a:solidFill>
                            <a:srgbClr val="F2F6FF"/>
                          </a:solidFill>
                          <a:latin typeface="Arial" panose="020B0604020202020204"/>
                        </a:defRPr>
                      </a:pPr>
                      <a:r>
                        <a:rPr sz="1800"/>
                        <a:t>6.9</a:t>
                      </a:r>
                      <a:endParaRPr sz="1800"/>
                    </a:p>
                  </a:txBody>
                  <a:tcPr>
                    <a:solidFill>
                      <a:srgbClr val="122033"/>
                    </a:solidFill>
                  </a:tcPr>
                </a:tc>
                <a:tc>
                  <a:txBody>
                    <a:bodyPr/>
                    <a:lstStyle/>
                    <a:p>
                      <a:pPr algn="ctr">
                        <a:defRPr sz="800" b="0">
                          <a:solidFill>
                            <a:srgbClr val="F2F6FF"/>
                          </a:solidFill>
                          <a:latin typeface="Arial" panose="020B0604020202020204"/>
                        </a:defRPr>
                      </a:pPr>
                      <a:r>
                        <a:rPr sz="1800"/>
                        <a:t>Action</a:t>
                      </a:r>
                      <a:endParaRPr sz="1800"/>
                    </a:p>
                  </a:txBody>
                  <a:tcPr>
                    <a:solidFill>
                      <a:srgbClr val="122033"/>
                    </a:solidFill>
                  </a:tcPr>
                </a:tc>
              </a:tr>
              <a:tr h="419100">
                <a:tc>
                  <a:txBody>
                    <a:bodyPr/>
                    <a:lstStyle/>
                    <a:p>
                      <a:pPr algn="ctr">
                        <a:defRPr sz="800" b="0">
                          <a:solidFill>
                            <a:srgbClr val="F2F6FF"/>
                          </a:solidFill>
                          <a:latin typeface="Arial" panose="020B0604020202020204"/>
                        </a:defRPr>
                      </a:pPr>
                      <a:r>
                        <a:rPr sz="1800"/>
                        <a:t>Mission: Impossible</a:t>
                      </a:r>
                      <a:endParaRPr sz="1800"/>
                    </a:p>
                  </a:txBody>
                  <a:tcPr>
                    <a:solidFill>
                      <a:srgbClr val="07111F"/>
                    </a:solidFill>
                  </a:tcPr>
                </a:tc>
                <a:tc>
                  <a:txBody>
                    <a:bodyPr/>
                    <a:lstStyle/>
                    <a:p>
                      <a:pPr algn="ctr">
                        <a:defRPr sz="800" b="0">
                          <a:solidFill>
                            <a:srgbClr val="F2F6FF"/>
                          </a:solidFill>
                          <a:latin typeface="Arial" panose="020B0604020202020204"/>
                        </a:defRPr>
                      </a:pPr>
                      <a:r>
                        <a:rPr sz="1800"/>
                        <a:t>1996</a:t>
                      </a:r>
                      <a:endParaRPr sz="1800"/>
                    </a:p>
                  </a:txBody>
                  <a:tcPr>
                    <a:solidFill>
                      <a:srgbClr val="07111F"/>
                    </a:solidFill>
                  </a:tcPr>
                </a:tc>
                <a:tc>
                  <a:txBody>
                    <a:bodyPr/>
                    <a:lstStyle/>
                    <a:p>
                      <a:pPr algn="ctr">
                        <a:defRPr sz="800" b="0">
                          <a:solidFill>
                            <a:srgbClr val="F2F6FF"/>
                          </a:solidFill>
                          <a:latin typeface="Arial" panose="020B0604020202020204"/>
                        </a:defRPr>
                      </a:pPr>
                      <a:r>
                        <a:rPr sz="1800"/>
                        <a:t>$80.0M</a:t>
                      </a:r>
                      <a:endParaRPr sz="1800"/>
                    </a:p>
                  </a:txBody>
                  <a:tcPr>
                    <a:solidFill>
                      <a:srgbClr val="07111F"/>
                    </a:solidFill>
                  </a:tcPr>
                </a:tc>
                <a:tc>
                  <a:txBody>
                    <a:bodyPr/>
                    <a:lstStyle/>
                    <a:p>
                      <a:pPr algn="ctr">
                        <a:defRPr sz="800" b="0">
                          <a:solidFill>
                            <a:srgbClr val="F2F6FF"/>
                          </a:solidFill>
                          <a:latin typeface="Arial" panose="020B0604020202020204"/>
                        </a:defRPr>
                      </a:pPr>
                      <a:r>
                        <a:rPr sz="1800"/>
                        <a:t>$457.7M</a:t>
                      </a:r>
                      <a:endParaRPr sz="1800"/>
                    </a:p>
                  </a:txBody>
                  <a:tcPr>
                    <a:solidFill>
                      <a:srgbClr val="07111F"/>
                    </a:solidFill>
                  </a:tcPr>
                </a:tc>
                <a:tc>
                  <a:txBody>
                    <a:bodyPr/>
                    <a:lstStyle/>
                    <a:p>
                      <a:pPr algn="ctr">
                        <a:defRPr sz="800" b="0">
                          <a:solidFill>
                            <a:srgbClr val="F2F6FF"/>
                          </a:solidFill>
                          <a:latin typeface="Arial" panose="020B0604020202020204"/>
                        </a:defRPr>
                      </a:pPr>
                      <a:r>
                        <a:rPr sz="1800"/>
                        <a:t>5.72x</a:t>
                      </a:r>
                      <a:endParaRPr sz="1800"/>
                    </a:p>
                  </a:txBody>
                  <a:tcPr>
                    <a:solidFill>
                      <a:srgbClr val="07111F"/>
                    </a:solidFill>
                  </a:tcPr>
                </a:tc>
                <a:tc>
                  <a:txBody>
                    <a:bodyPr/>
                    <a:lstStyle/>
                    <a:p>
                      <a:pPr algn="ctr">
                        <a:defRPr sz="800" b="0">
                          <a:solidFill>
                            <a:srgbClr val="F2F6FF"/>
                          </a:solidFill>
                          <a:latin typeface="Arial" panose="020B0604020202020204"/>
                        </a:defRPr>
                      </a:pPr>
                      <a:r>
                        <a:rPr sz="1800"/>
                        <a:t>7.1</a:t>
                      </a:r>
                      <a:endParaRPr sz="1800"/>
                    </a:p>
                  </a:txBody>
                  <a:tcPr>
                    <a:solidFill>
                      <a:srgbClr val="07111F"/>
                    </a:solidFill>
                  </a:tcPr>
                </a:tc>
                <a:tc>
                  <a:txBody>
                    <a:bodyPr/>
                    <a:lstStyle/>
                    <a:p>
                      <a:pPr algn="ctr">
                        <a:defRPr sz="800" b="0">
                          <a:solidFill>
                            <a:srgbClr val="F2F6FF"/>
                          </a:solidFill>
                          <a:latin typeface="Arial" panose="020B0604020202020204"/>
                        </a:defRPr>
                      </a:pPr>
                      <a:r>
                        <a:rPr sz="1800"/>
                        <a:t>Action</a:t>
                      </a:r>
                      <a:endParaRPr sz="1800"/>
                    </a:p>
                  </a:txBody>
                  <a:tcPr>
                    <a:solidFill>
                      <a:srgbClr val="07111F"/>
                    </a:solidFill>
                  </a:tcPr>
                </a:tc>
              </a:tr>
              <a:tr h="419100">
                <a:tc>
                  <a:txBody>
                    <a:bodyPr/>
                    <a:lstStyle/>
                    <a:p>
                      <a:pPr algn="ctr">
                        <a:defRPr sz="800" b="0">
                          <a:solidFill>
                            <a:srgbClr val="F2F6FF"/>
                          </a:solidFill>
                          <a:latin typeface="Arial" panose="020B0604020202020204"/>
                        </a:defRPr>
                      </a:pPr>
                      <a:r>
                        <a:rPr sz="1800"/>
                        <a:t>The Time Machine</a:t>
                      </a:r>
                      <a:endParaRPr sz="1800"/>
                    </a:p>
                  </a:txBody>
                  <a:tcPr>
                    <a:solidFill>
                      <a:srgbClr val="122033"/>
                    </a:solidFill>
                  </a:tcPr>
                </a:tc>
                <a:tc>
                  <a:txBody>
                    <a:bodyPr/>
                    <a:lstStyle/>
                    <a:p>
                      <a:pPr algn="ctr">
                        <a:defRPr sz="800" b="0">
                          <a:solidFill>
                            <a:srgbClr val="F2F6FF"/>
                          </a:solidFill>
                          <a:latin typeface="Arial" panose="020B0604020202020204"/>
                        </a:defRPr>
                      </a:pPr>
                      <a:r>
                        <a:rPr sz="1800"/>
                        <a:t>2002</a:t>
                      </a:r>
                      <a:endParaRPr sz="1800"/>
                    </a:p>
                  </a:txBody>
                  <a:tcPr>
                    <a:solidFill>
                      <a:srgbClr val="122033"/>
                    </a:solidFill>
                  </a:tcPr>
                </a:tc>
                <a:tc>
                  <a:txBody>
                    <a:bodyPr/>
                    <a:lstStyle/>
                    <a:p>
                      <a:pPr algn="ctr">
                        <a:defRPr sz="800" b="0">
                          <a:solidFill>
                            <a:srgbClr val="F2F6FF"/>
                          </a:solidFill>
                          <a:latin typeface="Arial" panose="020B0604020202020204"/>
                        </a:defRPr>
                      </a:pPr>
                      <a:r>
                        <a:rPr sz="1800"/>
                        <a:t>$80.0M</a:t>
                      </a:r>
                      <a:endParaRPr sz="1800"/>
                    </a:p>
                  </a:txBody>
                  <a:tcPr>
                    <a:solidFill>
                      <a:srgbClr val="122033"/>
                    </a:solidFill>
                  </a:tcPr>
                </a:tc>
                <a:tc>
                  <a:txBody>
                    <a:bodyPr/>
                    <a:lstStyle/>
                    <a:p>
                      <a:pPr algn="ctr">
                        <a:defRPr sz="800" b="0">
                          <a:solidFill>
                            <a:srgbClr val="F2F6FF"/>
                          </a:solidFill>
                          <a:latin typeface="Arial" panose="020B0604020202020204"/>
                        </a:defRPr>
                      </a:pPr>
                      <a:r>
                        <a:rPr sz="1800"/>
                        <a:t>$123.7M</a:t>
                      </a:r>
                      <a:endParaRPr sz="1800"/>
                    </a:p>
                  </a:txBody>
                  <a:tcPr>
                    <a:solidFill>
                      <a:srgbClr val="122033"/>
                    </a:solidFill>
                  </a:tcPr>
                </a:tc>
                <a:tc>
                  <a:txBody>
                    <a:bodyPr/>
                    <a:lstStyle/>
                    <a:p>
                      <a:pPr algn="ctr">
                        <a:defRPr sz="800" b="0">
                          <a:solidFill>
                            <a:srgbClr val="F2F6FF"/>
                          </a:solidFill>
                          <a:latin typeface="Arial" panose="020B0604020202020204"/>
                        </a:defRPr>
                      </a:pPr>
                      <a:r>
                        <a:rPr sz="1800"/>
                        <a:t>1.55x</a:t>
                      </a:r>
                      <a:endParaRPr sz="1800"/>
                    </a:p>
                  </a:txBody>
                  <a:tcPr>
                    <a:solidFill>
                      <a:srgbClr val="122033"/>
                    </a:solidFill>
                  </a:tcPr>
                </a:tc>
                <a:tc>
                  <a:txBody>
                    <a:bodyPr/>
                    <a:lstStyle/>
                    <a:p>
                      <a:pPr algn="ctr">
                        <a:defRPr sz="800" b="0">
                          <a:solidFill>
                            <a:srgbClr val="F2F6FF"/>
                          </a:solidFill>
                          <a:latin typeface="Arial" panose="020B0604020202020204"/>
                        </a:defRPr>
                      </a:pPr>
                      <a:r>
                        <a:rPr sz="1800"/>
                        <a:t>4.3</a:t>
                      </a:r>
                      <a:endParaRPr sz="1800"/>
                    </a:p>
                  </a:txBody>
                  <a:tcPr>
                    <a:solidFill>
                      <a:srgbClr val="122033"/>
                    </a:solidFill>
                  </a:tcPr>
                </a:tc>
                <a:tc>
                  <a:txBody>
                    <a:bodyPr/>
                    <a:lstStyle/>
                    <a:p>
                      <a:pPr algn="ctr">
                        <a:defRPr sz="800" b="0">
                          <a:solidFill>
                            <a:srgbClr val="F2F6FF"/>
                          </a:solidFill>
                          <a:latin typeface="Arial" panose="020B0604020202020204"/>
                        </a:defRPr>
                      </a:pPr>
                      <a:r>
                        <a:rPr sz="1800"/>
                        <a:t>Action</a:t>
                      </a:r>
                      <a:endParaRPr sz="1800"/>
                    </a:p>
                  </a:txBody>
                  <a:tcPr>
                    <a:solidFill>
                      <a:srgbClr val="122033"/>
                    </a:solidFill>
                  </a:tcPr>
                </a:tc>
              </a:tr>
            </a:tbl>
          </a:graphicData>
        </a:graphic>
      </p:graphicFrame>
      <p:sp>
        <p:nvSpPr>
          <p:cNvPr id="26" name="TextBox 25"/>
          <p:cNvSpPr txBox="1"/>
          <p:nvPr/>
        </p:nvSpPr>
        <p:spPr>
          <a:xfrm>
            <a:off x="748363" y="5379552"/>
            <a:ext cx="9156700" cy="276860"/>
          </a:xfrm>
          <a:prstGeom prst="rect">
            <a:avLst/>
          </a:prstGeom>
          <a:noFill/>
        </p:spPr>
        <p:txBody>
          <a:bodyPr wrap="none" lIns="0" tIns="0" rIns="0" bIns="0">
            <a:spAutoFit/>
          </a:bodyPr>
          <a:lstStyle/>
          <a:p>
            <a:pPr algn="l"/>
            <a:r>
              <a:rPr b="0">
                <a:solidFill>
                  <a:srgbClr val="9AA9BD"/>
                </a:solidFill>
                <a:latin typeface="Arial" panose="020B0604020202020204"/>
              </a:rPr>
              <a:t>Comparable rows are real films selected by nearest budget within the same primary genre.</a:t>
            </a:r>
            <a:endParaRPr b="0">
              <a:solidFill>
                <a:srgbClr val="9AA9BD"/>
              </a:solidFill>
              <a:latin typeface="Arial" panose="020B0604020202020204"/>
            </a:endParaRPr>
          </a:p>
        </p:txBody>
      </p:sp>
      <p:sp>
        <p:nvSpPr>
          <p:cNvPr id="27" name="final-page-marker"/>
          <p:cNvSpPr txBox="1"/>
          <p:nvPr/>
        </p:nvSpPr>
        <p:spPr>
          <a:xfrm>
            <a:off x="10378440" y="6345936"/>
            <a:ext cx="658368" cy="201168"/>
          </a:xfrm>
          <a:prstGeom prst="rect">
            <a:avLst/>
          </a:prstGeom>
          <a:noFill/>
        </p:spPr>
        <p:txBody>
          <a:bodyPr wrap="none">
            <a:spAutoFit/>
          </a:bodyPr>
          <a:lstStyle/>
          <a:p>
            <a:pPr algn="r"/>
            <a:r>
              <a:t>18 / 22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p:pic>
        <p:nvPicPr>
          <p:cNvPr id="26" name="图片 25"/>
          <p:cNvPicPr>
            <a:picLocks noChangeAspect="1"/>
          </p:cNvPicPr>
          <p:nvPr/>
        </p:nvPicPr>
        <p:blipFill>
          <a:blip r:embed="rId1"/>
          <a:stretch>
            <a:fillRect/>
          </a:stretch>
        </p:blipFill>
        <p:spPr>
          <a:xfrm>
            <a:off x="-12441" y="0"/>
            <a:ext cx="12216217" cy="6857988"/>
          </a:xfrm>
          <a:prstGeom prst="rect">
            <a:avLst/>
          </a:prstGeom>
        </p:spPr>
      </p:pic>
      <p:sp>
        <p:nvSpPr>
          <p:cNvPr id="2" name="TextBox 1"/>
          <p:cNvSpPr txBox="1"/>
          <p:nvPr/>
        </p:nvSpPr>
        <p:spPr>
          <a:xfrm>
            <a:off x="502920" y="292608"/>
            <a:ext cx="692150" cy="138430"/>
          </a:xfrm>
          <a:prstGeom prst="rect">
            <a:avLst/>
          </a:prstGeom>
          <a:noFill/>
        </p:spPr>
        <p:txBody>
          <a:bodyPr wrap="none" lIns="0" tIns="0" rIns="0" bIns="0">
            <a:spAutoFit/>
          </a:bodyPr>
          <a:lstStyle/>
          <a:p>
            <a:pPr algn="l"/>
            <a:r>
              <a:rPr sz="900" b="1">
                <a:solidFill>
                  <a:srgbClr val="3B82F6"/>
                </a:solidFill>
                <a:latin typeface="Arial" panose="020B0604020202020204" pitchFamily="34" charset="0"/>
              </a:rPr>
              <a:t>C</a:t>
            </a:r>
            <a:r>
              <a:rPr lang="en-US" altLang="zh-CN" sz="900" b="1">
                <a:solidFill>
                  <a:srgbClr val="3B82F6"/>
                </a:solidFill>
                <a:latin typeface="Arial" panose="020B0604020202020204" pitchFamily="34" charset="0"/>
              </a:rPr>
              <a:t>hen Ziming</a:t>
            </a:r>
            <a:endParaRPr>
              <a:latin typeface="Arial" panose="020B0604020202020204"/>
            </a:endParaRPr>
          </a:p>
        </p:txBody>
      </p:sp>
      <p:sp>
        <p:nvSpPr>
          <p:cNvPr id="3" name="TextBox 2"/>
          <p:cNvSpPr txBox="1"/>
          <p:nvPr/>
        </p:nvSpPr>
        <p:spPr>
          <a:xfrm>
            <a:off x="10607040" y="292608"/>
            <a:ext cx="1005840" cy="219456"/>
          </a:xfrm>
          <a:prstGeom prst="rect">
            <a:avLst/>
          </a:prstGeom>
          <a:noFill/>
        </p:spPr>
        <p:txBody>
          <a:bodyPr wrap="none" lIns="0" tIns="0" rIns="0" bIns="0">
            <a:spAutoFit/>
          </a:bodyPr>
          <a:lstStyle/>
          <a:p>
            <a:pPr algn="r"/>
            <a:r>
              <a:t>19 / 22</a:t>
            </a:r>
            <a:endParaRPr sz="900" b="1">
              <a:solidFill>
                <a:srgbClr val="9AA9BD"/>
              </a:solidFill>
              <a:latin typeface="Arial" panose="020B0604020202020204"/>
            </a:endParaRPr>
          </a:p>
        </p:txBody>
      </p:sp>
      <p:sp>
        <p:nvSpPr>
          <p:cNvPr id="4" name="TextBox 3"/>
          <p:cNvSpPr txBox="1"/>
          <p:nvPr/>
        </p:nvSpPr>
        <p:spPr>
          <a:xfrm>
            <a:off x="502920" y="585216"/>
            <a:ext cx="7066915" cy="415290"/>
          </a:xfrm>
          <a:prstGeom prst="rect">
            <a:avLst/>
          </a:prstGeom>
          <a:noFill/>
        </p:spPr>
        <p:txBody>
          <a:bodyPr wrap="none" lIns="0" tIns="0" rIns="0" bIns="0">
            <a:spAutoFit/>
          </a:bodyPr>
          <a:lstStyle/>
          <a:p>
            <a:pPr algn="l"/>
            <a:r>
              <a:rPr lang="en-US" altLang="zh-CN" sz="2700" b="1">
                <a:solidFill>
                  <a:srgbClr val="F2F6FF"/>
                </a:solidFill>
                <a:latin typeface="Arial" panose="020B0604020202020204"/>
              </a:rPr>
              <a:t>Insights View — Automated Data Discovery</a:t>
            </a:r>
            <a:endParaRPr lang="en-US" altLang="zh-CN" sz="2700" b="1">
              <a:solidFill>
                <a:srgbClr val="F2F6FF"/>
              </a:solidFill>
              <a:latin typeface="Arial" panose="020B0604020202020204"/>
            </a:endParaRPr>
          </a:p>
        </p:txBody>
      </p:sp>
      <p:sp>
        <p:nvSpPr>
          <p:cNvPr id="5" name="TextBox 4"/>
          <p:cNvSpPr txBox="1"/>
          <p:nvPr/>
        </p:nvSpPr>
        <p:spPr>
          <a:xfrm>
            <a:off x="530352" y="1042415"/>
            <a:ext cx="7453630" cy="184150"/>
          </a:xfrm>
          <a:prstGeom prst="rect">
            <a:avLst/>
          </a:prstGeom>
          <a:noFill/>
        </p:spPr>
        <p:txBody>
          <a:bodyPr wrap="none" lIns="0" tIns="0" rIns="0" bIns="0">
            <a:spAutoFit/>
          </a:bodyPr>
          <a:lstStyle/>
          <a:p>
            <a:pPr algn="l"/>
            <a:r>
              <a:rPr lang="en-US" altLang="zh-CN" sz="1200" b="0">
                <a:solidFill>
                  <a:srgbClr val="9AA9BD"/>
                </a:solidFill>
                <a:latin typeface="Arial" panose="020B0604020202020204"/>
              </a:rPr>
              <a:t>Four headline KPIs + four trend charts + two qualitative findings, all recomputed live from 5,375 validated films.</a:t>
            </a:r>
            <a:endParaRPr lang="en-US" altLang="zh-CN" sz="1200" b="0">
              <a:solidFill>
                <a:srgbClr val="9AA9BD"/>
              </a:solidFill>
              <a:latin typeface="Arial" panose="020B0604020202020204"/>
            </a:endParaRPr>
          </a:p>
        </p:txBody>
      </p:sp>
      <p:sp>
        <p:nvSpPr>
          <p:cNvPr id="6" name="Rectangle 5"/>
          <p:cNvSpPr/>
          <p:nvPr/>
        </p:nvSpPr>
        <p:spPr>
          <a:xfrm>
            <a:off x="502920" y="6291072"/>
            <a:ext cx="11201400" cy="320040"/>
          </a:xfrm>
          <a:prstGeom prst="rect">
            <a:avLst/>
          </a:prstGeom>
          <a:solidFill>
            <a:srgbClr val="0F1C2D"/>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图片 34" descr="post_object_image_2626416941"/>
          <p:cNvPicPr>
            <a:picLocks noChangeAspect="1"/>
          </p:cNvPicPr>
          <p:nvPr/>
        </p:nvPicPr>
        <p:blipFill>
          <a:blip r:embed="rId2"/>
          <a:stretch>
            <a:fillRect/>
          </a:stretch>
        </p:blipFill>
        <p:spPr>
          <a:xfrm>
            <a:off x="914241" y="1560221"/>
            <a:ext cx="10362854" cy="4233041"/>
          </a:xfrm>
          <a:prstGeom prst="rect">
            <a:avLst/>
          </a:prstGeom>
        </p:spPr>
      </p:pic>
      <p:pic>
        <p:nvPicPr>
          <p:cNvPr id="21" name="图片 20" descr="post_object_image_1025654708"/>
          <p:cNvPicPr>
            <a:picLocks noChangeAspect="1"/>
          </p:cNvPicPr>
          <p:nvPr/>
        </p:nvPicPr>
        <p:blipFill>
          <a:blip r:embed="rId3"/>
          <a:stretch>
            <a:fillRect/>
          </a:stretch>
        </p:blipFill>
        <p:spPr>
          <a:xfrm>
            <a:off x="1112487" y="1614974"/>
            <a:ext cx="2430528" cy="1180330"/>
          </a:xfrm>
          <a:prstGeom prst="rect">
            <a:avLst/>
          </a:prstGeom>
        </p:spPr>
      </p:pic>
      <p:pic>
        <p:nvPicPr>
          <p:cNvPr id="22" name="图片 21" descr="post_object_image_39228260"/>
          <p:cNvPicPr>
            <a:picLocks noChangeAspect="1"/>
          </p:cNvPicPr>
          <p:nvPr/>
        </p:nvPicPr>
        <p:blipFill>
          <a:blip r:embed="rId4"/>
          <a:stretch>
            <a:fillRect/>
          </a:stretch>
        </p:blipFill>
        <p:spPr>
          <a:xfrm>
            <a:off x="3641409" y="1614994"/>
            <a:ext cx="2422836" cy="1146893"/>
          </a:xfrm>
          <a:prstGeom prst="rect">
            <a:avLst/>
          </a:prstGeom>
        </p:spPr>
      </p:pic>
      <p:pic>
        <p:nvPicPr>
          <p:cNvPr id="23" name="图片 22" descr="post_object_image_1584795003"/>
          <p:cNvPicPr>
            <a:picLocks noChangeAspect="1"/>
          </p:cNvPicPr>
          <p:nvPr/>
        </p:nvPicPr>
        <p:blipFill>
          <a:blip r:embed="rId5"/>
          <a:stretch>
            <a:fillRect/>
          </a:stretch>
        </p:blipFill>
        <p:spPr>
          <a:xfrm>
            <a:off x="6119602" y="1595431"/>
            <a:ext cx="2462080" cy="1199885"/>
          </a:xfrm>
          <a:prstGeom prst="rect">
            <a:avLst/>
          </a:prstGeom>
        </p:spPr>
      </p:pic>
      <p:pic>
        <p:nvPicPr>
          <p:cNvPr id="24" name="图片 23" descr="post_object_image_2623148014"/>
          <p:cNvPicPr>
            <a:picLocks noChangeAspect="1"/>
          </p:cNvPicPr>
          <p:nvPr/>
        </p:nvPicPr>
        <p:blipFill>
          <a:blip r:embed="rId6"/>
          <a:stretch>
            <a:fillRect/>
          </a:stretch>
        </p:blipFill>
        <p:spPr>
          <a:xfrm>
            <a:off x="8637038" y="1614994"/>
            <a:ext cx="2440241" cy="1146863"/>
          </a:xfrm>
          <a:prstGeom prst="rect">
            <a:avLst/>
          </a:prstGeom>
        </p:spPr>
      </p:pic>
      <p:pic>
        <p:nvPicPr>
          <p:cNvPr id="25" name="图片 24" descr="post_object_image_712007332"/>
          <p:cNvPicPr>
            <a:picLocks noChangeAspect="1"/>
          </p:cNvPicPr>
          <p:nvPr/>
        </p:nvPicPr>
        <p:blipFill>
          <a:blip r:embed="rId7"/>
          <a:stretch>
            <a:fillRect/>
          </a:stretch>
        </p:blipFill>
        <p:spPr>
          <a:xfrm>
            <a:off x="1112491" y="2777486"/>
            <a:ext cx="2430517" cy="1641932"/>
          </a:xfrm>
          <a:prstGeom prst="rect">
            <a:avLst/>
          </a:prstGeom>
        </p:spPr>
      </p:pic>
      <p:pic>
        <p:nvPicPr>
          <p:cNvPr id="27" name="图片 26" descr="post_object_image_2745219150"/>
          <p:cNvPicPr>
            <a:picLocks noChangeAspect="1"/>
          </p:cNvPicPr>
          <p:nvPr/>
        </p:nvPicPr>
        <p:blipFill>
          <a:blip r:embed="rId8"/>
          <a:stretch>
            <a:fillRect/>
          </a:stretch>
        </p:blipFill>
        <p:spPr>
          <a:xfrm>
            <a:off x="3616806" y="2795316"/>
            <a:ext cx="2447432" cy="1606358"/>
          </a:xfrm>
          <a:prstGeom prst="rect">
            <a:avLst/>
          </a:prstGeom>
        </p:spPr>
      </p:pic>
      <p:pic>
        <p:nvPicPr>
          <p:cNvPr id="28" name="图片 27" descr="post_object_image_1254742223"/>
          <p:cNvPicPr>
            <a:picLocks noChangeAspect="1"/>
          </p:cNvPicPr>
          <p:nvPr/>
        </p:nvPicPr>
        <p:blipFill>
          <a:blip r:embed="rId9"/>
          <a:stretch>
            <a:fillRect/>
          </a:stretch>
        </p:blipFill>
        <p:spPr>
          <a:xfrm>
            <a:off x="6119594" y="2795316"/>
            <a:ext cx="2462070" cy="1641934"/>
          </a:xfrm>
          <a:prstGeom prst="rect">
            <a:avLst/>
          </a:prstGeom>
        </p:spPr>
      </p:pic>
      <p:pic>
        <p:nvPicPr>
          <p:cNvPr id="30" name="图片 29" descr="post_object_image_3498125293"/>
          <p:cNvPicPr>
            <a:picLocks noChangeAspect="1"/>
          </p:cNvPicPr>
          <p:nvPr/>
        </p:nvPicPr>
        <p:blipFill>
          <a:blip r:embed="rId10"/>
          <a:stretch>
            <a:fillRect/>
          </a:stretch>
        </p:blipFill>
        <p:spPr>
          <a:xfrm>
            <a:off x="8593191" y="2795316"/>
            <a:ext cx="2683902" cy="1606383"/>
          </a:xfrm>
          <a:prstGeom prst="rect">
            <a:avLst/>
          </a:prstGeom>
        </p:spPr>
      </p:pic>
      <p:sp>
        <p:nvSpPr>
          <p:cNvPr id="31" name="文本框 30"/>
          <p:cNvSpPr txBox="1"/>
          <p:nvPr/>
        </p:nvSpPr>
        <p:spPr>
          <a:xfrm>
            <a:off x="1221650" y="4923162"/>
            <a:ext cx="4897968" cy="534603"/>
          </a:xfrm>
          <a:prstGeom prst="rect">
            <a:avLst/>
          </a:prstGeom>
          <a:noFill/>
        </p:spPr>
        <p:txBody>
          <a:bodyPr wrap="square" rtlCol="0" anchor="t">
            <a:noAutofit/>
          </a:bodyPr>
          <a:p>
            <a:r>
              <a:rPr lang="en-US" altLang="zh-CN" sz="800" b="1">
                <a:solidFill>
                  <a:srgbClr val="FFFFFF"/>
                </a:solidFill>
                <a:latin typeface="Arial" panose="020B0604020202020204" pitchFamily="34" charset="0"/>
                <a:ea typeface="Arial" panose="020B0604020202020204" pitchFamily="34" charset="0"/>
                <a:cs typeface="Arial" panose="020B0604020202020204" pitchFamily="34" charset="0"/>
              </a:rPr>
              <a:t>91%</a:t>
            </a:r>
            <a:r>
              <a:rPr lang="en-US" altLang="zh-CN" sz="800" b="1">
                <a:solidFill>
                  <a:srgbClr val="9AA9BD"/>
                </a:solidFill>
                <a:latin typeface="Arial" panose="020B0604020202020204" pitchFamily="34" charset="0"/>
                <a:ea typeface="Arial" panose="020B0604020202020204" pitchFamily="34" charset="0"/>
                <a:cs typeface="Arial" panose="020B0604020202020204" pitchFamily="34" charset="0"/>
              </a:rPr>
              <a:t> of films span two or more genres. Blending genres broadens audience reach — pure single-genre films are now the minority. The most common pairings are Comedy + Drama and Drama + Romance, both of which combine broad appeal with lower production costs.</a:t>
            </a:r>
            <a:endParaRPr lang="en-US" altLang="zh-CN" sz="800" b="1">
              <a:solidFill>
                <a:srgbClr val="9AA9BD"/>
              </a:solidFill>
              <a:latin typeface="Arial" panose="020B0604020202020204" pitchFamily="34" charset="0"/>
              <a:ea typeface="Arial" panose="020B0604020202020204" pitchFamily="34" charset="0"/>
              <a:cs typeface="Arial" panose="020B0604020202020204" pitchFamily="34" charset="0"/>
            </a:endParaRPr>
          </a:p>
        </p:txBody>
      </p:sp>
      <p:sp>
        <p:nvSpPr>
          <p:cNvPr id="32" name="文本框 31"/>
          <p:cNvSpPr txBox="1"/>
          <p:nvPr/>
        </p:nvSpPr>
        <p:spPr>
          <a:xfrm>
            <a:off x="1112461" y="4542484"/>
            <a:ext cx="3999964" cy="399797"/>
          </a:xfrm>
          <a:prstGeom prst="rect">
            <a:avLst/>
          </a:prstGeom>
          <a:noFill/>
        </p:spPr>
        <p:txBody>
          <a:bodyPr wrap="square" rtlCol="0" anchor="t">
            <a:noAutofit/>
          </a:bodyPr>
          <a:p>
            <a:r>
              <a:rPr lang="zh-CN" altLang="en-US"/>
              <a:t>🎭 </a:t>
            </a:r>
            <a:r>
              <a:rPr lang="en-US" altLang="zh-CN" b="1">
                <a:solidFill>
                  <a:schemeClr val="accent1"/>
                </a:solidFill>
              </a:rPr>
              <a:t>FINDING · MULTI-GENRE STRATEGY</a:t>
            </a:r>
            <a:endParaRPr lang="en-US" altLang="zh-CN" b="1">
              <a:solidFill>
                <a:schemeClr val="accent1"/>
              </a:solidFill>
            </a:endParaRPr>
          </a:p>
          <a:p>
            <a:endParaRPr lang="zh-CN" altLang="en-US"/>
          </a:p>
        </p:txBody>
      </p:sp>
      <p:sp>
        <p:nvSpPr>
          <p:cNvPr id="33" name="文本框 32"/>
          <p:cNvSpPr txBox="1"/>
          <p:nvPr/>
        </p:nvSpPr>
        <p:spPr>
          <a:xfrm>
            <a:off x="6119618" y="4542506"/>
            <a:ext cx="3936844" cy="380656"/>
          </a:xfrm>
          <a:prstGeom prst="rect">
            <a:avLst/>
          </a:prstGeom>
          <a:noFill/>
        </p:spPr>
        <p:txBody>
          <a:bodyPr wrap="square" rtlCol="0" anchor="t">
            <a:noAutofit/>
          </a:bodyPr>
          <a:p>
            <a:r>
              <a:rPr lang="en-US" altLang="zh-CN">
                <a:solidFill>
                  <a:srgbClr val="FFFF00"/>
                </a:solidFill>
              </a:rPr>
              <a:t>⭐ FINDING · THE RATING SWEET SPOT</a:t>
            </a:r>
            <a:endParaRPr lang="en-US" altLang="zh-CN">
              <a:solidFill>
                <a:srgbClr val="FFFF00"/>
              </a:solidFill>
            </a:endParaRPr>
          </a:p>
          <a:p>
            <a:endParaRPr lang="en-US" altLang="zh-CN">
              <a:solidFill>
                <a:srgbClr val="FFFF00"/>
              </a:solidFill>
            </a:endParaRPr>
          </a:p>
        </p:txBody>
      </p:sp>
      <p:sp>
        <p:nvSpPr>
          <p:cNvPr id="34" name="文本框 33"/>
          <p:cNvSpPr txBox="1"/>
          <p:nvPr/>
        </p:nvSpPr>
        <p:spPr>
          <a:xfrm>
            <a:off x="6202895" y="4923162"/>
            <a:ext cx="4874363" cy="534626"/>
          </a:xfrm>
          <a:prstGeom prst="rect">
            <a:avLst/>
          </a:prstGeom>
          <a:noFill/>
        </p:spPr>
        <p:txBody>
          <a:bodyPr wrap="square" rtlCol="0" anchor="t">
            <a:noAutofit/>
          </a:bodyPr>
          <a:p>
            <a:r>
              <a:t>Films rated 6 – 7 earn the highest average box office ($304.3M), outperforming even 8+ critically acclaimed films. Mass-market entertainment that satisfies without polarizing audiences consistently captures the widest theatrical audience.</a:t>
            </a:r>
            <a:endParaRPr lang="en-US" altLang="zh-CN" sz="800" b="1">
              <a:solidFill>
                <a:srgbClr val="9AA9BD"/>
              </a:solidFill>
              <a:latin typeface="Arial" panose="020B0604020202020204" pitchFamily="34" charset="0"/>
              <a:ea typeface="Arial" panose="020B0604020202020204" pitchFamily="34" charset="0"/>
              <a:cs typeface="Arial" panose="020B0604020202020204" pitchFamily="34" charset="0"/>
            </a:endParaRPr>
          </a:p>
        </p:txBody>
      </p:sp>
      <p:sp>
        <p:nvSpPr>
          <p:cNvPr id="36" name="final-page-marker"/>
          <p:cNvSpPr txBox="1"/>
          <p:nvPr/>
        </p:nvSpPr>
        <p:spPr>
          <a:xfrm>
            <a:off x="10378440" y="6345936"/>
            <a:ext cx="658368" cy="201168"/>
          </a:xfrm>
          <a:prstGeom prst="rect">
            <a:avLst/>
          </a:prstGeom>
          <a:noFill/>
        </p:spPr>
        <p:txBody>
          <a:bodyPr wrap="none">
            <a:spAutoFit/>
          </a:bodyPr>
          <a:lstStyle/>
          <a:p>
            <a:pPr algn="r"/>
            <a:r>
              <a:t>19 / 22</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p:pic>
        <p:nvPicPr>
          <p:cNvPr id="22" name="图片 21"/>
          <p:cNvPicPr>
            <a:picLocks noChangeAspect="1"/>
          </p:cNvPicPr>
          <p:nvPr/>
        </p:nvPicPr>
        <p:blipFill>
          <a:blip r:embed="rId1"/>
          <a:stretch>
            <a:fillRect/>
          </a:stretch>
        </p:blipFill>
        <p:spPr>
          <a:xfrm>
            <a:off x="0" y="0"/>
            <a:ext cx="12216217" cy="6857988"/>
          </a:xfrm>
          <a:prstGeom prst="rect">
            <a:avLst/>
          </a:prstGeom>
        </p:spPr>
      </p:pic>
      <p:sp>
        <p:nvSpPr>
          <p:cNvPr id="2" name="TextBox 1"/>
          <p:cNvSpPr txBox="1"/>
          <p:nvPr/>
        </p:nvSpPr>
        <p:spPr>
          <a:xfrm>
            <a:off x="502920" y="292608"/>
            <a:ext cx="692150" cy="138430"/>
          </a:xfrm>
          <a:prstGeom prst="rect">
            <a:avLst/>
          </a:prstGeom>
          <a:noFill/>
        </p:spPr>
        <p:txBody>
          <a:bodyPr wrap="none" lIns="0" tIns="0" rIns="0" bIns="0">
            <a:spAutoFit/>
          </a:bodyPr>
          <a:lstStyle/>
          <a:p>
            <a:pPr algn="l"/>
            <a:r>
              <a:rPr sz="900" b="1">
                <a:solidFill>
                  <a:srgbClr val="3B82F6"/>
                </a:solidFill>
                <a:latin typeface="Arial" panose="020B0604020202020204" pitchFamily="34" charset="0"/>
              </a:rPr>
              <a:t>C</a:t>
            </a:r>
            <a:r>
              <a:rPr lang="en-US" altLang="zh-CN" sz="900" b="1">
                <a:solidFill>
                  <a:srgbClr val="3B82F6"/>
                </a:solidFill>
                <a:latin typeface="Arial" panose="020B0604020202020204" pitchFamily="34" charset="0"/>
              </a:rPr>
              <a:t>hen Ziming</a:t>
            </a:r>
            <a:endParaRPr>
              <a:latin typeface="Arial" panose="020B0604020202020204"/>
            </a:endParaRPr>
          </a:p>
        </p:txBody>
      </p:sp>
      <p:sp>
        <p:nvSpPr>
          <p:cNvPr id="3" name="TextBox 2"/>
          <p:cNvSpPr txBox="1"/>
          <p:nvPr/>
        </p:nvSpPr>
        <p:spPr>
          <a:xfrm>
            <a:off x="10607040" y="292608"/>
            <a:ext cx="1005840" cy="219456"/>
          </a:xfrm>
          <a:prstGeom prst="rect">
            <a:avLst/>
          </a:prstGeom>
          <a:noFill/>
        </p:spPr>
        <p:txBody>
          <a:bodyPr wrap="none" lIns="0" tIns="0" rIns="0" bIns="0">
            <a:spAutoFit/>
          </a:bodyPr>
          <a:lstStyle/>
          <a:p>
            <a:pPr algn="r"/>
            <a:r>
              <a:t>20 / 22</a:t>
            </a:r>
            <a:endParaRPr sz="900" b="1">
              <a:solidFill>
                <a:srgbClr val="9AA9BD"/>
              </a:solidFill>
              <a:latin typeface="Arial" panose="020B0604020202020204"/>
            </a:endParaRPr>
          </a:p>
        </p:txBody>
      </p:sp>
      <p:sp>
        <p:nvSpPr>
          <p:cNvPr id="4" name="TextBox 3"/>
          <p:cNvSpPr txBox="1"/>
          <p:nvPr/>
        </p:nvSpPr>
        <p:spPr>
          <a:xfrm>
            <a:off x="502920" y="585216"/>
            <a:ext cx="1085850" cy="415290"/>
          </a:xfrm>
          <a:prstGeom prst="rect">
            <a:avLst/>
          </a:prstGeom>
          <a:noFill/>
        </p:spPr>
        <p:txBody>
          <a:bodyPr wrap="none" lIns="0" tIns="0" rIns="0" bIns="0">
            <a:spAutoFit/>
          </a:bodyPr>
          <a:lstStyle/>
          <a:p>
            <a:pPr algn="l"/>
            <a:r>
              <a:rPr sz="2700" b="1">
                <a:solidFill>
                  <a:srgbClr val="F2F6FF"/>
                </a:solidFill>
                <a:latin typeface="Arial" panose="020B0604020202020204"/>
              </a:rPr>
              <a:t>Export</a:t>
            </a:r>
            <a:endParaRPr sz="2700" b="1">
              <a:solidFill>
                <a:srgbClr val="F2F6FF"/>
              </a:solidFill>
              <a:latin typeface="Arial" panose="020B0604020202020204"/>
            </a:endParaRPr>
          </a:p>
        </p:txBody>
      </p:sp>
      <p:sp>
        <p:nvSpPr>
          <p:cNvPr id="5" name="TextBox 4"/>
          <p:cNvSpPr txBox="1"/>
          <p:nvPr/>
        </p:nvSpPr>
        <p:spPr>
          <a:xfrm>
            <a:off x="530352" y="1042415"/>
            <a:ext cx="9619515" cy="235103"/>
          </a:xfrm>
          <a:prstGeom prst="rect">
            <a:avLst/>
          </a:prstGeom>
          <a:noFill/>
        </p:spPr>
        <p:txBody>
          <a:bodyPr wrap="square" lIns="0" tIns="0" rIns="0" bIns="0">
            <a:noAutofit/>
          </a:bodyPr>
          <a:lstStyle/>
          <a:p>
            <a:pPr algn="l"/>
            <a:r>
              <a:rPr lang="en-US" altLang="zh-CN" sz="1200" b="0">
                <a:solidFill>
                  <a:srgbClr val="9AA9BD"/>
                </a:solidFill>
                <a:latin typeface="Arial" panose="020B0604020202020204"/>
              </a:rPr>
              <a:t>Every filter slice can be downloaded as a CSV — bring your own analysis stack: Excel, R, Python, Tableau, anything that reads UTF-8 CSV.</a:t>
            </a:r>
            <a:endParaRPr lang="en-US" altLang="zh-CN" sz="1200" b="0">
              <a:solidFill>
                <a:srgbClr val="9AA9BD"/>
              </a:solidFill>
              <a:latin typeface="Arial" panose="020B0604020202020204"/>
            </a:endParaRPr>
          </a:p>
          <a:p>
            <a:pPr algn="l"/>
            <a:endParaRPr lang="en-US" altLang="zh-CN" sz="1200" b="0">
              <a:solidFill>
                <a:srgbClr val="9AA9BD"/>
              </a:solidFill>
              <a:latin typeface="Arial" panose="020B0604020202020204"/>
            </a:endParaRPr>
          </a:p>
        </p:txBody>
      </p:sp>
      <p:sp>
        <p:nvSpPr>
          <p:cNvPr id="6" name="Rectangle 5"/>
          <p:cNvSpPr/>
          <p:nvPr/>
        </p:nvSpPr>
        <p:spPr>
          <a:xfrm>
            <a:off x="502920" y="6291072"/>
            <a:ext cx="11201400" cy="320040"/>
          </a:xfrm>
          <a:prstGeom prst="rect">
            <a:avLst/>
          </a:prstGeom>
          <a:solidFill>
            <a:srgbClr val="0F1C2D"/>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图片 22" descr="post_object_image_2335411827"/>
          <p:cNvPicPr>
            <a:picLocks noChangeAspect="1"/>
          </p:cNvPicPr>
          <p:nvPr/>
        </p:nvPicPr>
        <p:blipFill>
          <a:blip r:embed="rId2"/>
          <a:stretch>
            <a:fillRect/>
          </a:stretch>
        </p:blipFill>
        <p:spPr>
          <a:xfrm>
            <a:off x="1040624" y="1234903"/>
            <a:ext cx="10134917" cy="5056147"/>
          </a:xfrm>
          <a:prstGeom prst="rect">
            <a:avLst/>
          </a:prstGeom>
        </p:spPr>
      </p:pic>
      <p:sp>
        <p:nvSpPr>
          <p:cNvPr id="24" name="final-page-marker"/>
          <p:cNvSpPr txBox="1"/>
          <p:nvPr/>
        </p:nvSpPr>
        <p:spPr>
          <a:xfrm>
            <a:off x="10378440" y="6345936"/>
            <a:ext cx="658368" cy="201168"/>
          </a:xfrm>
          <a:prstGeom prst="rect">
            <a:avLst/>
          </a:prstGeom>
          <a:noFill/>
        </p:spPr>
        <p:txBody>
          <a:bodyPr wrap="none">
            <a:spAutoFit/>
          </a:bodyPr>
          <a:lstStyle/>
          <a:p>
            <a:pPr algn="r"/>
            <a:r>
              <a:t>20 / 22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p:pic>
        <p:nvPicPr>
          <p:cNvPr id="22" name="图片 21"/>
          <p:cNvPicPr>
            <a:picLocks noChangeAspect="1"/>
          </p:cNvPicPr>
          <p:nvPr/>
        </p:nvPicPr>
        <p:blipFill>
          <a:blip r:embed="rId1"/>
          <a:stretch>
            <a:fillRect/>
          </a:stretch>
        </p:blipFill>
        <p:spPr>
          <a:xfrm>
            <a:off x="0" y="0"/>
            <a:ext cx="12216217" cy="6857988"/>
          </a:xfrm>
          <a:prstGeom prst="rect">
            <a:avLst/>
          </a:prstGeom>
        </p:spPr>
      </p:pic>
      <p:sp>
        <p:nvSpPr>
          <p:cNvPr id="2" name="TextBox 1"/>
          <p:cNvSpPr txBox="1"/>
          <p:nvPr/>
        </p:nvSpPr>
        <p:spPr>
          <a:xfrm>
            <a:off x="502920" y="292608"/>
            <a:ext cx="692150" cy="138430"/>
          </a:xfrm>
          <a:prstGeom prst="rect">
            <a:avLst/>
          </a:prstGeom>
          <a:noFill/>
        </p:spPr>
        <p:txBody>
          <a:bodyPr wrap="none" lIns="0" tIns="0" rIns="0" bIns="0">
            <a:spAutoFit/>
          </a:bodyPr>
          <a:lstStyle/>
          <a:p>
            <a:pPr algn="l"/>
            <a:r>
              <a:rPr sz="900" b="1">
                <a:solidFill>
                  <a:srgbClr val="3B82F6"/>
                </a:solidFill>
                <a:latin typeface="Arial" panose="020B0604020202020204" pitchFamily="34" charset="0"/>
              </a:rPr>
              <a:t>C</a:t>
            </a:r>
            <a:r>
              <a:rPr lang="en-US" altLang="zh-CN" sz="900" b="1">
                <a:solidFill>
                  <a:srgbClr val="3B82F6"/>
                </a:solidFill>
                <a:latin typeface="Arial" panose="020B0604020202020204" pitchFamily="34" charset="0"/>
              </a:rPr>
              <a:t>hen Ziming</a:t>
            </a:r>
            <a:endParaRPr>
              <a:latin typeface="Arial" panose="020B0604020202020204"/>
            </a:endParaRPr>
          </a:p>
        </p:txBody>
      </p:sp>
      <p:sp>
        <p:nvSpPr>
          <p:cNvPr id="3" name="TextBox 2"/>
          <p:cNvSpPr txBox="1"/>
          <p:nvPr/>
        </p:nvSpPr>
        <p:spPr>
          <a:xfrm>
            <a:off x="10607040" y="292608"/>
            <a:ext cx="1005840" cy="219456"/>
          </a:xfrm>
          <a:prstGeom prst="rect">
            <a:avLst/>
          </a:prstGeom>
          <a:noFill/>
        </p:spPr>
        <p:txBody>
          <a:bodyPr wrap="none" lIns="0" tIns="0" rIns="0" bIns="0">
            <a:spAutoFit/>
          </a:bodyPr>
          <a:lstStyle/>
          <a:p>
            <a:pPr algn="r"/>
            <a:r>
              <a:t>21 / 22</a:t>
            </a:r>
            <a:endParaRPr sz="900" b="1">
              <a:solidFill>
                <a:srgbClr val="9AA9BD"/>
              </a:solidFill>
              <a:latin typeface="Arial" panose="020B0604020202020204"/>
            </a:endParaRPr>
          </a:p>
        </p:txBody>
      </p:sp>
      <p:sp>
        <p:nvSpPr>
          <p:cNvPr id="4" name="TextBox 3"/>
          <p:cNvSpPr txBox="1"/>
          <p:nvPr/>
        </p:nvSpPr>
        <p:spPr>
          <a:xfrm>
            <a:off x="502920" y="585216"/>
            <a:ext cx="1866900" cy="415290"/>
          </a:xfrm>
          <a:prstGeom prst="rect">
            <a:avLst/>
          </a:prstGeom>
          <a:noFill/>
        </p:spPr>
        <p:txBody>
          <a:bodyPr wrap="none" lIns="0" tIns="0" rIns="0" bIns="0">
            <a:spAutoFit/>
          </a:bodyPr>
          <a:lstStyle/>
          <a:p>
            <a:pPr algn="l"/>
            <a:r>
              <a:rPr sz="2700" b="1">
                <a:solidFill>
                  <a:srgbClr val="F2F6FF"/>
                </a:solidFill>
                <a:latin typeface="Arial" panose="020B0604020202020204" pitchFamily="34" charset="0"/>
              </a:rPr>
              <a:t>C</a:t>
            </a:r>
            <a:r>
              <a:rPr lang="en-US" altLang="zh-CN" sz="2700" b="1">
                <a:solidFill>
                  <a:srgbClr val="F2F6FF"/>
                </a:solidFill>
                <a:latin typeface="Arial" panose="020B0604020202020204" pitchFamily="34" charset="0"/>
              </a:rPr>
              <a:t>onclusion</a:t>
            </a:r>
            <a:endParaRPr>
              <a:latin typeface="Arial" panose="020B0604020202020204"/>
            </a:endParaRPr>
          </a:p>
        </p:txBody>
      </p:sp>
      <p:sp>
        <p:nvSpPr>
          <p:cNvPr id="5" name="TextBox 4"/>
          <p:cNvSpPr txBox="1"/>
          <p:nvPr/>
        </p:nvSpPr>
        <p:spPr>
          <a:xfrm>
            <a:off x="530352" y="1042415"/>
            <a:ext cx="9619515" cy="235103"/>
          </a:xfrm>
          <a:prstGeom prst="rect">
            <a:avLst/>
          </a:prstGeom>
          <a:noFill/>
        </p:spPr>
        <p:txBody>
          <a:bodyPr wrap="square" lIns="0" tIns="0" rIns="0" bIns="0">
            <a:noAutofit/>
          </a:bodyPr>
          <a:lstStyle/>
          <a:p>
            <a:pPr algn="l"/>
            <a:r>
              <a:rPr lang="en-US" altLang="zh-CN" sz="1200">
                <a:solidFill>
                  <a:srgbClr val="9AA9BD"/>
                </a:solidFill>
                <a:latin typeface="Arial" panose="020B0604020202020204" pitchFamily="34" charset="0"/>
              </a:rPr>
              <a:t>Summary </a:t>
            </a:r>
            <a:r>
              <a:rPr lang="zh-CN" altLang="en-US" sz="1200">
                <a:solidFill>
                  <a:srgbClr val="9AA9BD"/>
                </a:solidFill>
                <a:latin typeface="Arial" panose="020B0604020202020204" pitchFamily="34" charset="0"/>
              </a:rPr>
              <a:t>&amp; </a:t>
            </a:r>
            <a:r>
              <a:rPr lang="en-US" altLang="zh-CN" sz="1200">
                <a:solidFill>
                  <a:srgbClr val="9AA9BD"/>
                </a:solidFill>
                <a:latin typeface="Arial" panose="020B0604020202020204" pitchFamily="34" charset="0"/>
              </a:rPr>
              <a:t>future work</a:t>
            </a:r>
            <a:endParaRPr lang="en-US" altLang="zh-CN">
              <a:latin typeface="Arial" panose="020B0604020202020204"/>
            </a:endParaRPr>
          </a:p>
        </p:txBody>
      </p:sp>
      <p:sp>
        <p:nvSpPr>
          <p:cNvPr id="6" name="Rectangle 5"/>
          <p:cNvSpPr/>
          <p:nvPr/>
        </p:nvSpPr>
        <p:spPr>
          <a:xfrm>
            <a:off x="502920" y="6291072"/>
            <a:ext cx="11201400" cy="320040"/>
          </a:xfrm>
          <a:prstGeom prst="rect">
            <a:avLst/>
          </a:prstGeom>
          <a:solidFill>
            <a:srgbClr val="0F1C2D"/>
          </a:solidFill>
          <a:ln w="7620">
            <a:solidFill>
              <a:srgbClr val="2736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图片 8" descr="post_object_image_2458251691"/>
          <p:cNvPicPr>
            <a:picLocks noChangeAspect="1"/>
          </p:cNvPicPr>
          <p:nvPr/>
        </p:nvPicPr>
        <p:blipFill>
          <a:blip r:embed="rId2"/>
          <a:stretch>
            <a:fillRect/>
          </a:stretch>
        </p:blipFill>
        <p:spPr>
          <a:xfrm>
            <a:off x="2201040" y="1322131"/>
            <a:ext cx="3990975" cy="4800600"/>
          </a:xfrm>
          <a:prstGeom prst="rect">
            <a:avLst/>
          </a:prstGeom>
        </p:spPr>
      </p:pic>
      <p:pic>
        <p:nvPicPr>
          <p:cNvPr id="10" name="图片 9" descr="post_object_image_2054379828"/>
          <p:cNvPicPr>
            <a:picLocks noChangeAspect="1"/>
          </p:cNvPicPr>
          <p:nvPr/>
        </p:nvPicPr>
        <p:blipFill>
          <a:blip r:embed="rId2"/>
          <a:stretch>
            <a:fillRect/>
          </a:stretch>
        </p:blipFill>
        <p:spPr>
          <a:xfrm>
            <a:off x="6192015" y="1322131"/>
            <a:ext cx="3990975" cy="4800600"/>
          </a:xfrm>
          <a:prstGeom prst="rect">
            <a:avLst/>
          </a:prstGeom>
        </p:spPr>
      </p:pic>
      <p:sp>
        <p:nvSpPr>
          <p:cNvPr id="11" name="文本框 10"/>
          <p:cNvSpPr txBox="1"/>
          <p:nvPr/>
        </p:nvSpPr>
        <p:spPr>
          <a:xfrm>
            <a:off x="3013064" y="2466329"/>
            <a:ext cx="3026210" cy="369570"/>
          </a:xfrm>
          <a:prstGeom prst="rect">
            <a:avLst/>
          </a:prstGeom>
          <a:noFill/>
        </p:spPr>
        <p:txBody>
          <a:bodyPr wrap="square" rtlCol="0" anchor="t">
            <a:noAutofit/>
          </a:bodyPr>
          <a:p>
            <a:r>
              <a:rPr lang="en-US" altLang="zh-CN" sz="2400" b="1">
                <a:solidFill>
                  <a:srgbClr val="F2F6FF"/>
                </a:solidFill>
              </a:rPr>
              <a:t>8 analytical views</a:t>
            </a:r>
            <a:r>
              <a:rPr lang="en-US" altLang="zh-CN" sz="2400"/>
              <a:t> </a:t>
            </a:r>
            <a:endParaRPr lang="en-US" altLang="zh-CN" sz="2400"/>
          </a:p>
        </p:txBody>
      </p:sp>
      <p:pic>
        <p:nvPicPr>
          <p:cNvPr id="12" name="图片 11" descr="post_object_image_3080133909"/>
          <p:cNvPicPr>
            <a:picLocks noChangeAspect="1"/>
          </p:cNvPicPr>
          <p:nvPr/>
        </p:nvPicPr>
        <p:blipFill>
          <a:blip r:embed="rId3"/>
          <a:stretch>
            <a:fillRect/>
          </a:stretch>
        </p:blipFill>
        <p:spPr>
          <a:xfrm>
            <a:off x="2544040" y="1563918"/>
            <a:ext cx="469051" cy="469051"/>
          </a:xfrm>
          <a:prstGeom prst="rect">
            <a:avLst/>
          </a:prstGeom>
        </p:spPr>
      </p:pic>
      <p:pic>
        <p:nvPicPr>
          <p:cNvPr id="13" name="图片 12" descr="post_object_image_1911540009"/>
          <p:cNvPicPr>
            <a:picLocks noChangeAspect="1"/>
          </p:cNvPicPr>
          <p:nvPr/>
        </p:nvPicPr>
        <p:blipFill>
          <a:blip r:embed="rId4"/>
          <a:stretch>
            <a:fillRect/>
          </a:stretch>
        </p:blipFill>
        <p:spPr>
          <a:xfrm>
            <a:off x="6558994" y="1563920"/>
            <a:ext cx="469049" cy="469049"/>
          </a:xfrm>
          <a:prstGeom prst="rect">
            <a:avLst/>
          </a:prstGeom>
        </p:spPr>
      </p:pic>
      <p:sp>
        <p:nvSpPr>
          <p:cNvPr id="14" name="文本框 13"/>
          <p:cNvSpPr txBox="1"/>
          <p:nvPr/>
        </p:nvSpPr>
        <p:spPr>
          <a:xfrm>
            <a:off x="2977375" y="3339422"/>
            <a:ext cx="2605596" cy="369570"/>
          </a:xfrm>
          <a:prstGeom prst="rect">
            <a:avLst/>
          </a:prstGeom>
          <a:noFill/>
        </p:spPr>
        <p:txBody>
          <a:bodyPr wrap="square" rtlCol="0" anchor="t">
            <a:noAutofit/>
          </a:bodyPr>
          <a:p>
            <a:r>
              <a:t>3 model outputs  </a:t>
            </a:r>
            <a:endParaRPr lang="en-US" altLang="zh-CN" sz="2400"/>
          </a:p>
        </p:txBody>
      </p:sp>
      <p:sp>
        <p:nvSpPr>
          <p:cNvPr id="15" name="文本框 14"/>
          <p:cNvSpPr txBox="1"/>
          <p:nvPr/>
        </p:nvSpPr>
        <p:spPr>
          <a:xfrm>
            <a:off x="3190891" y="4212454"/>
            <a:ext cx="2178609" cy="369570"/>
          </a:xfrm>
          <a:prstGeom prst="rect">
            <a:avLst/>
          </a:prstGeom>
          <a:noFill/>
        </p:spPr>
        <p:txBody>
          <a:bodyPr wrap="square" rtlCol="0" anchor="t">
            <a:noAutofit/>
          </a:bodyPr>
          <a:p>
            <a:r>
              <a:t>2 statistical test groups groups groups  </a:t>
            </a:r>
            <a:endParaRPr lang="en-US" altLang="zh-CN" sz="2400"/>
          </a:p>
        </p:txBody>
      </p:sp>
      <p:sp>
        <p:nvSpPr>
          <p:cNvPr id="16" name="文本框 15"/>
          <p:cNvSpPr txBox="1"/>
          <p:nvPr/>
        </p:nvSpPr>
        <p:spPr>
          <a:xfrm>
            <a:off x="7098206" y="2466329"/>
            <a:ext cx="2178609" cy="369570"/>
          </a:xfrm>
          <a:prstGeom prst="rect">
            <a:avLst/>
          </a:prstGeom>
          <a:noFill/>
        </p:spPr>
        <p:txBody>
          <a:bodyPr wrap="square" rtlCol="0" anchor="t">
            <a:noAutofit/>
          </a:bodyPr>
          <a:p>
            <a:r>
              <a:rPr lang="en-US" altLang="zh-CN" sz="2400" b="1">
                <a:solidFill>
                  <a:srgbClr val="F2F6FF"/>
                </a:solidFill>
              </a:rPr>
              <a:t>Live TMDB API </a:t>
            </a:r>
            <a:r>
              <a:rPr lang="en-US" altLang="zh-CN" sz="2400"/>
              <a:t> </a:t>
            </a:r>
            <a:endParaRPr lang="en-US" altLang="zh-CN" sz="2400"/>
          </a:p>
        </p:txBody>
      </p:sp>
      <p:sp>
        <p:nvSpPr>
          <p:cNvPr id="17" name="文本框 16"/>
          <p:cNvSpPr txBox="1"/>
          <p:nvPr/>
        </p:nvSpPr>
        <p:spPr>
          <a:xfrm>
            <a:off x="6879910" y="4212451"/>
            <a:ext cx="2615201" cy="369570"/>
          </a:xfrm>
          <a:prstGeom prst="rect">
            <a:avLst/>
          </a:prstGeom>
          <a:noFill/>
        </p:spPr>
        <p:txBody>
          <a:bodyPr wrap="square" rtlCol="0" anchor="t">
            <a:noAutofit/>
          </a:bodyPr>
          <a:p>
            <a:r>
              <a:rPr lang="en-US" altLang="zh-CN" sz="2400" b="1">
                <a:solidFill>
                  <a:srgbClr val="F2F6FF"/>
                </a:solidFill>
              </a:rPr>
              <a:t>Sentiment analysis </a:t>
            </a:r>
            <a:r>
              <a:rPr lang="en-US" altLang="zh-CN" sz="2400"/>
              <a:t> </a:t>
            </a:r>
            <a:endParaRPr lang="en-US" altLang="zh-CN" sz="2400"/>
          </a:p>
        </p:txBody>
      </p:sp>
      <p:sp>
        <p:nvSpPr>
          <p:cNvPr id="18" name="文本框 17"/>
          <p:cNvSpPr txBox="1"/>
          <p:nvPr/>
        </p:nvSpPr>
        <p:spPr>
          <a:xfrm>
            <a:off x="6661669" y="3339422"/>
            <a:ext cx="3051684" cy="369570"/>
          </a:xfrm>
          <a:prstGeom prst="rect">
            <a:avLst/>
          </a:prstGeom>
          <a:noFill/>
        </p:spPr>
        <p:txBody>
          <a:bodyPr wrap="square" rtlCol="0" anchor="t">
            <a:noAutofit/>
          </a:bodyPr>
          <a:p>
            <a:r>
              <a:rPr lang="en-US" altLang="zh-CN" sz="2400" b="1">
                <a:solidFill>
                  <a:srgbClr val="F2F6FF"/>
                </a:solidFill>
              </a:rPr>
              <a:t>Director and cast data </a:t>
            </a:r>
            <a:r>
              <a:rPr lang="en-US" altLang="zh-CN" sz="2400"/>
              <a:t> </a:t>
            </a:r>
            <a:endParaRPr lang="en-US" altLang="zh-CN" sz="2400"/>
          </a:p>
        </p:txBody>
      </p:sp>
      <p:sp>
        <p:nvSpPr>
          <p:cNvPr id="23" name="final-page-marker"/>
          <p:cNvSpPr txBox="1"/>
          <p:nvPr/>
        </p:nvSpPr>
        <p:spPr>
          <a:xfrm>
            <a:off x="10378440" y="6345936"/>
            <a:ext cx="658368" cy="201168"/>
          </a:xfrm>
          <a:prstGeom prst="rect">
            <a:avLst/>
          </a:prstGeom>
          <a:noFill/>
        </p:spPr>
        <p:txBody>
          <a:bodyPr wrap="none">
            <a:spAutoFit/>
          </a:bodyPr>
          <a:lstStyle/>
          <a:p>
            <a:pPr algn="r"/>
            <a:r>
              <a:t>21 / 22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7111F"/>
        </a:solidFill>
        <a:effectLst/>
      </p:bgPr>
    </p:bg>
    <p:spTree>
      <p:nvGrpSpPr>
        <p:cNvPr id="1" name=""/>
        <p:cNvGrpSpPr/>
        <p:nvPr/>
      </p:nvGrpSpPr>
      <p:grpSpPr/>
      <p:pic>
        <p:nvPicPr>
          <p:cNvPr id="22" name="图片 21"/>
          <p:cNvPicPr>
            <a:picLocks noChangeAspect="1"/>
          </p:cNvPicPr>
          <p:nvPr/>
        </p:nvPicPr>
        <p:blipFill>
          <a:blip r:embed="rId1"/>
          <a:stretch>
            <a:fillRect/>
          </a:stretch>
        </p:blipFill>
        <p:spPr>
          <a:xfrm>
            <a:off x="0" y="0"/>
            <a:ext cx="12216217" cy="6857988"/>
          </a:xfrm>
          <a:prstGeom prst="rect">
            <a:avLst/>
          </a:prstGeom>
        </p:spPr>
      </p:pic>
      <p:sp>
        <p:nvSpPr>
          <p:cNvPr id="2" name="TextBox 1"/>
          <p:cNvSpPr txBox="1"/>
          <p:nvPr/>
        </p:nvSpPr>
        <p:spPr>
          <a:xfrm>
            <a:off x="685800" y="594360"/>
            <a:ext cx="5029200" cy="228600"/>
          </a:xfrm>
          <a:prstGeom prst="rect">
            <a:avLst/>
          </a:prstGeom>
          <a:noFill/>
        </p:spPr>
        <p:txBody>
          <a:bodyPr wrap="none" lIns="0" tIns="0" rIns="0" bIns="0">
            <a:spAutoFit/>
          </a:bodyPr>
          <a:lstStyle/>
          <a:p>
            <a:pPr algn="l"/>
            <a:r>
              <a:rPr sz="1000" b="1">
                <a:solidFill>
                  <a:srgbClr val="3B82F6"/>
                </a:solidFill>
                <a:latin typeface="Arial" panose="020B0604020202020204"/>
              </a:rPr>
              <a:t>26DPWPROJECT · END OF PRESENTATION</a:t>
            </a:r>
            <a:endParaRPr sz="1000" b="1">
              <a:solidFill>
                <a:srgbClr val="3B82F6"/>
              </a:solidFill>
              <a:latin typeface="Arial" panose="020B0604020202020204"/>
            </a:endParaRPr>
          </a:p>
        </p:txBody>
      </p:sp>
      <p:sp>
        <p:nvSpPr>
          <p:cNvPr id="3" name="TextBox 2"/>
          <p:cNvSpPr txBox="1"/>
          <p:nvPr/>
        </p:nvSpPr>
        <p:spPr>
          <a:xfrm>
            <a:off x="685800" y="1325880"/>
            <a:ext cx="5029200" cy="731520"/>
          </a:xfrm>
          <a:prstGeom prst="rect">
            <a:avLst/>
          </a:prstGeom>
          <a:noFill/>
        </p:spPr>
        <p:txBody>
          <a:bodyPr wrap="none" lIns="0" tIns="0" rIns="0" bIns="0">
            <a:spAutoFit/>
          </a:bodyPr>
          <a:lstStyle/>
          <a:p>
            <a:pPr algn="l"/>
            <a:r>
              <a:rPr sz="4400" b="1">
                <a:solidFill>
                  <a:srgbClr val="F2F6FF"/>
                </a:solidFill>
                <a:latin typeface="Arial" panose="020B0604020202020204"/>
              </a:rPr>
              <a:t>Thank you.</a:t>
            </a:r>
            <a:endParaRPr sz="4400" b="1">
              <a:solidFill>
                <a:srgbClr val="F2F6FF"/>
              </a:solidFill>
              <a:latin typeface="Arial" panose="020B0604020202020204"/>
            </a:endParaRPr>
          </a:p>
        </p:txBody>
      </p:sp>
      <p:sp>
        <p:nvSpPr>
          <p:cNvPr id="4" name="TextBox 3"/>
          <p:cNvSpPr txBox="1"/>
          <p:nvPr/>
        </p:nvSpPr>
        <p:spPr>
          <a:xfrm>
            <a:off x="713232" y="2148840"/>
            <a:ext cx="2349500" cy="276860"/>
          </a:xfrm>
          <a:prstGeom prst="rect">
            <a:avLst/>
          </a:prstGeom>
          <a:noFill/>
        </p:spPr>
        <p:txBody>
          <a:bodyPr wrap="none" lIns="0" tIns="0" rIns="0" bIns="0">
            <a:spAutoFit/>
          </a:bodyPr>
          <a:lstStyle/>
          <a:p>
            <a:pPr algn="l"/>
            <a:r>
              <a:rPr sz="1800" b="1">
                <a:solidFill>
                  <a:srgbClr val="2DD4BF"/>
                </a:solidFill>
                <a:latin typeface="Arial" panose="020B0604020202020204"/>
              </a:rPr>
              <a:t>Questions welcomed.</a:t>
            </a:r>
            <a:endParaRPr sz="1800" b="1">
              <a:solidFill>
                <a:srgbClr val="2DD4BF"/>
              </a:solidFill>
              <a:latin typeface="Arial" panose="020B0604020202020204"/>
            </a:endParaRPr>
          </a:p>
        </p:txBody>
      </p:sp>
      <p:sp>
        <p:nvSpPr>
          <p:cNvPr id="13" name="TextBox 12"/>
          <p:cNvSpPr txBox="1"/>
          <p:nvPr/>
        </p:nvSpPr>
        <p:spPr>
          <a:xfrm>
            <a:off x="777240" y="5074920"/>
            <a:ext cx="10058400" cy="320040"/>
          </a:xfrm>
          <a:prstGeom prst="rect">
            <a:avLst/>
          </a:prstGeom>
          <a:noFill/>
        </p:spPr>
        <p:txBody>
          <a:bodyPr wrap="none" lIns="0" tIns="0" rIns="0" bIns="0">
            <a:spAutoFit/>
          </a:bodyPr>
          <a:lstStyle/>
          <a:p>
            <a:pPr algn="l"/>
            <a:r>
              <a:rPr sz="1400" b="0">
                <a:solidFill>
                  <a:srgbClr val="9AA9BD"/>
                </a:solidFill>
                <a:latin typeface="Arial" panose="020B0604020202020204"/>
              </a:rPr>
              <a:t>Team: ZHOU Can · CHEN Ziming · DAI Ling · LIAO Shuaiyu · PAN Meihao · ZHU Junyu</a:t>
            </a:r>
            <a:endParaRPr sz="1400" b="0">
              <a:solidFill>
                <a:srgbClr val="9AA9BD"/>
              </a:solidFill>
              <a:latin typeface="Arial" panose="020B0604020202020204"/>
            </a:endParaRPr>
          </a:p>
        </p:txBody>
      </p:sp>
      <p:sp>
        <p:nvSpPr>
          <p:cNvPr id="23" name="final-page-marker"/>
          <p:cNvSpPr txBox="1"/>
          <p:nvPr/>
        </p:nvSpPr>
        <p:spPr>
          <a:xfrm>
            <a:off x="10378440" y="6345936"/>
            <a:ext cx="658368" cy="201168"/>
          </a:xfrm>
          <a:prstGeom prst="rect">
            <a:avLst/>
          </a:prstGeom>
          <a:noFill/>
        </p:spPr>
        <p:txBody>
          <a:bodyPr wrap="none">
            <a:spAutoFit/>
          </a:bodyPr>
          <a:lstStyle/>
          <a:p>
            <a:pPr algn="r"/>
            <a:r>
              <a:t>22 /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9322</Words>
  <Application>WPS Office WWO_wpscloud_20260508175737-a9385e8bc7</Application>
  <PresentationFormat>On-screen Show (4:3)</PresentationFormat>
  <Paragraphs>723</Paragraphs>
  <Slides>22</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22</vt:i4>
      </vt:variant>
    </vt:vector>
  </HeadingPairs>
  <TitlesOfParts>
    <vt:vector size="32" baseType="lpstr">
      <vt:lpstr>Arial</vt:lpstr>
      <vt:lpstr>宋体</vt:lpstr>
      <vt:lpstr>Wingdings</vt:lpstr>
      <vt:lpstr>Arial</vt:lpstr>
      <vt:lpstr>Calibri</vt:lpstr>
      <vt:lpstr>微软雅黑</vt:lpstr>
      <vt:lpstr>汉仪旗黑KW 55S</vt:lpstr>
      <vt:lpstr>汉仪书宋二KW</vt:lpstr>
      <vt:lpstr>Kingsoft Confetti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Steve Canny</cp:lastModifiedBy>
  <dcterms:created xsi:type="dcterms:W3CDTF">2026-05-20T14:23:20Z</dcterms:created>
  <dcterms:modified xsi:type="dcterms:W3CDTF">2026-05-20T14:23:20Z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3DEAA9961D1E2DDC7CB7056A15C7B56A_42</vt:lpwstr>
  </property>
  <property fmtid="{D5CDD505-2E9C-101B-9397-08002B2CF9AE}" pid="3" name="KSOProductBuildVer">
    <vt:lpwstr>2052-12.9.0.26427</vt:lpwstr>
  </property>
</Properties>
</file>