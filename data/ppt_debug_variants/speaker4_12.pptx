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0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66" r:id="rId18"/>
    <p:sldId id="282" r:id="rId19"/>
    <p:sldId id="268" r:id="rId20"/>
    <p:sldId id="269" r:id="rId21"/>
    <p:sldId id="270" r:id="rId22"/>
    <p:sldId id="271" r:id="rId23"/>
    <p:sldId id="281" r:id="rId24"/>
    <p:sldId id="273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7.xml"/><Relationship Id="rId8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0" y="-317"/>
            <a:ext cx="12216782" cy="68583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0292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FINAL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00" b="1">
                <a:solidFill>
                  <a:srgbClr val="F2F6FF"/>
                </a:solidFill>
                <a:latin typeface="Arial" panose="020B0604020202020204"/>
              </a:rPr>
              <a:t>TMDB Movie Analytics
Dashboard</a:t>
            </a:r>
            <a:endParaRPr sz="39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DATASET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analysis-ready films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68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FINANCIAL ROWS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+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431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1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dashboard sections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100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DEMO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59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5 min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live system walkthrough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89611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ZHOU Can · CHEN Ziming · DAI Ling · LIAO Shuaiyu · PAN Meihao · ZHU Junyu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TALK MAP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按演讲分工重构后的汇报路线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顺序跟随 dashboard 侧边栏视图，同时让每位成员有清晰负责段落。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Project + Data Cleaning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背景、数据来源、Python 清洗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Database + ER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91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关系设计、核心表、SQL 导出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Dashboard Views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9087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3 min
Overview / Revenue / Genres / Time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255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Chi-Square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255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 min
分类变量显著性检验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4964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1423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Regression + Prediction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1423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线性回归与 Gradient Boosting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584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/>
              </a:rPr>
              <a:t>Insights + Export + Summary</a:t>
            </a:r>
            <a:endParaRPr sz="2200" b="1">
              <a:solidFill>
                <a:srgbClr val="FB7185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229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自动洞察、导出、局限与未来方向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9875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2F6FF"/>
                </a:solidFill>
                <a:latin typeface="Arial" panose="020B0604020202020204"/>
              </a:rPr>
              <a:t>Demo &amp; Q&amp;A: 5 min · 第三位或第六位主操作，其他成员辅助回答。</a:t>
            </a:r>
            <a:endParaRPr sz="1600" b="1">
              <a:solidFill>
                <a:srgbClr val="F2F6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post_object_image_3996127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308" cy="68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47" y="512062"/>
            <a:ext cx="9692640" cy="935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b="1">
                <a:solidFill>
                  <a:srgbClr val="F2F6FF"/>
                </a:solidFill>
                <a:latin typeface="Arial" panose="020B0604020202020204"/>
              </a:rPr>
              <a:t>Project Background: From Scattered Film Data to an Interactive Decision-Making System</a:t>
            </a:r>
            <a:endParaRPr lang="en-US" altLang="zh-CN" sz="2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220" y="1648587"/>
            <a:ext cx="6092190" cy="5673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400">
                <a:solidFill>
                  <a:srgbClr val="00B0F0"/>
                </a:solidFill>
                <a:latin typeface="Arial" panose="020B0604020202020204"/>
              </a:rPr>
              <a:t>Goal: Aims to</a:t>
            </a:r>
            <a:r>
              <a:rPr lang="en-US" altLang="zh-CN" sz="1400" b="0">
                <a:solidFill>
                  <a:srgbClr val="00B0F0"/>
                </a:solidFill>
                <a:latin typeface="Arial" panose="020B0604020202020204"/>
              </a:rPr>
              <a:t> help analyze box office patterns, genre profitability, release 	date selection, and enable basic box office forecasting.</a:t>
            </a:r>
            <a:endParaRPr lang="en-US" altLang="zh-CN" sz="1400" b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0438" y="179622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5029" y="194253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RAW SOURCE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5029" y="219856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TMDB SQL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35029" y="264662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movie, genres, rate, credit...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0438" y="312210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5029" y="326841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FINAL 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5029" y="352444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35029" y="397250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processed movies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0438" y="444798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029" y="459429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COMPLETE FINANCE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35029" y="485032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35029" y="529838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/ revenue rows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915020" y="2374238"/>
            <a:ext cx="6803389" cy="73791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Data scattered across </a:t>
            </a:r>
            <a:r>
              <a:rPr lang="en-US" altLang="zh-CN">
                <a:solidFill>
                  <a:schemeClr val="bg1"/>
                </a:solidFill>
              </a:rPr>
              <a:t>different dataset → no single source provides both financial and metadata.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 userDrawn="1"/>
        </p:nvSpPr>
        <p:spPr>
          <a:xfrm>
            <a:off x="915020" y="3244235"/>
            <a:ext cx="64268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Do 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en-US" altLang="zh-CN">
                <a:solidFill>
                  <a:schemeClr val="bg1"/>
                </a:solidFill>
              </a:rPr>
              <a:t> need to query multiple sources, align genres manually.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 userDrawn="1"/>
        </p:nvSpPr>
        <p:spPr>
          <a:xfrm>
            <a:off x="915020" y="3926757"/>
            <a:ext cx="6901504" cy="10053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Existing tools: 	Only show historical charts. </a:t>
            </a:r>
            <a:endParaRPr lang="en-US" altLang="zh-CN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Ours adds: 	Provide statistical significance tests, machine learning predictions and exportable insights.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 userDrawn="1"/>
        </p:nvSpPr>
        <p:spPr>
          <a:xfrm>
            <a:off x="915020" y="5252682"/>
            <a:ext cx="6563312" cy="6246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FFFF"/>
                </a:solidFill>
              </a:rPr>
              <a:t>Our project is an interactive system which solves users' questions and lets users search different data in targeted periods </a:t>
            </a:r>
            <a:endParaRPr lang="zh-CN" altLang="en-US"/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03 /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04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9817" y="292579"/>
            <a:ext cx="2907633" cy="4152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ata Cleaning</a:t>
            </a:r>
            <a:endParaRPr>
              <a:latin typeface="Arial" panose="020B0604020202020204"/>
            </a:endParaRPr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669492" y="1304993"/>
            <a:ext cx="8619796" cy="515077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Removed missing values, duplicate records, and invalid data and fliter invalid ratings to improve data quality and consistency.</a:t>
            </a:r>
            <a:endParaRPr lang="en-US" altLang="zh-CN">
              <a:solidFill>
                <a:srgbClr val="FFFFFF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ratings had to be between 0.5 and 5.0, with increments of 0.5 only.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Standardized the data format.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we converted all movie IDs into TMDB IDs using the links.csv mapping table, so all tables could connect correctly through the same key.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Processed nested JSON data, such as genres, keywords, cast, and crew information.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and extracted and flattened these fields into separate relational tables to match our ER diagram design.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Sorted the data, unified column names and data types, and exported the cleaned results as CSV files for database import.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05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94297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Database Design: From ER Diagram to Relational Schema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880808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ER diagram was implemented as a MySQL relational schema to support structured analysis and reproducible data processing.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49440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41732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6362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CORE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592" y="181965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movie ↔ genres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5586" y="210063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many-to-many via link_genres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5234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RATING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300837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movie ↔ rate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5586" y="328935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one movie, many user ratings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94106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PEOPLE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19709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cast / credit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86" y="447807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actors, directors, writers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497014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9AA9BD"/>
                </a:solidFill>
                <a:latin typeface="Arial" panose="020B0604020202020204" pitchFamily="34" charset="0"/>
              </a:rPr>
              <a:t>The database was exported as SQL files for restoration, validation, and later project use.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26618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How Core Tables Support the Analysis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534606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Each table provides a specific part of the information needed by the dashboard.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074" y="1334902"/>
          <a:ext cx="9919970" cy="428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912"/>
                <a:gridCol w="3336783"/>
                <a:gridCol w="3639275"/>
              </a:tblGrid>
              <a:tr h="4616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Key fields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Used for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movie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budget, revenue, runtime, release_date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Box office, ROI, runtime and release timing analysis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 b="0">
                          <a:solidFill>
                            <a:srgbClr val="F2F6FF"/>
                          </a:solidFill>
                          <a:latin typeface="Arial" panose="020B0604020202020204" pitchFamily="34" charset="0"/>
                        </a:rPr>
                        <a:t>genres</a:t>
                      </a:r>
                      <a:endParaRPr sz="2000" b="0">
                        <a:solidFill>
                          <a:srgbClr val="F2F6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genres_id, genres_name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Standardized genre dictionary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link_genres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tmdbid, genres_id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Many-to-many movie-genre mapping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rate</a:t>
                      </a: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user_id, tmdbid, rating, timestamp</a:t>
                      </a:r>
                      <a:endParaRPr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Rating aggregation and audience response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2000"/>
                        <a:t>person</a:t>
                      </a:r>
                      <a:endParaRPr lang="zh-CN" altLang="en-US"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person_id, name, gender, profile_path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Basic people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cast / credit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character, department, job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Actors, directors, writers and crew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production_companies</a:t>
                      </a:r>
                      <a:endParaRPr sz="2000"/>
                    </a:p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company_id, company_name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Future company-level analysis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7074" y="5886203"/>
            <a:ext cx="596328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rial" panose="020B0604020202020204" pitchFamily="34" charset="0"/>
              </a:rPr>
              <a:t>The schema defines what can be imported, validated, and reused later.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G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areth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3944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 Import, Validation and SQL Export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67462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prepared data was imported into MySQL, validated, and exported as SQL files for project reuse.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492955" cy="8489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 pitchFamily="34" charset="0"/>
              </a:rPr>
              <a:t>Prepared CSV Files</a:t>
            </a:r>
            <a:endParaRPr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22" y="2851433"/>
            <a:ext cx="1587500" cy="13193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Entity tables and relation tables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movie, genres, rate, person, cast, credit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583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435560" cy="932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 pitchFamily="34" charset="0"/>
              </a:rPr>
              <a:t>MySQL Import</a:t>
            </a:r>
            <a:endParaRPr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3495" y="2851433"/>
            <a:ext cx="1511258" cy="131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Imported ER-based tables through phpMyAdmin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21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relational tables</a:t>
            </a:r>
            <a:endParaRPr sz="100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70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2066" y="2002503"/>
            <a:ext cx="1319530" cy="3384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 pitchFamily="34" charset="0"/>
              </a:rPr>
              <a:t>Validation</a:t>
            </a:r>
            <a:endParaRPr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034" y="2851433"/>
            <a:ext cx="1435592" cy="12759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Checked row counts, keys and relationships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primary keys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foreign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key checks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53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140" y="2002503"/>
            <a:ext cx="1435624" cy="6201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 pitchFamily="34" charset="0"/>
              </a:rPr>
              <a:t>Crew / Credit</a:t>
            </a:r>
            <a:endParaRPr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140" y="2851433"/>
            <a:ext cx="1435575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Updated missing crew-related records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endParaRPr lang="en-US" altLang="zh-CN"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isa_credit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person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made_by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5949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0828" y="2002503"/>
            <a:ext cx="1270984" cy="8488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 pitchFamily="34" charset="0"/>
              </a:rPr>
              <a:t>SQL Export</a:t>
            </a:r>
            <a:endParaRPr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76" y="2851433"/>
            <a:ext cx="1516392" cy="1437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Exported complete database and table dum</a:t>
            </a:r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tmdb.sql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separate SQL files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93827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435599" cy="6200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 pitchFamily="34" charset="0"/>
              </a:rPr>
              <a:t>Project Reuse</a:t>
            </a:r>
            <a:endParaRPr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85216" y="2873101"/>
            <a:ext cx="1508703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Files can be restored and checked later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 teammates and final demo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8228330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600" b="1">
                <a:solidFill>
                  <a:srgbClr val="F2F6FF"/>
                </a:solidFill>
                <a:latin typeface="Arial" panose="020B0604020202020204"/>
              </a:rPr>
              <a:t>SQL export makes the database reproducible for teammates and final demonstration.</a:t>
            </a:r>
            <a:endParaRPr lang="en-US" altLang="zh-CN" sz="16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系统整体界面:一个入口，八个分析视图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This section follows the sidebar order: Overview, Revenue, Genres and Time.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Overview / Revenue / Genres / Time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4380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1463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609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FILTER RAIL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14232" y="1865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Shared state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232" y="2313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year, genre, min votes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49640" y="2606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752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KPI ROW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14232" y="3008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6 cards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4232" y="3456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movies, revenue, ROI, rating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49640" y="3749039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3895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4151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4232" y="4599431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Overview to Export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95097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Presenter cue: explain that every filter updates KPIs, charts and exports together.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Revenue 视图:预算推高票房，但不保证 ROI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Use budget-revenue for market scale, then budget-ROI for efficiency and risk.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Revenue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budget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49240" cy="3337560"/>
          </a:xfrm>
          <a:prstGeom prst="rect">
            <a:avLst/>
          </a:prstGeom>
        </p:spPr>
      </p:pic>
      <p:pic>
        <p:nvPicPr>
          <p:cNvPr id="10" name="Picture 9" descr="chart_budge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49240" cy="3337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6012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 → REVENUE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r = 0.73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clear positive correlation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616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LOW BUDGET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2.45x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075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&lt; $10M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BLOCKBUSTER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2.99x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&gt; $150M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CONCLUSION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Scale ≠ efficiency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83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two goals differ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Genres 与 Time:类型和档期决定盈利侧重点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Combine genre ranking, rating distribution and release-month revenue into one analytical readout.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Genres view + Time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genre_ro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703320" cy="2971800"/>
          </a:xfrm>
          <a:prstGeom prst="rect">
            <a:avLst/>
          </a:prstGeom>
        </p:spPr>
      </p:pic>
      <p:pic>
        <p:nvPicPr>
          <p:cNvPr id="10" name="Picture 9" descr="chart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3703320" cy="2971800"/>
          </a:xfrm>
          <a:prstGeom prst="rect">
            <a:avLst/>
          </a:prstGeom>
        </p:spPr>
      </p:pic>
      <p:pic>
        <p:nvPicPr>
          <p:cNvPr id="11" name="Picture 10" descr="chart_month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389888"/>
            <a:ext cx="3383280" cy="2971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868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TOP ROI GENRE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1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Animation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2.77x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MONTH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071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Jun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071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$153.8M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2356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RATING BAND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8815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6-7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15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highest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0100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INTERACTION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6559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Metric toggle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559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ROI or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图片 8" descr="post_object_image_2139124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3" y="863600"/>
            <a:ext cx="6781800" cy="1419225"/>
          </a:xfrm>
          <a:prstGeom prst="rect">
            <a:avLst/>
          </a:prstGeom>
        </p:spPr>
      </p:pic>
      <p:pic>
        <p:nvPicPr>
          <p:cNvPr id="12" name="图片 11" descr="post_object_image_631416165"/>
          <p:cNvPicPr>
            <a:picLocks noChangeAspect="1"/>
          </p:cNvPicPr>
          <p:nvPr/>
        </p:nvPicPr>
        <p:blipFill>
          <a:blip r:embed="rId3"/>
          <a:srcRect t="-855" r="49603" b="-924"/>
          <a:stretch>
            <a:fillRect/>
          </a:stretch>
        </p:blipFill>
        <p:spPr>
          <a:xfrm>
            <a:off x="7175183" y="863600"/>
            <a:ext cx="3494617" cy="1260270"/>
          </a:xfrm>
          <a:prstGeom prst="rect">
            <a:avLst/>
          </a:prstGeom>
        </p:spPr>
      </p:pic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pic>
        <p:nvPicPr>
          <p:cNvPr id="15" name="图片 14" descr="post_object_image_41785851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33" y="3432175"/>
            <a:ext cx="6953250" cy="2705100"/>
          </a:xfrm>
          <a:prstGeom prst="rect">
            <a:avLst/>
          </a:prstGeom>
        </p:spPr>
      </p:pic>
      <p:pic>
        <p:nvPicPr>
          <p:cNvPr id="16" name="图片 15" descr="post_object_image_29027032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140" y="2462784"/>
            <a:ext cx="3457575" cy="1304925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212092" y="4101084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4747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rial"/>
              </a:defRPr>
            </a:pPr>
            <a:r>
              <a:t>ZHOU 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2743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t>12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8412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2500" b="1">
                <a:solidFill>
                  <a:srgbClr val="F2F6FF"/>
                </a:solidFill>
                <a:latin typeface="Arial"/>
              </a:defRPr>
            </a:pPr>
            <a:r>
              <a:t>Derived Variables and Test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99669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150" b="0">
                <a:solidFill>
                  <a:srgbClr val="9AA9BD"/>
                </a:solidFill>
                <a:latin typeface="Arial"/>
              </a:defRPr>
            </a:pPr>
            <a:r>
              <a:t>Continuous movie attributes are discretized into interpretable categories before entering the chi-square tests.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72784"/>
            <a:ext cx="11201400" cy="329184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283464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1">
                <a:solidFill>
                  <a:srgbClr val="2DD4BF"/>
                </a:solidFill>
                <a:latin typeface="Arial"/>
              </a:defRPr>
            </a:pPr>
            <a:r>
              <a:t>ZHOU Can · Speaker 4 · approx. 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6345936"/>
            <a:ext cx="7955279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Feature engineering for categorical inference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08760"/>
          <a:ext cx="6537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331720"/>
                <a:gridCol w="2788920"/>
              </a:tblGrid>
              <a:tr h="621792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Derived field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Definition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profitable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revenue &gt; budget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Turns financial outcome into a binary response variable.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budget_tier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&lt;$10M, $10-50M, $50-150M, &gt;$150M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Makes production scale comparable across films.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season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Winter, Spring, Summer, Fall, Awards Season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Maps release month to market timing strategy.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rating_tier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Poor, Average, Good, Great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Converts a continuous score into audience-quality bands.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35240" y="1536192"/>
            <a:ext cx="2743200" cy="868680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63256" y="1645919"/>
            <a:ext cx="248716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TESTING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1874519"/>
            <a:ext cx="248716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chi2_contingency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3256" y="2231136"/>
            <a:ext cx="2487168" cy="155447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SciPy implementation over contingency tables.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697480"/>
            <a:ext cx="2743200" cy="868680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63256" y="2807208"/>
            <a:ext cx="248716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EFFECT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6" y="3035808"/>
            <a:ext cx="248716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Arial"/>
              </a:defRPr>
            </a:pPr>
            <a:r>
              <a:t>Cramer's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3392424"/>
            <a:ext cx="2487168" cy="155447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Normalizes the chi-square statistic for association strength.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858768"/>
            <a:ext cx="2743200" cy="868680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63256" y="3968496"/>
            <a:ext cx="248716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DIAGNOSTICS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3256" y="4197096"/>
            <a:ext cx="248716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Arial"/>
              </a:defRPr>
            </a:pPr>
            <a:r>
              <a:t>Residual heatmap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4553712"/>
            <a:ext cx="2487168" cy="155447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Blue cells occur more often than expected; red cells occur less often.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969264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2F6FF"/>
                </a:solidFill>
                <a:latin typeface="Arial"/>
              </a:defRPr>
            </a:pPr>
            <a:r>
              <a:t>The same computation runs after every filter change.</a:t>
            </a:r>
          </a:p>
          <a:p>
            <a:pPr>
              <a:spcAft>
                <a:spcPts val="500"/>
              </a:spcAft>
              <a:defRPr sz="1300">
                <a:solidFill>
                  <a:srgbClr val="F2F6FF"/>
                </a:solidFill>
                <a:latin typeface="Arial"/>
              </a:defRPr>
            </a:pPr>
            <a:r>
              <a:t>This keeps the statistics consistent with the visible dashboard slice.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Release Season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 descr="post_object_image_16808580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" y="976908"/>
            <a:ext cx="6877050" cy="1476375"/>
          </a:xfrm>
          <a:prstGeom prst="rect">
            <a:avLst/>
          </a:prstGeom>
        </p:spPr>
      </p:pic>
      <p:pic>
        <p:nvPicPr>
          <p:cNvPr id="9" name="图片 8" descr="post_object_image_687827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" y="2572345"/>
            <a:ext cx="6829425" cy="400050"/>
          </a:xfrm>
          <a:prstGeom prst="rect">
            <a:avLst/>
          </a:prstGeom>
        </p:spPr>
      </p:pic>
      <p:pic>
        <p:nvPicPr>
          <p:cNvPr id="10" name="图片 9" descr="post_object_image_40210068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195638"/>
            <a:ext cx="6829425" cy="2800350"/>
          </a:xfrm>
          <a:prstGeom prst="rect">
            <a:avLst/>
          </a:prstGeom>
        </p:spPr>
      </p:pic>
      <p:pic>
        <p:nvPicPr>
          <p:cNvPr id="12" name="图片 11" descr="post_object_image_26251357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429000" cy="1200150"/>
          </a:xfrm>
          <a:prstGeom prst="rect">
            <a:avLst/>
          </a:prstGeom>
        </p:spPr>
      </p:pic>
      <p:pic>
        <p:nvPicPr>
          <p:cNvPr id="14" name="图片 13" descr="post_object_image_20813978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917" y="2453283"/>
            <a:ext cx="3400425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post_object_image_2115506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967383"/>
            <a:ext cx="6886575" cy="1485900"/>
          </a:xfrm>
          <a:prstGeom prst="rect">
            <a:avLst/>
          </a:prstGeom>
        </p:spPr>
      </p:pic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6" name="图片 5" descr="post_object_image_38034183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3" y="3369469"/>
            <a:ext cx="6858000" cy="2143125"/>
          </a:xfrm>
          <a:prstGeom prst="rect">
            <a:avLst/>
          </a:prstGeom>
        </p:spPr>
      </p:pic>
      <p:pic>
        <p:nvPicPr>
          <p:cNvPr id="7" name="图片 6" descr="post_object_image_34757556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390900" cy="1200150"/>
          </a:xfrm>
          <a:prstGeom prst="rect">
            <a:avLst/>
          </a:prstGeom>
        </p:spPr>
      </p:pic>
      <p:pic>
        <p:nvPicPr>
          <p:cNvPr id="13" name="图片 12" descr="post_object_image_18718698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629" y="2453283"/>
            <a:ext cx="3362325" cy="120015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</a:t>
            </a:r>
            <a:r>
              <a:rPr lang="en-US" altLang="zh-CN">
                <a:solidFill>
                  <a:schemeClr val="bg1"/>
                </a:solidFill>
              </a:rPr>
              <a:t> Tier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8" name="图片 7" descr="post_object_image_1241299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" y="967383"/>
            <a:ext cx="6877050" cy="1485900"/>
          </a:xfrm>
          <a:prstGeom prst="rect">
            <a:avLst/>
          </a:prstGeom>
        </p:spPr>
      </p:pic>
      <p:pic>
        <p:nvPicPr>
          <p:cNvPr id="9" name="图片 8" descr="post_object_image_3050533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448156"/>
            <a:ext cx="6877050" cy="2233506"/>
          </a:xfrm>
          <a:prstGeom prst="rect">
            <a:avLst/>
          </a:prstGeom>
        </p:spPr>
      </p:pic>
      <p:pic>
        <p:nvPicPr>
          <p:cNvPr id="10" name="图片 9" descr="post_object_image_12300968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409950" cy="1238250"/>
          </a:xfrm>
          <a:prstGeom prst="rect">
            <a:avLst/>
          </a:prstGeom>
        </p:spPr>
      </p:pic>
      <p:pic>
        <p:nvPicPr>
          <p:cNvPr id="12" name="图片 11" descr="post_object_image_3577514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867" y="2453283"/>
            <a:ext cx="3390900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ZHOU Can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派生字段让统计检验可解释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把连续变量转成类别变量，才能进入卡方检验和交叉表热力图。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ZHOU Can · approx. 2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Derived variables and interpretation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BUDGET_TIER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&lt;$10M / $10-50M / $50-150M / &gt;$150M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低/中/高/大片预算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7639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SEASON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22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Winter / Spring / Summer / Fall / Awards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月份映射为档期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PROFITABLE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26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revenue &gt; budget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26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盈利 / 未盈利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9326880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讲图时先读 p-value:是否显著。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再读 Cramér's V:关联强度大小。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最后读 residual heatmap:哪些类别组合贡献了差异。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9966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这一页的作用:帮助听众理解系统里的统计模块不是单纯画热力图，而是在检验变量关系。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49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LIAO Shuaiyu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2602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2990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Lin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  <a:cs typeface="Arial" panose="020B0604020202020204" pitchFamily="34" charset="0"/>
              </a:rPr>
              <a:t>ear </a:t>
            </a:r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Regressio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6583680" cy="347472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635240" y="1554480"/>
            <a:ext cx="2539365" cy="1127125"/>
            <a:chOff x="12024" y="2448"/>
            <a:chExt cx="3999" cy="1775"/>
          </a:xfrm>
        </p:grpSpPr>
        <p:sp>
          <p:nvSpPr>
            <p:cNvPr id="10" name="Rectangle 9"/>
            <p:cNvSpPr/>
            <p:nvPr/>
          </p:nvSpPr>
          <p:spPr>
            <a:xfrm>
              <a:off x="12024" y="2448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83" y="2678"/>
              <a:ext cx="2053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VARIABLES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283" y="3082"/>
              <a:ext cx="267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3B82F6"/>
                  </a:solidFill>
                  <a:latin typeface="Arial" panose="020B0604020202020204"/>
                </a:rPr>
                <a:t>8</a:t>
              </a:r>
              <a:endParaRPr sz="24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83" y="3787"/>
              <a:ext cx="374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budget, revenue, ROI...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635305" y="2956061"/>
            <a:ext cx="2514600" cy="1127125"/>
            <a:chOff x="12024" y="4176"/>
            <a:chExt cx="3960" cy="1775"/>
          </a:xfrm>
        </p:grpSpPr>
        <p:sp>
          <p:nvSpPr>
            <p:cNvPr id="14" name="Rectangle 13"/>
            <p:cNvSpPr/>
            <p:nvPr/>
          </p:nvSpPr>
          <p:spPr>
            <a:xfrm>
              <a:off x="12024" y="4176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283" y="4406"/>
              <a:ext cx="10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SPLIT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83" y="4810"/>
              <a:ext cx="1201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2DD4BF"/>
                  </a:solidFill>
                  <a:latin typeface="Arial" panose="020B0604020202020204"/>
                </a:rPr>
                <a:t>80/20</a:t>
              </a:r>
              <a:endParaRPr sz="24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283" y="5515"/>
              <a:ext cx="15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train / test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7635305" y="4362034"/>
            <a:ext cx="2514600" cy="1127125"/>
            <a:chOff x="12024" y="5904"/>
            <a:chExt cx="3960" cy="1775"/>
          </a:xfrm>
        </p:grpSpPr>
        <p:sp>
          <p:nvSpPr>
            <p:cNvPr id="18" name="Rectangle 17"/>
            <p:cNvSpPr/>
            <p:nvPr/>
          </p:nvSpPr>
          <p:spPr>
            <a:xfrm>
              <a:off x="12024" y="5904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83" y="6134"/>
              <a:ext cx="14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OUTPUT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83" y="6538"/>
              <a:ext cx="1879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A855F7"/>
                  </a:solidFill>
                  <a:latin typeface="Arial" panose="020B0604020202020204"/>
                </a:rPr>
                <a:t>R² + line</a:t>
              </a:r>
              <a:endParaRPr sz="24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283" y="7243"/>
              <a:ext cx="25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fit quality visible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501078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Prediction:Gradient Boosting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28" y="1328909"/>
            <a:ext cx="11397025" cy="2568877"/>
          </a:xfrm>
          <a:prstGeom prst="rect">
            <a:avLst/>
          </a:prstGeom>
        </p:spPr>
      </p:pic>
      <p:grpSp>
        <p:nvGrpSpPr>
          <p:cNvPr id="42" name="组合 41"/>
          <p:cNvGrpSpPr/>
          <p:nvPr userDrawn="1"/>
        </p:nvGrpSpPr>
        <p:grpSpPr>
          <a:xfrm>
            <a:off x="7003286" y="4086928"/>
            <a:ext cx="2194560" cy="1065530"/>
            <a:chOff x="11592" y="2232"/>
            <a:chExt cx="3456" cy="1678"/>
          </a:xfrm>
        </p:grpSpPr>
        <p:sp>
          <p:nvSpPr>
            <p:cNvPr id="10" name="Rectangle 9"/>
            <p:cNvSpPr/>
            <p:nvPr/>
          </p:nvSpPr>
          <p:spPr>
            <a:xfrm>
              <a:off x="11592" y="223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51" y="2462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1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51" y="286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log(budget)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51" y="3571"/>
              <a:ext cx="2196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scale stabilisation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组合 42"/>
          <p:cNvGrpSpPr/>
          <p:nvPr userDrawn="1"/>
        </p:nvGrpSpPr>
        <p:grpSpPr>
          <a:xfrm>
            <a:off x="9756124" y="4086928"/>
            <a:ext cx="1828800" cy="1065530"/>
            <a:chOff x="15336" y="2232"/>
            <a:chExt cx="2880" cy="1678"/>
          </a:xfrm>
        </p:grpSpPr>
        <p:sp>
          <p:nvSpPr>
            <p:cNvPr id="14" name="Rectangle 13"/>
            <p:cNvSpPr/>
            <p:nvPr/>
          </p:nvSpPr>
          <p:spPr>
            <a:xfrm>
              <a:off x="15336" y="2232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95" y="2462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2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95" y="2866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2DD4BF"/>
                  </a:solidFill>
                  <a:latin typeface="Arial" panose="020B0604020202020204"/>
                </a:rPr>
                <a:t>genre</a:t>
              </a:r>
              <a:endParaRPr sz="22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95" y="3571"/>
              <a:ext cx="194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OrdinalEncoder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>
            <a:off x="7003337" y="5311470"/>
            <a:ext cx="2194560" cy="1065530"/>
            <a:chOff x="11592" y="3960"/>
            <a:chExt cx="3456" cy="1678"/>
          </a:xfrm>
        </p:grpSpPr>
        <p:sp>
          <p:nvSpPr>
            <p:cNvPr id="18" name="Rectangle 17"/>
            <p:cNvSpPr/>
            <p:nvPr/>
          </p:nvSpPr>
          <p:spPr>
            <a:xfrm>
              <a:off x="11592" y="3960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1" y="4190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3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51" y="4594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month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51" y="5299"/>
              <a:ext cx="174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release timing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9756175" y="5311470"/>
            <a:ext cx="1828800" cy="1065530"/>
            <a:chOff x="15336" y="3960"/>
            <a:chExt cx="2880" cy="1678"/>
          </a:xfrm>
        </p:grpSpPr>
        <p:sp>
          <p:nvSpPr>
            <p:cNvPr id="22" name="Rectangle 21"/>
            <p:cNvSpPr/>
            <p:nvPr/>
          </p:nvSpPr>
          <p:spPr>
            <a:xfrm>
              <a:off x="15336" y="3960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595" y="4190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4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95" y="4594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runtime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595" y="5299"/>
              <a:ext cx="98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minutes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761336" y="3897843"/>
            <a:ext cx="2194560" cy="1079500"/>
            <a:chOff x="1440" y="7272"/>
            <a:chExt cx="3456" cy="1700"/>
          </a:xfrm>
        </p:grpSpPr>
        <p:sp>
          <p:nvSpPr>
            <p:cNvPr id="26" name="Rectangle 25"/>
            <p:cNvSpPr/>
            <p:nvPr/>
          </p:nvSpPr>
          <p:spPr>
            <a:xfrm>
              <a:off x="144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9" y="7502"/>
              <a:ext cx="135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REVENUE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" y="8634"/>
              <a:ext cx="226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log revenue target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761336" y="5296901"/>
            <a:ext cx="2194560" cy="1079500"/>
            <a:chOff x="5400" y="7272"/>
            <a:chExt cx="3456" cy="1700"/>
          </a:xfrm>
        </p:grpSpPr>
        <p:sp>
          <p:nvSpPr>
            <p:cNvPr id="30" name="Rectangle 29"/>
            <p:cNvSpPr/>
            <p:nvPr/>
          </p:nvSpPr>
          <p:spPr>
            <a:xfrm>
              <a:off x="540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9" y="7502"/>
              <a:ext cx="49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ROI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5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9" y="8634"/>
              <a:ext cx="2369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97th percentile cap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3517952" y="3897785"/>
            <a:ext cx="2194560" cy="1080095"/>
            <a:chOff x="9360" y="7272"/>
            <a:chExt cx="3456" cy="1701"/>
          </a:xfrm>
        </p:grpSpPr>
        <p:sp>
          <p:nvSpPr>
            <p:cNvPr id="34" name="Rectangle 33"/>
            <p:cNvSpPr/>
            <p:nvPr/>
          </p:nvSpPr>
          <p:spPr>
            <a:xfrm>
              <a:off x="936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19" y="7502"/>
              <a:ext cx="102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PROFIT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19" y="7906"/>
              <a:ext cx="2764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indent="0" algn="l" defTabSz="45720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sz="2200" b="1">
                  <a:solidFill>
                    <a:srgbClr val="2DD4BF"/>
                  </a:solidFill>
                  <a:latin typeface="Arial" panose="020B0604020202020204" pitchFamily="34" charset="0"/>
                </a:rPr>
                <a:t>GB Classifier</a:t>
              </a:r>
              <a:endParaRPr sz="2200" b="1">
                <a:solidFill>
                  <a:srgbClr val="2DD4B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9" y="8634"/>
              <a:ext cx="219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revenue &gt; budget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3517912" y="5296864"/>
            <a:ext cx="2194560" cy="1079500"/>
            <a:chOff x="13320" y="7272"/>
            <a:chExt cx="3456" cy="1700"/>
          </a:xfrm>
        </p:grpSpPr>
        <p:sp>
          <p:nvSpPr>
            <p:cNvPr id="38" name="Rectangle 37"/>
            <p:cNvSpPr/>
            <p:nvPr/>
          </p:nvSpPr>
          <p:spPr>
            <a:xfrm>
              <a:off x="1332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79" y="7502"/>
              <a:ext cx="1192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PARAMS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7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300 · 0.05 · 4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79" y="8634"/>
              <a:ext cx="197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trees · lr · depth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6764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9992"/>
            <a:ext cx="6858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INPUT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 panose="020B0604020202020204"/>
              </a:rPr>
              <a:t>$80M</a:t>
            </a:r>
            <a:endParaRPr sz="24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167" y="2248464"/>
            <a:ext cx="2006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Action·July·125 min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399992"/>
            <a:ext cx="11049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REVENUE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742654"/>
            <a:ext cx="118618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 panose="020B0604020202020204"/>
              </a:rPr>
              <a:t>$184.1M</a:t>
            </a:r>
            <a:endParaRPr sz="24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7887" y="2248464"/>
            <a:ext cx="19812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$132.5M - $261.4M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399992"/>
            <a:ext cx="4064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ROI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955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A855F7"/>
                </a:solidFill>
                <a:latin typeface="Arial" panose="020B0604020202020204"/>
              </a:rPr>
              <a:t>3.35x</a:t>
            </a:r>
            <a:endParaRPr sz="24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9607" y="2248464"/>
            <a:ext cx="1917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predicted multiplier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399992"/>
            <a:ext cx="1625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PROFIT PROB.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1742654"/>
            <a:ext cx="8642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86EFAC"/>
                </a:solidFill>
                <a:latin typeface="Arial" panose="020B0604020202020204"/>
              </a:rPr>
              <a:t>84.9%</a:t>
            </a:r>
            <a:endParaRPr sz="24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1326" y="2248464"/>
            <a:ext cx="208915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P(revenue &gt; budget)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743200"/>
          <a:ext cx="80304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26"/>
                <a:gridCol w="808549"/>
                <a:gridCol w="1068440"/>
                <a:gridCol w="1140632"/>
                <a:gridCol w="822988"/>
                <a:gridCol w="909618"/>
                <a:gridCol w="909618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Title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Year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Budget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Revenue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ROI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Rating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Genre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Batman Returns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3.50x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Mummy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1999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$415.9M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5.20x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Face/Off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1997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$245.7M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3.07x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6.9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Mission: Impossible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$457.7M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5.72x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7.1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Time Machine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2002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$123.7M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1.55x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4.3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8363" y="5379552"/>
            <a:ext cx="9156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Comparable rows are real films selected by nearest budget within the same primary genre.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1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706691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Insights View — Automated Data Discovery</a:t>
            </a:r>
            <a:endParaRPr lang="en-US" altLang="zh-CN"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45363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Four headline KPIs + four trend charts + two qualitative findings, all recomputed live from 5,375 validated films.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图片 34" descr="post_object_image_26264169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1" y="1560221"/>
            <a:ext cx="10362854" cy="4233041"/>
          </a:xfrm>
          <a:prstGeom prst="rect">
            <a:avLst/>
          </a:prstGeom>
        </p:spPr>
      </p:pic>
      <p:pic>
        <p:nvPicPr>
          <p:cNvPr id="21" name="图片 20" descr="post_object_image_1025654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87" y="1614974"/>
            <a:ext cx="2430528" cy="1180330"/>
          </a:xfrm>
          <a:prstGeom prst="rect">
            <a:avLst/>
          </a:prstGeom>
        </p:spPr>
      </p:pic>
      <p:pic>
        <p:nvPicPr>
          <p:cNvPr id="22" name="图片 21" descr="post_object_image_39228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09" y="1614994"/>
            <a:ext cx="2422836" cy="1146893"/>
          </a:xfrm>
          <a:prstGeom prst="rect">
            <a:avLst/>
          </a:prstGeom>
        </p:spPr>
      </p:pic>
      <p:pic>
        <p:nvPicPr>
          <p:cNvPr id="23" name="图片 22" descr="post_object_image_1584795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02" y="1595431"/>
            <a:ext cx="2462080" cy="1199885"/>
          </a:xfrm>
          <a:prstGeom prst="rect">
            <a:avLst/>
          </a:prstGeom>
        </p:spPr>
      </p:pic>
      <p:pic>
        <p:nvPicPr>
          <p:cNvPr id="24" name="图片 23" descr="post_object_image_26231480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038" y="1614994"/>
            <a:ext cx="2440241" cy="1146863"/>
          </a:xfrm>
          <a:prstGeom prst="rect">
            <a:avLst/>
          </a:prstGeom>
        </p:spPr>
      </p:pic>
      <p:pic>
        <p:nvPicPr>
          <p:cNvPr id="25" name="图片 24" descr="post_object_image_712007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91" y="2777486"/>
            <a:ext cx="2430517" cy="1641932"/>
          </a:xfrm>
          <a:prstGeom prst="rect">
            <a:avLst/>
          </a:prstGeom>
        </p:spPr>
      </p:pic>
      <p:pic>
        <p:nvPicPr>
          <p:cNvPr id="27" name="图片 26" descr="post_object_image_2745219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806" y="2795316"/>
            <a:ext cx="2447432" cy="1606358"/>
          </a:xfrm>
          <a:prstGeom prst="rect">
            <a:avLst/>
          </a:prstGeom>
        </p:spPr>
      </p:pic>
      <p:pic>
        <p:nvPicPr>
          <p:cNvPr id="28" name="图片 27" descr="post_object_image_12547422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594" y="2795316"/>
            <a:ext cx="2462070" cy="1641934"/>
          </a:xfrm>
          <a:prstGeom prst="rect">
            <a:avLst/>
          </a:prstGeom>
        </p:spPr>
      </p:pic>
      <p:pic>
        <p:nvPicPr>
          <p:cNvPr id="30" name="图片 29" descr="post_object_image_3498125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91" y="2795316"/>
            <a:ext cx="2683902" cy="160638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221650" y="4923162"/>
            <a:ext cx="4897968" cy="5346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91%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of films span two or more genres. Blending genres broadens audience reach — pure single-genre films are now the minority. The most common pairings are Comedy + Drama and Drama + Romance, both of which combine broad appeal with lower production costs.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12461" y="4542484"/>
            <a:ext cx="3999964" cy="39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🎭 </a:t>
            </a:r>
            <a:r>
              <a:rPr lang="en-US" altLang="zh-CN" b="1">
                <a:solidFill>
                  <a:schemeClr val="accent1"/>
                </a:solidFill>
              </a:rPr>
              <a:t>FINDING · MULTI-GENRE STRATEGY</a:t>
            </a:r>
            <a:endParaRPr lang="en-US" altLang="zh-CN" b="1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19618" y="4542506"/>
            <a:ext cx="3936844" cy="3806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FF00"/>
                </a:solidFill>
              </a:rPr>
              <a:t>⭐ FINDING · THE RATING SWEET SPOT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895" y="4923162"/>
            <a:ext cx="4874363" cy="5346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Films rated </a:t>
            </a:r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 – 7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earn the highest average box office ($304.3M), outperforming even 8+ critically acclaimed films. Mass-market entertainment that satisfies without polarising audiences consistently captures the widest theatrical audience.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85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Export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Every filter slice can be downloaded as a CSV — bring your own analysis stack: Excel, R, Python, Tableau, anything that reads UTF-8 CSV.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  <a:p>
            <a:pPr algn="l"/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图片 22" descr="post_object_image_23354118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4" y="1234903"/>
            <a:ext cx="10134917" cy="50561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8669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onclusion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Summary </a:t>
            </a:r>
            <a:r>
              <a:rPr lang="zh-CN" altLang="en-US" sz="1200">
                <a:solidFill>
                  <a:srgbClr val="9AA9BD"/>
                </a:solidFill>
                <a:latin typeface="Arial" panose="020B0604020202020204" pitchFamily="34" charset="0"/>
              </a:rPr>
              <a:t>&amp;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future work</a:t>
            </a:r>
            <a:endParaRPr lang="en-US" altLang="zh-CN"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8" descr="post_object_image_2458251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40" y="1322131"/>
            <a:ext cx="3990975" cy="4800600"/>
          </a:xfrm>
          <a:prstGeom prst="rect">
            <a:avLst/>
          </a:prstGeom>
        </p:spPr>
      </p:pic>
      <p:pic>
        <p:nvPicPr>
          <p:cNvPr id="10" name="图片 9" descr="post_object_image_2054379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5" y="1322131"/>
            <a:ext cx="3990975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13064" y="2466329"/>
            <a:ext cx="302621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8 analytical views</a:t>
            </a:r>
            <a:r>
              <a:rPr lang="en-US" altLang="zh-CN" sz="2400"/>
              <a:t> </a:t>
            </a:r>
            <a:endParaRPr lang="en-US" altLang="zh-CN" sz="2400"/>
          </a:p>
        </p:txBody>
      </p:sp>
      <p:pic>
        <p:nvPicPr>
          <p:cNvPr id="12" name="图片 11" descr="post_object_image_30801339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040" y="1563918"/>
            <a:ext cx="469051" cy="469051"/>
          </a:xfrm>
          <a:prstGeom prst="rect">
            <a:avLst/>
          </a:prstGeom>
        </p:spPr>
      </p:pic>
      <p:pic>
        <p:nvPicPr>
          <p:cNvPr id="13" name="图片 12" descr="post_object_image_191154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4" y="1563920"/>
            <a:ext cx="469049" cy="4690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7375" y="3339422"/>
            <a:ext cx="260559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3 machine learning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3190891" y="4212454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2 statistical test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7098206" y="2466329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Live TMDB API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879910" y="4212451"/>
            <a:ext cx="261520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Sentiment analysis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6661669" y="3339422"/>
            <a:ext cx="3051684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Director and cast data </a:t>
            </a:r>
            <a:r>
              <a:rPr lang="en-US" altLang="zh-CN" sz="2400"/>
              <a:t> 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943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END OF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029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2F6FF"/>
                </a:solidFill>
                <a:latin typeface="Arial" panose="020B0604020202020204"/>
              </a:rPr>
              <a:t>Thank you.</a:t>
            </a:r>
            <a:endParaRPr sz="4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23495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rial" panose="020B0604020202020204"/>
              </a:rPr>
              <a:t>Questions welcomed.</a:t>
            </a:r>
            <a:endParaRPr sz="1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Team: ZHOU Can · CHEN Ziming · DAI Ling · LIAO Shuaiyu · PAN Meihao · ZHU Junyu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8288</Words>
  <Application>WPS Office WWO_wpscloud_20260508175737-a9385e8bc7</Application>
  <PresentationFormat>On-screen Show (4:3)</PresentationFormat>
  <Paragraphs>697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微软雅黑</vt:lpstr>
      <vt:lpstr>汉仪旗黑KW 55S</vt:lpstr>
      <vt:lpstr>汉仪书宋二KW</vt:lpstr>
      <vt:lpstr>Kingsoft Confetti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Steve Canny</cp:lastModifiedBy>
  <dcterms:created xsi:type="dcterms:W3CDTF">2026-05-17T17:08:02Z</dcterms:created>
  <dcterms:modified xsi:type="dcterms:W3CDTF">2026-05-17T17:08:02Z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3DEAA9961D1E2DDC7CB7056A15C7B56A_42</vt:lpwstr>
  </property>
  <property fmtid="{D5CDD505-2E9C-101B-9397-08002B2CF9AE}" pid="3" name="KSOProductBuildVer">
    <vt:lpwstr>2052-12.9.0.26427</vt:lpwstr>
  </property>
</Properties>
</file>