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Relationship Id="rId8" Type="http://schemas.openxmlformats.org/officeDocument/2006/relationships/image" Target="../media/image3.jpeg"/><Relationship Id="rId9" Type="http://schemas.openxmlformats.org/officeDocument/2006/relationships/image" Target="../media/image5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ZHOU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11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Chi-Square Independence Testing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The module converts filtered movie records into categorical hypotheses and evaluates whether observed distributions deviate from independence.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283464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1">
                <a:solidFill>
                  <a:srgbClr val="2DD4BF"/>
                </a:solidFill>
                <a:latin typeface="Arial"/>
              </a:defRPr>
            </a:pPr>
            <a:r>
              <a:t>ZHOU Can · Speaker 4 · approx.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6345936"/>
            <a:ext cx="7955279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Method overview</a:t>
            </a:r>
          </a:p>
        </p:txBody>
      </p:sp>
      <p:pic>
        <p:nvPicPr>
          <p:cNvPr id="11" name="Picture 10" descr="chi_square_mai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1417320"/>
            <a:ext cx="5349240" cy="3017520"/>
          </a:xfrm>
          <a:prstGeom prst="rect">
            <a:avLst/>
          </a:prstGeom>
          <a:ln w="10160">
            <a:solidFill>
              <a:srgbClr val="27364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58368" y="1508760"/>
            <a:ext cx="4983480" cy="1874519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>
              <a:spcAft>
                <a:spcPts val="500"/>
              </a:spcAft>
              <a:defRPr sz="1340">
                <a:solidFill>
                  <a:srgbClr val="F2F6FF"/>
                </a:solidFill>
                <a:latin typeface="Arial"/>
              </a:defRPr>
            </a:pPr>
            <a:r>
              <a:t>Purpose: test whether two categorical variables are statistically associated under the current dashboard filters.</a:t>
            </a:r>
          </a:p>
          <a:p>
            <a:pPr>
              <a:spcAft>
                <a:spcPts val="500"/>
              </a:spcAft>
              <a:defRPr sz="1340">
                <a:solidFill>
                  <a:srgbClr val="F2F6FF"/>
                </a:solidFill>
                <a:latin typeface="Arial"/>
              </a:defRPr>
            </a:pPr>
            <a:r>
              <a:t>Null hypothesis H0: the variables are independent; p &lt; 0.05 rejects H0.</a:t>
            </a:r>
          </a:p>
          <a:p>
            <a:pPr>
              <a:spcAft>
                <a:spcPts val="500"/>
              </a:spcAft>
              <a:defRPr sz="1340">
                <a:solidFill>
                  <a:srgbClr val="F2F6FF"/>
                </a:solidFill>
                <a:latin typeface="Arial"/>
              </a:defRPr>
            </a:pPr>
            <a:r>
              <a:t>Outputs: contingency table, chi-square statistic, degrees of freedom, p-value, Cramer's V and standardized residuals.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09160"/>
            <a:ext cx="2487168" cy="84124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818888"/>
            <a:ext cx="223113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5047488"/>
            <a:ext cx="22311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Arial"/>
              </a:defRPr>
            </a:pPr>
            <a:r>
              <a:t>Filter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5404104"/>
            <a:ext cx="223113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Year, genre and vote thresholds define the analysis slice.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709160"/>
            <a:ext cx="2487168" cy="84124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4818888"/>
            <a:ext cx="223113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5047488"/>
            <a:ext cx="22311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Arial"/>
              </a:defRPr>
            </a:pPr>
            <a:r>
              <a:t>Derive 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5404104"/>
            <a:ext cx="223113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budget_tier, season, profitable and rating_tier.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709160"/>
            <a:ext cx="2487168" cy="84124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5" y="4818888"/>
            <a:ext cx="223113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5" y="5047488"/>
            <a:ext cx="22311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A855F7"/>
                </a:solidFill>
                <a:latin typeface="Arial"/>
              </a:defRPr>
            </a:pPr>
            <a:r>
              <a:t>Run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5" y="5404104"/>
            <a:ext cx="223113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scipy.stats.chi2_contingency over observed counts.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4709160"/>
            <a:ext cx="2487168" cy="841248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4818888"/>
            <a:ext cx="223113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5047488"/>
            <a:ext cx="223113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Arial"/>
              </a:defRPr>
            </a:pPr>
            <a:r>
              <a:t>Diagnose cells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04104"/>
            <a:ext cx="223113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Residual heatmap explains which cells drive deviation.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ZHOU Can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派生字段让统计检验可解释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把连续变量转成类别变量，才能进入卡方检验和交叉表热力图。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ZHOU Can · approx. 2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Derived variables and interpretation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BUDGET_TIER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&lt;$10M / $10-50M / $50-150M / &gt;$150M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低/中/高/大片预算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77639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SEASON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22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Winter / Spring / Summer / Fall / Awards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月份映射为档期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1554480"/>
            <a:ext cx="2926080" cy="11430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2631" y="1700784"/>
            <a:ext cx="259689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PROFITABLE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42631" y="1956816"/>
            <a:ext cx="259689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revenue &gt; budget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42631" y="2404872"/>
            <a:ext cx="259689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盈利 / 未盈利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9326880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讲图时先读 p-value:是否显著。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再读 Cramér's V:关联强度大小。</a:t>
            </a:r>
          </a:p>
          <a:p>
            <a:pPr>
              <a:spcAft>
                <a:spcPts val="800"/>
              </a:spcAft>
              <a:defRPr sz="1800">
                <a:solidFill>
                  <a:srgbClr val="F2F6FF"/>
                </a:solidFill>
                <a:latin typeface="Arial" panose="020B0604020202020204"/>
              </a:defRPr>
            </a:pPr>
            <a:r>
              <a:t>最后读 residual heatmap:哪些类别组合贡献了差异。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966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这一页的作用:帮助听众理解系统里的统计模块不是单纯画热力图，而是在检验变量关系。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