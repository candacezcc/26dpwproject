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80" r:id="rId9"/>
    <p:sldId id="262" r:id="rId10"/>
    <p:sldId id="263" r:id="rId11"/>
    <p:sldId id="264" r:id="rId12"/>
    <p:sldId id="265" r:id="rId13"/>
    <p:sldId id="276" r:id="rId14"/>
    <p:sldId id="277" r:id="rId15"/>
    <p:sldId id="278" r:id="rId16"/>
    <p:sldId id="279" r:id="rId17"/>
    <p:sldId id="266" r:id="rId18"/>
    <p:sldId id="282" r:id="rId19"/>
    <p:sldId id="268" r:id="rId20"/>
    <p:sldId id="269" r:id="rId21"/>
    <p:sldId id="270" r:id="rId22"/>
    <p:sldId id="271" r:id="rId23"/>
    <p:sldId id="281" r:id="rId24"/>
    <p:sldId id="273" r:id="rId2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5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4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27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50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Relationship Id="rId10" Type="http://schemas.openxmlformats.org/officeDocument/2006/relationships/image" Target="../media/image45.png"/><Relationship Id="rId1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6.png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5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40" y="-317"/>
            <a:ext cx="12216782" cy="685830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85800" y="502920"/>
            <a:ext cx="53035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Arial" panose="020B0604020202020204"/>
              </a:rPr>
              <a:t>26DPWPROJECT · FINAL PRESENTATION</a:t>
            </a:r>
            <a:endParaRPr sz="10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6858000" cy="1417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900" b="1">
                <a:solidFill>
                  <a:srgbClr val="F2F6FF"/>
                </a:solidFill>
                <a:latin typeface="Arial" panose="020B0604020202020204"/>
              </a:rPr>
              <a:t>TMDB Movie Analytics
Dashboard</a:t>
            </a:r>
            <a:endParaRPr sz="39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3977639"/>
            <a:ext cx="21488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18196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DATASET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96112" y="4379976"/>
            <a:ext cx="18196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45,346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4828031"/>
            <a:ext cx="18196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analysis-ready films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154680" y="3977639"/>
            <a:ext cx="21488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9272" y="4123944"/>
            <a:ext cx="18196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FINANCIAL ROWS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19272" y="4379976"/>
            <a:ext cx="18196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5,375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19272" y="4828031"/>
            <a:ext cx="18196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budget + revenue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577840" y="3977639"/>
            <a:ext cx="21488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42431" y="4123944"/>
            <a:ext cx="18196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VIEWS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742431" y="4379976"/>
            <a:ext cx="18196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8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742431" y="4828031"/>
            <a:ext cx="18196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dashboard sections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001000" y="3977639"/>
            <a:ext cx="21488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5592" y="4123944"/>
            <a:ext cx="18196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DEMO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165592" y="4379976"/>
            <a:ext cx="18196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Arial" panose="020B0604020202020204"/>
              </a:rPr>
              <a:t>5 min</a:t>
            </a:r>
            <a:endParaRPr sz="2200" b="1">
              <a:solidFill>
                <a:srgbClr val="FBBF24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165592" y="4828031"/>
            <a:ext cx="18196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live system walkthrough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1520" y="5687568"/>
            <a:ext cx="89611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9AA9BD"/>
                </a:solidFill>
                <a:latin typeface="Arial" panose="020B0604020202020204"/>
              </a:rPr>
              <a:t>ZHOU Can · CHEN Ziming · DAI Ling · LIAO Shuaiyu · PAN Meihao · ZHU Junyu</a:t>
            </a:r>
            <a:endParaRPr sz="11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8404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/>
              </a:rPr>
              <a:t>TALK MAP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02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04672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按演讲分工重构后的汇报路线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9264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9BD"/>
                </a:solidFill>
                <a:latin typeface="Arial" panose="020B0604020202020204"/>
              </a:rPr>
              <a:t>顺序跟随 dashboard 侧边栏视图，同时让每位成员有清晰负责段落。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1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0392" y="2002536"/>
            <a:ext cx="12710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Project + Data Cleaning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039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2.5 min
背景、数据来源、Python 清洗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51460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91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2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79192" y="2002536"/>
            <a:ext cx="12710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Database + ER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7919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2.5 min
关系设计、核心表、SQL 导出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2628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3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90872" y="2002536"/>
            <a:ext cx="12710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Dashboard Views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69087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3 min
Overview / Revenue / Genres / Time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53796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255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4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02552" y="2002536"/>
            <a:ext cx="12710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Arial" panose="020B0604020202020204"/>
              </a:rPr>
              <a:t>Chi-Square</a:t>
            </a:r>
            <a:endParaRPr sz="2200" b="1">
              <a:solidFill>
                <a:srgbClr val="FBBF24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70255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 min
分类变量显著性检验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54964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423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5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714232" y="2002536"/>
            <a:ext cx="12710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86EFAC"/>
                </a:solidFill>
                <a:latin typeface="Arial" panose="020B0604020202020204"/>
              </a:rPr>
              <a:t>Regression + Prediction</a:t>
            </a:r>
            <a:endParaRPr sz="2200" b="1">
              <a:solidFill>
                <a:srgbClr val="86EFAC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71423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2.5 min
线性回归与 Gradient Boosting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005840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229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6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222992" y="2002536"/>
            <a:ext cx="12710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B7185"/>
                </a:solidFill>
                <a:latin typeface="Arial" panose="020B0604020202020204"/>
              </a:rPr>
              <a:t>Insights + Export + Summary</a:t>
            </a:r>
            <a:endParaRPr sz="2200" b="1">
              <a:solidFill>
                <a:srgbClr val="FB7185"/>
              </a:solidFill>
              <a:latin typeface="Arial" panose="020B060402020202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22299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2.5 min
自动洞察、导出、局限与未来方向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2960" y="5440680"/>
            <a:ext cx="98755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F2F6FF"/>
                </a:solidFill>
                <a:latin typeface="Arial" panose="020B0604020202020204"/>
              </a:rPr>
              <a:t>Demo &amp; Q&amp;A: 5 min · 第三位或第六位主操作，其他成员辅助回答。</a:t>
            </a:r>
            <a:endParaRPr sz="1600" b="1">
              <a:solidFill>
                <a:srgbClr val="F2F6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7" name="Picture 26" descr="post_object_image_39961275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16308" cy="68580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64447" y="512062"/>
            <a:ext cx="9692640" cy="93573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2400" b="1">
                <a:solidFill>
                  <a:srgbClr val="F2F6FF"/>
                </a:solidFill>
                <a:latin typeface="Arial" panose="020B0604020202020204"/>
              </a:rPr>
              <a:t>Project Background: From Scattered Film Data to an Interactive Decision-Making System</a:t>
            </a:r>
            <a:endParaRPr lang="en-US" altLang="zh-CN" sz="24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7220" y="1648587"/>
            <a:ext cx="6092190" cy="56730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altLang="zh-CN" sz="1400">
                <a:solidFill>
                  <a:srgbClr val="00B0F0"/>
                </a:solidFill>
                <a:latin typeface="Arial" panose="020B0604020202020204"/>
              </a:rPr>
              <a:t>Goal: Aims to</a:t>
            </a:r>
            <a:r>
              <a:rPr lang="en-US" altLang="zh-CN" sz="1400" b="0">
                <a:solidFill>
                  <a:srgbClr val="00B0F0"/>
                </a:solidFill>
                <a:latin typeface="Arial" panose="020B0604020202020204"/>
              </a:rPr>
              <a:t> help analyze box office patterns, genre profitability, release 	date selection, and enable basic box office forecasting.</a:t>
            </a:r>
            <a:endParaRPr lang="en-US" altLang="zh-CN" sz="1400" b="0">
              <a:solidFill>
                <a:srgbClr val="00B0F0"/>
              </a:solidFill>
              <a:latin typeface="Arial" panose="020B060402020202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770438" y="1796229"/>
            <a:ext cx="23774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35029" y="1942533"/>
            <a:ext cx="20482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RAW SOURCE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935029" y="2198565"/>
            <a:ext cx="20482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TMDB SQL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935029" y="2646621"/>
            <a:ext cx="20482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movie, genres, rate, credit...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770438" y="3122109"/>
            <a:ext cx="23774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35029" y="3268413"/>
            <a:ext cx="20482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FINAL TABLE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935029" y="3524445"/>
            <a:ext cx="20482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45,346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935029" y="3972501"/>
            <a:ext cx="20482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processed movies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770438" y="4447989"/>
            <a:ext cx="23774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35029" y="4594293"/>
            <a:ext cx="20482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COMPLETE FINANCE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935029" y="4850325"/>
            <a:ext cx="20482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5,375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935029" y="5298381"/>
            <a:ext cx="20482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budget / revenue rows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2" name="Text Box 21"/>
          <p:cNvSpPr txBox="1"/>
          <p:nvPr userDrawn="1"/>
        </p:nvSpPr>
        <p:spPr>
          <a:xfrm>
            <a:off x="915020" y="2374238"/>
            <a:ext cx="6803389" cy="737916"/>
          </a:xfrm>
          <a:prstGeom prst="rect">
            <a:avLst/>
          </a:prstGeom>
        </p:spPr>
        <p:txBody>
          <a:bodyPr wrap="square" rtlCol="0">
            <a:noAutofit/>
          </a:bodyPr>
          <a:p>
            <a:pPr algn="l"/>
            <a:r>
              <a:rPr lang="en-US" altLang="zh-CN">
                <a:solidFill>
                  <a:schemeClr val="bg1"/>
                </a:solidFill>
              </a:rPr>
              <a:t>Data scattered across </a:t>
            </a:r>
            <a:r>
              <a:rPr lang="en-US" altLang="zh-CN">
                <a:solidFill>
                  <a:schemeClr val="bg1"/>
                </a:solidFill>
              </a:rPr>
              <a:t>different dataset → no single source provides both financial and metadata.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4" name="Text Box 23"/>
          <p:cNvSpPr txBox="1"/>
          <p:nvPr userDrawn="1"/>
        </p:nvSpPr>
        <p:spPr>
          <a:xfrm>
            <a:off x="915020" y="3244235"/>
            <a:ext cx="6426835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en-US" altLang="zh-CN">
                <a:solidFill>
                  <a:schemeClr val="bg1"/>
                </a:solidFill>
              </a:rPr>
              <a:t>Do </a:t>
            </a:r>
            <a:r>
              <a:rPr lang="en-US" altLang="zh-CN">
                <a:solidFill>
                  <a:schemeClr val="bg1"/>
                </a:solidFill>
                <a:cs typeface="Arial" panose="020B0604020202020204" pitchFamily="34" charset="0"/>
              </a:rPr>
              <a:t>not</a:t>
            </a:r>
            <a:r>
              <a:rPr lang="en-US" altLang="zh-CN">
                <a:solidFill>
                  <a:schemeClr val="bg1"/>
                </a:solidFill>
              </a:rPr>
              <a:t> need to query multiple sources, align genres manually.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5" name="Text Box 24"/>
          <p:cNvSpPr txBox="1"/>
          <p:nvPr userDrawn="1"/>
        </p:nvSpPr>
        <p:spPr>
          <a:xfrm>
            <a:off x="915020" y="3926757"/>
            <a:ext cx="6901504" cy="1005341"/>
          </a:xfrm>
          <a:prstGeom prst="rect">
            <a:avLst/>
          </a:prstGeom>
        </p:spPr>
        <p:txBody>
          <a:bodyPr wrap="square" rtlCol="0">
            <a:noAutofit/>
          </a:bodyPr>
          <a:p>
            <a:pPr algn="l"/>
            <a:r>
              <a:rPr lang="en-US" altLang="zh-CN">
                <a:solidFill>
                  <a:schemeClr val="bg1"/>
                </a:solidFill>
              </a:rPr>
              <a:t>Existing tools: 	Only show historical charts. </a:t>
            </a:r>
            <a:endParaRPr lang="en-US" altLang="zh-CN">
              <a:solidFill>
                <a:schemeClr val="bg1"/>
              </a:solidFill>
            </a:endParaRPr>
          </a:p>
          <a:p>
            <a:pPr algn="l"/>
            <a:r>
              <a:rPr lang="en-US" altLang="zh-CN">
                <a:solidFill>
                  <a:schemeClr val="bg1"/>
                </a:solidFill>
              </a:rPr>
              <a:t>Ours adds: 	Provide statistical significance tests, machine learning predictions and exportable insights. 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6" name="Text Box 25"/>
          <p:cNvSpPr txBox="1"/>
          <p:nvPr userDrawn="1"/>
        </p:nvSpPr>
        <p:spPr>
          <a:xfrm>
            <a:off x="915020" y="5252682"/>
            <a:ext cx="6563312" cy="624669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>
                <a:solidFill>
                  <a:srgbClr val="FFFFFF"/>
                </a:solidFill>
              </a:rPr>
              <a:t>Our project is an interactive system which solves users' questions and lets users search different data in targeted periods </a:t>
            </a:r>
            <a:endParaRPr lang="zh-CN" altLang="en-US"/>
          </a:p>
        </p:txBody>
      </p:sp>
      <p:sp>
        <p:nvSpPr>
          <p:cNvPr id="29" name="Text Box 28"/>
          <p:cNvSpPr txBox="1"/>
          <p:nvPr userDrawn="1"/>
        </p:nvSpPr>
        <p:spPr>
          <a:xfrm>
            <a:off x="306679" y="111266"/>
            <a:ext cx="1319412" cy="400796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bg1"/>
                </a:solidFill>
              </a:rPr>
              <a:t>Steph ZHU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0" name="TextBox 2"/>
          <p:cNvSpPr txBox="1"/>
          <p:nvPr/>
        </p:nvSpPr>
        <p:spPr>
          <a:xfrm>
            <a:off x="11263630" y="292608"/>
            <a:ext cx="34925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03 / 23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04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49817" y="292579"/>
            <a:ext cx="2907633" cy="41529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 pitchFamily="34" charset="0"/>
              </a:rPr>
              <a:t>D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 pitchFamily="34" charset="0"/>
              </a:rPr>
              <a:t>ata Cleaning</a:t>
            </a:r>
            <a:endParaRPr>
              <a:latin typeface="Arial" panose="020B0604020202020204"/>
            </a:endParaRPr>
          </a:p>
        </p:txBody>
      </p:sp>
      <p:sp>
        <p:nvSpPr>
          <p:cNvPr id="29" name="Text Box 28"/>
          <p:cNvSpPr txBox="1"/>
          <p:nvPr userDrawn="1"/>
        </p:nvSpPr>
        <p:spPr>
          <a:xfrm>
            <a:off x="306679" y="111266"/>
            <a:ext cx="1319412" cy="400796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bg1"/>
                </a:solidFill>
              </a:rPr>
              <a:t>Steph ZHU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2" name="Text Box 21"/>
          <p:cNvSpPr txBox="1"/>
          <p:nvPr userDrawn="1"/>
        </p:nvSpPr>
        <p:spPr>
          <a:xfrm>
            <a:off x="669492" y="1304993"/>
            <a:ext cx="8619796" cy="5150775"/>
          </a:xfrm>
          <a:prstGeom prst="rect">
            <a:avLst/>
          </a:prstGeom>
        </p:spPr>
        <p:txBody>
          <a:bodyPr wrap="square" rtlCol="0">
            <a:noAutofit/>
          </a:bodyPr>
          <a:p>
            <a:pPr marL="342900" indent="-342900" algn="l">
              <a:buAutoNum type="arabicPeriod"/>
            </a:pPr>
            <a:r>
              <a:rPr lang="en-US" altLang="zh-CN">
                <a:solidFill>
                  <a:srgbClr val="FFFFFF"/>
                </a:solidFill>
              </a:rPr>
              <a:t>Removed missing values, duplicate records, and invalid data and fliter invalid ratings to improve data quality and consistency.</a:t>
            </a:r>
            <a:endParaRPr lang="en-US" altLang="zh-CN">
              <a:solidFill>
                <a:srgbClr val="FFFFFF"/>
              </a:solidFill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rgbClr val="FFFFFF"/>
                </a:solidFill>
              </a:rPr>
              <a:t>For example, ratings had to be between 0.5 and 5.0, with increments of 0.5 only.</a:t>
            </a: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r>
              <a:rPr lang="en-US" altLang="zh-CN">
                <a:solidFill>
                  <a:srgbClr val="FFFFFF"/>
                </a:solidFill>
              </a:rPr>
              <a:t>Standardized the data format.</a:t>
            </a:r>
            <a:endParaRPr lang="en-US" altLang="zh-CN">
              <a:solidFill>
                <a:srgbClr val="FFFFFF"/>
              </a:solidFill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rgbClr val="FFFFFF"/>
                </a:solidFill>
              </a:rPr>
              <a:t>For example, we converted all movie IDs into TMDB IDs using the links.csv mapping table, so all tables could connect correctly through the same key.</a:t>
            </a:r>
            <a:endParaRPr lang="en-US" altLang="zh-CN">
              <a:solidFill>
                <a:srgbClr val="FFFFFF"/>
              </a:solidFill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r>
              <a:rPr lang="en-US" altLang="zh-CN">
                <a:solidFill>
                  <a:srgbClr val="FFFFFF"/>
                </a:solidFill>
              </a:rPr>
              <a:t>Processed nested JSON data, such as genres, keywords, cast, and crew information.</a:t>
            </a: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r>
              <a:rPr lang="en-US" altLang="zh-CN">
                <a:solidFill>
                  <a:srgbClr val="FFFFFF"/>
                </a:solidFill>
              </a:rPr>
              <a:t>and extracted and flattened these fields into separate relational tables to match our ER diagram design.</a:t>
            </a: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r>
              <a:rPr lang="en-US" altLang="zh-CN">
                <a:solidFill>
                  <a:srgbClr val="FFFFFF"/>
                </a:solidFill>
              </a:rPr>
              <a:t>Sorted the data, unified column names and data types, and exported the cleaned results as CSV files for database import.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 t="-170" b="-17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830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900" b="1">
                <a:solidFill>
                  <a:srgbClr val="3B82F6"/>
                </a:solidFill>
                <a:latin typeface="Arial" panose="020B0604020202020204"/>
              </a:rPr>
              <a:t>Gareth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05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942975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 pitchFamily="34" charset="0"/>
              </a:rPr>
              <a:t>Database Design: From ER Diagram to Relational Schema</a:t>
            </a:r>
            <a:endParaRPr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8808085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The ER diagram was implemented as a MySQL relational schema to support structured analysis and reproducible data processing.</a:t>
            </a:r>
            <a:endParaRPr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6949440" cy="36118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001000" y="1417320"/>
            <a:ext cx="265176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65592" y="1563624"/>
            <a:ext cx="232257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CORE RELATION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165592" y="1819656"/>
            <a:ext cx="232257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movie ↔ genres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165586" y="2100637"/>
            <a:ext cx="232257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many-to-many via link_genres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001000" y="2606040"/>
            <a:ext cx="265176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65592" y="2752344"/>
            <a:ext cx="232257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RATING RELATION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65592" y="3008376"/>
            <a:ext cx="232257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movie ↔ rate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65586" y="3289357"/>
            <a:ext cx="232257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one movie, many user ratings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001000" y="3794760"/>
            <a:ext cx="265176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5592" y="3941064"/>
            <a:ext cx="232257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PEOPLE RELATION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165592" y="4197096"/>
            <a:ext cx="232257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cast / credit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165586" y="4478077"/>
            <a:ext cx="232257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actors, directors, writers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8" y="5440680"/>
            <a:ext cx="4970145" cy="1536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>
                <a:solidFill>
                  <a:srgbClr val="9AA9BD"/>
                </a:solidFill>
                <a:latin typeface="Arial" panose="020B0604020202020204" pitchFamily="34" charset="0"/>
              </a:rPr>
              <a:t>The database was exported as SQL files for restoration, validation, and later project use.</a:t>
            </a:r>
            <a:endParaRPr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 t="-170" b="-17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830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900" b="1">
                <a:solidFill>
                  <a:srgbClr val="3B82F6"/>
                </a:solidFill>
                <a:latin typeface="Arial" panose="020B0604020202020204"/>
              </a:rPr>
              <a:t>Gareth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06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626618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 pitchFamily="34" charset="0"/>
              </a:rPr>
              <a:t>How Core Tables Support the Analysis</a:t>
            </a:r>
            <a:endParaRPr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5346065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Each table provides a specific part of the information needed by the dashboard.</a:t>
            </a:r>
            <a:endParaRPr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7074" y="1334902"/>
          <a:ext cx="9919970" cy="4289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3912"/>
                <a:gridCol w="3336783"/>
                <a:gridCol w="3639275"/>
              </a:tblGrid>
              <a:tr h="461645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Table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Key fields</a:t>
                      </a:r>
                      <a:endParaRPr sz="14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Used for</a:t>
                      </a:r>
                      <a:endParaRPr sz="1400"/>
                    </a:p>
                  </a:txBody>
                  <a:tcPr>
                    <a:solidFill>
                      <a:srgbClr val="0F1C2D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movie</a:t>
                      </a:r>
                      <a:endParaRPr sz="20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budget, revenue, runtime, release_date</a:t>
                      </a:r>
                      <a:endParaRPr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Box office, ROI, runtime and release timing analysis</a:t>
                      </a:r>
                      <a:endParaRPr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marL="0" indent="0" algn="l" defTabSz="45720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2000" b="0">
                          <a:solidFill>
                            <a:srgbClr val="F2F6FF"/>
                          </a:solidFill>
                          <a:latin typeface="Arial" panose="020B0604020202020204" pitchFamily="34" charset="0"/>
                        </a:rPr>
                        <a:t>genres</a:t>
                      </a:r>
                      <a:endParaRPr sz="2000" b="0">
                        <a:solidFill>
                          <a:srgbClr val="F2F6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genres_id, genres_name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Standardized genre dictionary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539115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link_genres</a:t>
                      </a:r>
                      <a:endParaRPr sz="20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tmdbid, genres_id</a:t>
                      </a:r>
                      <a:endParaRPr lang="en-US" altLang="zh-CN"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Many-to-many movie-genre mapping</a:t>
                      </a:r>
                      <a:endParaRPr lang="en-US" altLang="zh-CN"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rate</a:t>
                      </a:r>
                      <a:endParaRPr sz="20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user_id, tmdbid, rating, timestamp</a:t>
                      </a:r>
                      <a:endParaRPr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Rating aggregation and audience response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524510">
                <a:tc>
                  <a:txBody>
                    <a:bodyPr/>
                    <a:p>
                      <a:pPr algn="l">
                        <a:buNone/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2000"/>
                        <a:t>person</a:t>
                      </a:r>
                      <a:endParaRPr lang="zh-CN" altLang="en-US" sz="20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person_id, name, gender, profile_path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Basic people information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cast / credit</a:t>
                      </a:r>
                      <a:endParaRPr sz="20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character, department, job</a:t>
                      </a:r>
                      <a:endParaRPr lang="en-US" altLang="zh-CN"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Actors, directors, writers and crew information</a:t>
                      </a:r>
                      <a:endParaRPr lang="en-US" altLang="zh-CN"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  <a:tr h="68834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production_companies</a:t>
                      </a:r>
                      <a:endParaRPr sz="2000"/>
                    </a:p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endParaRPr sz="20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company_id, company_name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Future company-level analysis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7074" y="5886203"/>
            <a:ext cx="5963285" cy="2152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2DD4BF"/>
                </a:solidFill>
                <a:latin typeface="Arial" panose="020B0604020202020204" pitchFamily="34" charset="0"/>
              </a:rPr>
              <a:t>The schema defines what can be imported, validated, and reused later.</a:t>
            </a:r>
            <a:endParaRPr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 t="-170" b="-17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830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 pitchFamily="34" charset="0"/>
              </a:rPr>
              <a:t>G</a:t>
            </a:r>
            <a:r>
              <a:rPr lang="en-US" altLang="zh-CN" sz="900" b="1">
                <a:solidFill>
                  <a:srgbClr val="3B82F6"/>
                </a:solidFill>
                <a:latin typeface="Arial" panose="020B0604020202020204" pitchFamily="34" charset="0"/>
              </a:rPr>
              <a:t>areth</a:t>
            </a:r>
            <a:endParaRPr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63630" y="292608"/>
            <a:ext cx="34925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07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639445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 pitchFamily="34" charset="0"/>
              </a:rPr>
              <a:t>Data Import, Validation and SQL Export</a:t>
            </a:r>
            <a:endParaRPr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674624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The prepared data was imported into MySQL, validated, and exported as SQL files for project reuse.</a:t>
            </a:r>
            <a:endParaRPr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1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0392" y="2002536"/>
            <a:ext cx="1492955" cy="84890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 pitchFamily="34" charset="0"/>
              </a:rPr>
              <a:t>Prepared CSV Files</a:t>
            </a:r>
            <a:endParaRPr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8522" y="2851433"/>
            <a:ext cx="1587500" cy="131930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Entity tables and relation tables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movie, genres, rate, person, cast, credit</a:t>
            </a:r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latin typeface="Arial" panose="020B0604020202020204"/>
            </a:endParaRPr>
          </a:p>
          <a:p>
            <a:pPr algn="l"/>
            <a:endParaRPr sz="1200">
              <a:latin typeface="Arial" panose="020B0604020202020204"/>
            </a:endParaRPr>
          </a:p>
          <a:p>
            <a:pPr algn="l"/>
            <a:endParaRPr sz="1200">
              <a:latin typeface="Arial" panose="020B060402020202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514583" y="1600248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91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2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79192" y="2002536"/>
            <a:ext cx="1435560" cy="93231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 pitchFamily="34" charset="0"/>
              </a:rPr>
              <a:t>MySQL Import</a:t>
            </a:r>
            <a:endParaRPr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03495" y="2851433"/>
            <a:ext cx="1511258" cy="131933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Imported ER-based tables through phpMyAdmin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200">
              <a:latin typeface="Arial" panose="020B0604020202020204" pitchFamily="34" charset="0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21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+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relational tables</a:t>
            </a:r>
            <a:endParaRPr sz="1000">
              <a:latin typeface="Arial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361700" y="1600248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3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02066" y="2002503"/>
            <a:ext cx="1319530" cy="3384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 pitchFamily="34" charset="0"/>
              </a:rPr>
              <a:t>Validation</a:t>
            </a:r>
            <a:endParaRPr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44034" y="2851433"/>
            <a:ext cx="1435592" cy="127597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Checked row counts, keys and relationships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latin typeface="Arial" panose="020B0604020202020204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primary keys 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·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foreign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-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key checks</a:t>
            </a:r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217530" y="1600248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255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4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82140" y="2002503"/>
            <a:ext cx="1435624" cy="6201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Arial" panose="020B0604020202020204" pitchFamily="34" charset="0"/>
              </a:rPr>
              <a:t>Crew / Credit</a:t>
            </a:r>
            <a:endParaRPr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82140" y="2851433"/>
            <a:ext cx="1435575" cy="127599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Updated missing crew-related records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200">
              <a:latin typeface="Arial" panose="020B0604020202020204" pitchFamily="34" charset="0"/>
            </a:endParaRPr>
          </a:p>
          <a:p>
            <a:pPr algn="l"/>
            <a:endParaRPr lang="en-US" altLang="zh-CN"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credit 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·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isa_credit 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·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person 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·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made_by</a:t>
            </a:r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055949" y="1600248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423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5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60828" y="2002503"/>
            <a:ext cx="1270984" cy="84889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200" b="1">
                <a:solidFill>
                  <a:srgbClr val="86EFAC"/>
                </a:solidFill>
                <a:latin typeface="Arial" panose="020B0604020202020204" pitchFamily="34" charset="0"/>
              </a:rPr>
              <a:t>SQL Export</a:t>
            </a:r>
            <a:endParaRPr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138176" y="2851433"/>
            <a:ext cx="1516392" cy="143760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Exported complete database and table dum</a:t>
            </a:r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ps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tmdb.sql 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+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separate SQL files</a:t>
            </a:r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893827" y="1600248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229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6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222992" y="2002536"/>
            <a:ext cx="1435599" cy="62008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200" b="1">
                <a:solidFill>
                  <a:srgbClr val="FB7185"/>
                </a:solidFill>
                <a:latin typeface="Arial" panose="020B0604020202020204" pitchFamily="34" charset="0"/>
              </a:rPr>
              <a:t>Project Reuse</a:t>
            </a:r>
            <a:endParaRPr>
              <a:latin typeface="Arial" panose="020B060402020202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985216" y="2873101"/>
            <a:ext cx="1508703" cy="127599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Files can be restored and checked later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for teammates and final demo</a:t>
            </a:r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2960" y="5440680"/>
            <a:ext cx="8228330" cy="2457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600" b="1">
                <a:solidFill>
                  <a:srgbClr val="F2F6FF"/>
                </a:solidFill>
                <a:latin typeface="Arial" panose="020B0604020202020204"/>
              </a:rPr>
              <a:t>SQL export makes the database reproducible for teammates and final demonstration.</a:t>
            </a:r>
            <a:endParaRPr lang="en-US" altLang="zh-CN" sz="16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31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8404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/>
              </a:rPr>
              <a:t>SPEAKER 3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08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04672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系统整体界面:一个入口，八个分析视图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9264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9BD"/>
                </a:solidFill>
                <a:latin typeface="Arial" panose="020B0604020202020204"/>
              </a:rPr>
              <a:t>This section follows the sidebar order: Overview, Revenue, Genres and Time.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64224"/>
            <a:ext cx="237744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2DD4BF"/>
                </a:solidFill>
                <a:latin typeface="Arial" panose="020B0604020202020204"/>
              </a:rPr>
              <a:t>第三位 · approx. 3 min</a:t>
            </a:r>
            <a:endParaRPr sz="8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0" y="6364224"/>
            <a:ext cx="85953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9AA9BD"/>
                </a:solidFill>
                <a:latin typeface="Arial" panose="020B0604020202020204"/>
              </a:rPr>
              <a:t>Overview / Revenue / Genres / Time</a:t>
            </a:r>
            <a:endParaRPr sz="800" b="0">
              <a:solidFill>
                <a:srgbClr val="9AA9BD"/>
              </a:solidFill>
              <a:latin typeface="Arial" panose="020B0604020202020204"/>
            </a:endParaRPr>
          </a:p>
        </p:txBody>
      </p:sp>
      <p:pic>
        <p:nvPicPr>
          <p:cNvPr id="9" name="Picture 8" descr="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7543800" cy="42519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549640" y="1463040"/>
            <a:ext cx="233172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4232" y="1609344"/>
            <a:ext cx="20025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FILTER RAIL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14232" y="1865376"/>
            <a:ext cx="20025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Shared state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714232" y="2313432"/>
            <a:ext cx="20025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year, genre, min votes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549640" y="2606040"/>
            <a:ext cx="233172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14232" y="2752344"/>
            <a:ext cx="20025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KPI ROW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714232" y="3008376"/>
            <a:ext cx="20025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6 cards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714232" y="3456432"/>
            <a:ext cx="20025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movies, revenue, ROI, rating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549640" y="3749039"/>
            <a:ext cx="233172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14232" y="3895344"/>
            <a:ext cx="20025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VIEWS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714232" y="4151376"/>
            <a:ext cx="20025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8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714232" y="4599431"/>
            <a:ext cx="20025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Overview to Export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5742432"/>
            <a:ext cx="950976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9AA9BD"/>
                </a:solidFill>
                <a:latin typeface="Arial" panose="020B0604020202020204"/>
              </a:rPr>
              <a:t>Presenter cue: explain that every filter updates KPIs, charts and exports together.</a:t>
            </a:r>
            <a:endParaRPr sz="11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8404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/>
              </a:rPr>
              <a:t>SPEAKER 3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09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04672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Revenue 视图:预算推高票房，但不保证 ROI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9264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9BD"/>
                </a:solidFill>
                <a:latin typeface="Arial" panose="020B0604020202020204"/>
              </a:rPr>
              <a:t>Use budget-revenue for market scale, then budget-ROI for efficiency and risk.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64224"/>
            <a:ext cx="237744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2DD4BF"/>
                </a:solidFill>
                <a:latin typeface="Arial" panose="020B0604020202020204"/>
              </a:rPr>
              <a:t>第三位 · approx. 3 min</a:t>
            </a:r>
            <a:endParaRPr sz="8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0" y="6364224"/>
            <a:ext cx="85953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9AA9BD"/>
                </a:solidFill>
                <a:latin typeface="Arial" panose="020B0604020202020204"/>
              </a:rPr>
              <a:t>Revenue view</a:t>
            </a:r>
            <a:endParaRPr sz="800" b="0">
              <a:solidFill>
                <a:srgbClr val="9AA9BD"/>
              </a:solidFill>
              <a:latin typeface="Arial" panose="020B0604020202020204"/>
            </a:endParaRPr>
          </a:p>
        </p:txBody>
      </p:sp>
      <p:pic>
        <p:nvPicPr>
          <p:cNvPr id="9" name="Picture 8" descr="chart_budget_revenu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5349240" cy="3337560"/>
          </a:xfrm>
          <a:prstGeom prst="rect">
            <a:avLst/>
          </a:prstGeom>
        </p:spPr>
      </p:pic>
      <p:pic>
        <p:nvPicPr>
          <p:cNvPr id="10" name="Picture 9" descr="chart_budget_ro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17320"/>
            <a:ext cx="5349240" cy="33375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60120" y="5166360"/>
            <a:ext cx="228600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5312664"/>
            <a:ext cx="19568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BUDGET → REVENUE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24712" y="5568696"/>
            <a:ext cx="19568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r = 0.73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24712" y="6016752"/>
            <a:ext cx="19568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clear positive correlation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566160" y="5166360"/>
            <a:ext cx="228600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0752" y="5312664"/>
            <a:ext cx="19568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LOW BUDGET ROI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30752" y="5568696"/>
            <a:ext cx="19568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86EFAC"/>
                </a:solidFill>
                <a:latin typeface="Arial" panose="020B0604020202020204"/>
              </a:rPr>
              <a:t>2.45x</a:t>
            </a:r>
            <a:endParaRPr sz="2200" b="1">
              <a:solidFill>
                <a:srgbClr val="86EFAC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730752" y="6016752"/>
            <a:ext cx="19568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&lt; $10M median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172200" y="5166360"/>
            <a:ext cx="228600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5312664"/>
            <a:ext cx="19568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BLOCKBUSTER ROI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36792" y="5568696"/>
            <a:ext cx="19568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Arial" panose="020B0604020202020204"/>
              </a:rPr>
              <a:t>2.99x</a:t>
            </a:r>
            <a:endParaRPr sz="2200" b="1">
              <a:solidFill>
                <a:srgbClr val="FBBF24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36792" y="6016752"/>
            <a:ext cx="19568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&gt; $150M median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778240" y="5166360"/>
            <a:ext cx="228600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42832" y="5312664"/>
            <a:ext cx="19568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CONCLUSION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942832" y="5568696"/>
            <a:ext cx="19568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Scale ≠ efficiency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942832" y="6016752"/>
            <a:ext cx="19568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two goals differ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8404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/>
              </a:rPr>
              <a:t>SPEAKER 3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10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04672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Genres 与 Time:类型和档期决定盈利侧重点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9264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9BD"/>
                </a:solidFill>
                <a:latin typeface="Arial" panose="020B0604020202020204"/>
              </a:rPr>
              <a:t>Combine genre ranking, rating distribution and release-month revenue into one analytical readout.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64224"/>
            <a:ext cx="237744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2DD4BF"/>
                </a:solidFill>
                <a:latin typeface="Arial" panose="020B0604020202020204"/>
              </a:rPr>
              <a:t>第三位 · approx. 3 min</a:t>
            </a:r>
            <a:endParaRPr sz="8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0" y="6364224"/>
            <a:ext cx="85953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9AA9BD"/>
                </a:solidFill>
                <a:latin typeface="Arial" panose="020B0604020202020204"/>
              </a:rPr>
              <a:t>Genres view + Time view</a:t>
            </a:r>
            <a:endParaRPr sz="800" b="0">
              <a:solidFill>
                <a:srgbClr val="9AA9BD"/>
              </a:solidFill>
              <a:latin typeface="Arial" panose="020B0604020202020204"/>
            </a:endParaRPr>
          </a:p>
        </p:txBody>
      </p:sp>
      <p:pic>
        <p:nvPicPr>
          <p:cNvPr id="9" name="Picture 8" descr="chart_genre_roi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89888"/>
            <a:ext cx="3703320" cy="2971800"/>
          </a:xfrm>
          <a:prstGeom prst="rect">
            <a:avLst/>
          </a:prstGeom>
        </p:spPr>
      </p:pic>
      <p:pic>
        <p:nvPicPr>
          <p:cNvPr id="10" name="Picture 9" descr="chart_rating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1389888"/>
            <a:ext cx="3703320" cy="2971800"/>
          </a:xfrm>
          <a:prstGeom prst="rect">
            <a:avLst/>
          </a:prstGeom>
        </p:spPr>
      </p:pic>
      <p:pic>
        <p:nvPicPr>
          <p:cNvPr id="11" name="Picture 10" descr="chart_month_re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389888"/>
            <a:ext cx="3383280" cy="29718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68680" y="4800600"/>
            <a:ext cx="210312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4946904"/>
            <a:ext cx="17739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TOP ROI GENRE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33271" y="5202936"/>
            <a:ext cx="17739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Animation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33271" y="5650992"/>
            <a:ext cx="17739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2.77x median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246120" y="4800600"/>
            <a:ext cx="210312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10712" y="4946904"/>
            <a:ext cx="17739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BEST MONTH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10712" y="5202936"/>
            <a:ext cx="17739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Jun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10712" y="5650992"/>
            <a:ext cx="17739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$153.8M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623560" y="4800600"/>
            <a:ext cx="210312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88152" y="4946904"/>
            <a:ext cx="17739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BEST RATING BAND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788152" y="5202936"/>
            <a:ext cx="17739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Arial" panose="020B0604020202020204"/>
              </a:rPr>
              <a:t>6-7</a:t>
            </a:r>
            <a:endParaRPr sz="2200" b="1">
              <a:solidFill>
                <a:srgbClr val="FBBF24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788152" y="5650992"/>
            <a:ext cx="17739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highest avg revenue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001000" y="4800600"/>
            <a:ext cx="210312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65592" y="4946904"/>
            <a:ext cx="17739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INTERACTION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165592" y="5202936"/>
            <a:ext cx="17739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Metric toggle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165592" y="5650992"/>
            <a:ext cx="17739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ROI or avg revenue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 descr="post_object_image_39299401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8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1932" y="264160"/>
            <a:ext cx="1104963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Chi-Square: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Transform intuitive conclusions into significance tests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933" y="679450"/>
            <a:ext cx="631825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/>
              </a:rPr>
              <a:t>Detect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/>
                <a:cs typeface="Arial" panose="020B0604020202020204" pitchFamily="34" charset="0"/>
              </a:rPr>
              <a:t>whether there is a statistically significant association between two categorical variables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pic>
        <p:nvPicPr>
          <p:cNvPr id="9" name="图片 8" descr="post_object_image_21391243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33" y="863600"/>
            <a:ext cx="6781800" cy="1419225"/>
          </a:xfrm>
          <a:prstGeom prst="rect">
            <a:avLst/>
          </a:prstGeom>
        </p:spPr>
      </p:pic>
      <p:pic>
        <p:nvPicPr>
          <p:cNvPr id="12" name="图片 11" descr="post_object_image_631416165"/>
          <p:cNvPicPr>
            <a:picLocks noChangeAspect="1"/>
          </p:cNvPicPr>
          <p:nvPr/>
        </p:nvPicPr>
        <p:blipFill>
          <a:blip r:embed="rId3"/>
          <a:srcRect t="-855" r="49603" b="-924"/>
          <a:stretch>
            <a:fillRect/>
          </a:stretch>
        </p:blipFill>
        <p:spPr>
          <a:xfrm>
            <a:off x="7175183" y="863600"/>
            <a:ext cx="3494617" cy="1260270"/>
          </a:xfrm>
          <a:prstGeom prst="rect">
            <a:avLst/>
          </a:prstGeom>
        </p:spPr>
      </p:pic>
      <p:pic>
        <p:nvPicPr>
          <p:cNvPr id="13" name="图片 12" descr="post_object_image_174148137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08" y="2462742"/>
            <a:ext cx="6638925" cy="514350"/>
          </a:xfrm>
          <a:prstGeom prst="rect">
            <a:avLst/>
          </a:prstGeom>
        </p:spPr>
      </p:pic>
      <p:pic>
        <p:nvPicPr>
          <p:cNvPr id="15" name="图片 14" descr="post_object_image_41785851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933" y="3432175"/>
            <a:ext cx="6953250" cy="2705100"/>
          </a:xfrm>
          <a:prstGeom prst="rect">
            <a:avLst/>
          </a:prstGeom>
        </p:spPr>
      </p:pic>
      <p:pic>
        <p:nvPicPr>
          <p:cNvPr id="16" name="图片 15" descr="post_object_image_29027032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2140" y="2462784"/>
            <a:ext cx="3457575" cy="1304925"/>
          </a:xfrm>
          <a:prstGeom prst="rect">
            <a:avLst/>
          </a:prstGeom>
        </p:spPr>
      </p:pic>
      <p:sp>
        <p:nvSpPr>
          <p:cNvPr id="17" name="文本框 16"/>
          <p:cNvSpPr txBox="1"/>
          <p:nvPr userDrawn="1"/>
        </p:nvSpPr>
        <p:spPr>
          <a:xfrm>
            <a:off x="7212092" y="4101084"/>
            <a:ext cx="3333750" cy="64516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Genre does not determine profitability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 descr="post_object_image_39299401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8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1932" y="264160"/>
            <a:ext cx="1104963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Chi-Square: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Transform intuitive conclusions into significance tests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933" y="679450"/>
            <a:ext cx="631825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/>
              </a:rPr>
              <a:t>Detect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/>
                <a:cs typeface="Arial" panose="020B0604020202020204" pitchFamily="34" charset="0"/>
              </a:rPr>
              <a:t>whether there is a statistically significant association between two categorical variables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pic>
        <p:nvPicPr>
          <p:cNvPr id="13" name="图片 12" descr="post_object_image_174148137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08" y="2462742"/>
            <a:ext cx="6638925" cy="514350"/>
          </a:xfrm>
          <a:prstGeom prst="rect">
            <a:avLst/>
          </a:prstGeom>
        </p:spPr>
      </p:pic>
      <p:sp>
        <p:nvSpPr>
          <p:cNvPr id="17" name="文本框 16"/>
          <p:cNvSpPr txBox="1"/>
          <p:nvPr userDrawn="1"/>
        </p:nvSpPr>
        <p:spPr>
          <a:xfrm>
            <a:off x="7307342" y="4027265"/>
            <a:ext cx="3333750" cy="64516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Bud</a:t>
            </a:r>
            <a:r>
              <a:rPr lang="en-US" altLang="zh-CN">
                <a:solidFill>
                  <a:schemeClr val="bg1"/>
                </a:solidFill>
                <a:cs typeface="Arial" panose="020B0604020202020204" pitchFamily="34" charset="0"/>
              </a:rPr>
              <a:t>get Tier</a:t>
            </a:r>
            <a:r>
              <a:rPr lang="en-US" altLang="zh-CN">
                <a:solidFill>
                  <a:schemeClr val="bg1"/>
                </a:solidFill>
              </a:rPr>
              <a:t> does not determine profitability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3" name="图片 2" descr="post_object_image_37769400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83" y="976885"/>
            <a:ext cx="6848475" cy="1485900"/>
          </a:xfrm>
          <a:prstGeom prst="rect">
            <a:avLst/>
          </a:prstGeom>
        </p:spPr>
      </p:pic>
      <p:pic>
        <p:nvPicPr>
          <p:cNvPr id="2" name="图片 1" descr="post_object_image_10356205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07" y="3482999"/>
            <a:ext cx="6847284" cy="2246765"/>
          </a:xfrm>
          <a:prstGeom prst="rect">
            <a:avLst/>
          </a:prstGeom>
        </p:spPr>
      </p:pic>
      <p:pic>
        <p:nvPicPr>
          <p:cNvPr id="6" name="图片 5" descr="post_object_image_41050022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342" y="976908"/>
            <a:ext cx="3362325" cy="1257300"/>
          </a:xfrm>
          <a:prstGeom prst="rect">
            <a:avLst/>
          </a:prstGeom>
        </p:spPr>
      </p:pic>
      <p:pic>
        <p:nvPicPr>
          <p:cNvPr id="7" name="图片 6" descr="post_object_image_30076215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7342" y="2462689"/>
            <a:ext cx="3333750" cy="1209675"/>
          </a:xfrm>
          <a:prstGeom prst="rect">
            <a:avLst/>
          </a:prstGeom>
        </p:spPr>
      </p:pic>
      <p:sp>
        <p:nvSpPr>
          <p:cNvPr id="8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 descr="post_object_image_39299401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8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1932" y="264160"/>
            <a:ext cx="1104963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Chi-Square: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Transform intuitive conclusions into significance tests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933" y="679450"/>
            <a:ext cx="631825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/>
              </a:rPr>
              <a:t>Detect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/>
                <a:cs typeface="Arial" panose="020B0604020202020204" pitchFamily="34" charset="0"/>
              </a:rPr>
              <a:t>whether there is a statistically significant association between two categorical variables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7307342" y="4027265"/>
            <a:ext cx="3333750" cy="64516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Release Season does not determine profitability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8" name="图片 7" descr="post_object_image_16808580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32" y="976908"/>
            <a:ext cx="6877050" cy="1476375"/>
          </a:xfrm>
          <a:prstGeom prst="rect">
            <a:avLst/>
          </a:prstGeom>
        </p:spPr>
      </p:pic>
      <p:pic>
        <p:nvPicPr>
          <p:cNvPr id="9" name="图片 8" descr="post_object_image_6878275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57" y="2572345"/>
            <a:ext cx="6829425" cy="400050"/>
          </a:xfrm>
          <a:prstGeom prst="rect">
            <a:avLst/>
          </a:prstGeom>
        </p:spPr>
      </p:pic>
      <p:pic>
        <p:nvPicPr>
          <p:cNvPr id="10" name="图片 9" descr="post_object_image_40210068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558" y="3195638"/>
            <a:ext cx="6829425" cy="2800350"/>
          </a:xfrm>
          <a:prstGeom prst="rect">
            <a:avLst/>
          </a:prstGeom>
        </p:spPr>
      </p:pic>
      <p:pic>
        <p:nvPicPr>
          <p:cNvPr id="12" name="图片 11" descr="post_object_image_26251357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342" y="976908"/>
            <a:ext cx="3429000" cy="1200150"/>
          </a:xfrm>
          <a:prstGeom prst="rect">
            <a:avLst/>
          </a:prstGeom>
        </p:spPr>
      </p:pic>
      <p:pic>
        <p:nvPicPr>
          <p:cNvPr id="14" name="图片 13" descr="post_object_image_208139785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5917" y="2453283"/>
            <a:ext cx="3400425" cy="12001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 descr="post_object_image_39299401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8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1932" y="264160"/>
            <a:ext cx="1104963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Chi-Square: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Transform intuitive conclusions into significance tests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933" y="679450"/>
            <a:ext cx="631825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/>
              </a:rPr>
              <a:t>Detect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/>
                <a:cs typeface="Arial" panose="020B0604020202020204" pitchFamily="34" charset="0"/>
              </a:rPr>
              <a:t>whether there is a statistically significant association between two categorical variables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7307342" y="4027265"/>
            <a:ext cx="3333750" cy="64516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Genre can determine Rating Tier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2" name="图片 1" descr="post_object_image_21155061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58" y="967383"/>
            <a:ext cx="6886575" cy="1485900"/>
          </a:xfrm>
          <a:prstGeom prst="rect">
            <a:avLst/>
          </a:prstGeom>
        </p:spPr>
      </p:pic>
      <p:pic>
        <p:nvPicPr>
          <p:cNvPr id="3" name="图片 2" descr="post_object_image_2101033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58" y="2519363"/>
            <a:ext cx="6810375" cy="676275"/>
          </a:xfrm>
          <a:prstGeom prst="rect">
            <a:avLst/>
          </a:prstGeom>
        </p:spPr>
      </p:pic>
      <p:pic>
        <p:nvPicPr>
          <p:cNvPr id="6" name="图片 5" descr="post_object_image_38034183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933" y="3369469"/>
            <a:ext cx="6858000" cy="2143125"/>
          </a:xfrm>
          <a:prstGeom prst="rect">
            <a:avLst/>
          </a:prstGeom>
        </p:spPr>
      </p:pic>
      <p:pic>
        <p:nvPicPr>
          <p:cNvPr id="7" name="图片 6" descr="post_object_image_34757556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342" y="967383"/>
            <a:ext cx="3390900" cy="1200150"/>
          </a:xfrm>
          <a:prstGeom prst="rect">
            <a:avLst/>
          </a:prstGeom>
        </p:spPr>
      </p:pic>
      <p:pic>
        <p:nvPicPr>
          <p:cNvPr id="13" name="图片 12" descr="post_object_image_187186985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1629" y="2453283"/>
            <a:ext cx="3362325" cy="1200150"/>
          </a:xfrm>
          <a:prstGeom prst="rect">
            <a:avLst/>
          </a:prstGeom>
        </p:spPr>
      </p:pic>
      <p:sp>
        <p:nvSpPr>
          <p:cNvPr id="8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 descr="post_object_image_39299401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8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1932" y="264160"/>
            <a:ext cx="1104963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Chi-Square: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Transform intuitive conclusions into significance tests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933" y="679450"/>
            <a:ext cx="631825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/>
              </a:rPr>
              <a:t>Detect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/>
                <a:cs typeface="Arial" panose="020B0604020202020204" pitchFamily="34" charset="0"/>
              </a:rPr>
              <a:t>whether there is a statistically significant association between two categorical variables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7307342" y="4027265"/>
            <a:ext cx="3333750" cy="64516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Bud</a:t>
            </a:r>
            <a:r>
              <a:rPr lang="en-US" altLang="zh-CN">
                <a:solidFill>
                  <a:schemeClr val="bg1"/>
                </a:solidFill>
                <a:cs typeface="Arial" panose="020B0604020202020204" pitchFamily="34" charset="0"/>
              </a:rPr>
              <a:t>get</a:t>
            </a:r>
            <a:r>
              <a:rPr lang="en-US" altLang="zh-CN">
                <a:solidFill>
                  <a:schemeClr val="bg1"/>
                </a:solidFill>
              </a:rPr>
              <a:t> Tier can determine Rating Tier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3" name="图片 2" descr="post_object_image_2101033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58" y="2519363"/>
            <a:ext cx="6810375" cy="676275"/>
          </a:xfrm>
          <a:prstGeom prst="rect">
            <a:avLst/>
          </a:prstGeom>
        </p:spPr>
      </p:pic>
      <p:pic>
        <p:nvPicPr>
          <p:cNvPr id="8" name="图片 7" descr="post_object_image_12412991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32" y="967383"/>
            <a:ext cx="6877050" cy="1485900"/>
          </a:xfrm>
          <a:prstGeom prst="rect">
            <a:avLst/>
          </a:prstGeom>
        </p:spPr>
      </p:pic>
      <p:pic>
        <p:nvPicPr>
          <p:cNvPr id="9" name="图片 8" descr="post_object_image_30505333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558" y="3448156"/>
            <a:ext cx="6877050" cy="2233506"/>
          </a:xfrm>
          <a:prstGeom prst="rect">
            <a:avLst/>
          </a:prstGeom>
        </p:spPr>
      </p:pic>
      <p:pic>
        <p:nvPicPr>
          <p:cNvPr id="10" name="图片 9" descr="post_object_image_12300968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342" y="967383"/>
            <a:ext cx="3409950" cy="1238250"/>
          </a:xfrm>
          <a:prstGeom prst="rect">
            <a:avLst/>
          </a:prstGeom>
        </p:spPr>
      </p:pic>
      <p:pic>
        <p:nvPicPr>
          <p:cNvPr id="12" name="图片 11" descr="post_object_image_357751408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6867" y="2453283"/>
            <a:ext cx="3390900" cy="12001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8404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/>
              </a:rPr>
              <a:t>ZHOU Can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16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04672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派生字段让统计检验可解释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9264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9BD"/>
                </a:solidFill>
                <a:latin typeface="Arial" panose="020B0604020202020204"/>
              </a:rPr>
              <a:t>把连续变量转成类别变量，才能进入卡方检验和交叉表热力图。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64224"/>
            <a:ext cx="237744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2DD4BF"/>
                </a:solidFill>
                <a:latin typeface="Arial" panose="020B0604020202020204"/>
              </a:rPr>
              <a:t>ZHOU Can · approx. 2 min</a:t>
            </a:r>
            <a:endParaRPr sz="8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0" y="6364224"/>
            <a:ext cx="85953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9AA9BD"/>
                </a:solidFill>
                <a:latin typeface="Arial" panose="020B0604020202020204"/>
              </a:rPr>
              <a:t>Derived variables and interpretation</a:t>
            </a:r>
            <a:endParaRPr sz="8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77240" y="1554480"/>
            <a:ext cx="2926080" cy="11430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700784"/>
            <a:ext cx="259689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BUDGET_TIER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41832" y="1956816"/>
            <a:ext cx="259689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&lt;$10M / $10-50M / $50-150M / &gt;$150M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41832" y="2404872"/>
            <a:ext cx="259689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低/中/高/大片预算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977639" y="1554480"/>
            <a:ext cx="2926080" cy="11430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42231" y="1700784"/>
            <a:ext cx="259689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SEASON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42231" y="1956816"/>
            <a:ext cx="259689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Winter / Spring / Summer / Fall / Awards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42231" y="2404872"/>
            <a:ext cx="259689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月份映射为档期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178040" y="1554480"/>
            <a:ext cx="2926080" cy="11430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42631" y="1700784"/>
            <a:ext cx="259689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PROFITABLE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342631" y="1956816"/>
            <a:ext cx="259689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86EFAC"/>
                </a:solidFill>
                <a:latin typeface="Arial" panose="020B0604020202020204"/>
              </a:rPr>
              <a:t>revenue &gt; budget</a:t>
            </a:r>
            <a:endParaRPr sz="2200" b="1">
              <a:solidFill>
                <a:srgbClr val="86EFAC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42631" y="2404872"/>
            <a:ext cx="259689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盈利 / 未盈利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60120" y="3429000"/>
            <a:ext cx="9326880" cy="1508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2F6FF"/>
                </a:solidFill>
                <a:latin typeface="Arial" panose="020B0604020202020204"/>
              </a:defRPr>
            </a:pPr>
            <a:r>
              <a:t>讲图时先读 p-value:是否显著。</a:t>
            </a:r>
          </a:p>
          <a:p>
            <a:pPr>
              <a:spcAft>
                <a:spcPts val="800"/>
              </a:spcAft>
              <a:defRPr sz="1800">
                <a:solidFill>
                  <a:srgbClr val="F2F6FF"/>
                </a:solidFill>
                <a:latin typeface="Arial" panose="020B0604020202020204"/>
              </a:defRPr>
            </a:pPr>
            <a:r>
              <a:t>再读 Cramér's V:关联强度大小。</a:t>
            </a:r>
          </a:p>
          <a:p>
            <a:pPr>
              <a:spcAft>
                <a:spcPts val="800"/>
              </a:spcAft>
              <a:defRPr sz="1800">
                <a:solidFill>
                  <a:srgbClr val="F2F6FF"/>
                </a:solidFill>
                <a:latin typeface="Arial" panose="020B0604020202020204"/>
              </a:defRPr>
            </a:pPr>
            <a:r>
              <a:t>最后读 residual heatmap:哪些类别组合贡献了差异。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49240"/>
            <a:ext cx="99669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0">
                <a:solidFill>
                  <a:srgbClr val="9AA9BD"/>
                </a:solidFill>
                <a:latin typeface="Arial" panose="020B0604020202020204"/>
              </a:rPr>
              <a:t>这一页的作用:帮助听众理解系统里的统计模块不是单纯画热力图，而是在检验变量关系。</a:t>
            </a:r>
            <a:endParaRPr sz="14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4930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900" b="1">
                <a:solidFill>
                  <a:srgbClr val="3B82F6"/>
                </a:solidFill>
                <a:latin typeface="Arial" panose="020B0604020202020204"/>
              </a:rPr>
              <a:t>LIAO Shuaiyu</a:t>
            </a:r>
            <a:endParaRPr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92602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17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299085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Lin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  <a:cs typeface="Arial" panose="020B0604020202020204" pitchFamily="34" charset="0"/>
              </a:rPr>
              <a:t>ear </a:t>
            </a:r>
            <a:r>
              <a:rPr sz="2700" b="1">
                <a:solidFill>
                  <a:srgbClr val="F2F6FF"/>
                </a:solidFill>
                <a:latin typeface="Arial" panose="020B0604020202020204"/>
              </a:rPr>
              <a:t>Regressio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n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7635240" y="1554480"/>
            <a:ext cx="2539365" cy="1127125"/>
            <a:chOff x="12024" y="2448"/>
            <a:chExt cx="3999" cy="1775"/>
          </a:xfrm>
        </p:grpSpPr>
        <p:sp>
          <p:nvSpPr>
            <p:cNvPr id="10" name="Rectangle 9"/>
            <p:cNvSpPr/>
            <p:nvPr/>
          </p:nvSpPr>
          <p:spPr>
            <a:xfrm>
              <a:off x="12024" y="2448"/>
              <a:ext cx="3960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2283" y="2678"/>
              <a:ext cx="2053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1">
                  <a:solidFill>
                    <a:srgbClr val="9AA9BD"/>
                  </a:solidFill>
                  <a:latin typeface="Arial" panose="020B0604020202020204"/>
                </a:rPr>
                <a:t>VARIABLES</a:t>
              </a:r>
              <a:endParaRPr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2283" y="3082"/>
              <a:ext cx="267" cy="58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400" b="1">
                  <a:solidFill>
                    <a:srgbClr val="3B82F6"/>
                  </a:solidFill>
                  <a:latin typeface="Arial" panose="020B0604020202020204"/>
                </a:rPr>
                <a:t>8</a:t>
              </a:r>
              <a:endParaRPr sz="2400" b="1">
                <a:solidFill>
                  <a:srgbClr val="3B82F6"/>
                </a:solidFill>
                <a:latin typeface="Arial" panose="020B0604020202020204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2283" y="3787"/>
              <a:ext cx="3740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0">
                  <a:solidFill>
                    <a:srgbClr val="9AA9BD"/>
                  </a:solidFill>
                  <a:latin typeface="Arial" panose="020B0604020202020204"/>
                </a:rPr>
                <a:t>budget, revenue, ROI...</a:t>
              </a:r>
              <a:endParaRPr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635305" y="2956061"/>
            <a:ext cx="2514600" cy="1127125"/>
            <a:chOff x="12024" y="4176"/>
            <a:chExt cx="3960" cy="1775"/>
          </a:xfrm>
        </p:grpSpPr>
        <p:sp>
          <p:nvSpPr>
            <p:cNvPr id="14" name="Rectangle 13"/>
            <p:cNvSpPr/>
            <p:nvPr/>
          </p:nvSpPr>
          <p:spPr>
            <a:xfrm>
              <a:off x="12024" y="4176"/>
              <a:ext cx="3960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2283" y="4406"/>
              <a:ext cx="1020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1">
                  <a:solidFill>
                    <a:srgbClr val="9AA9BD"/>
                  </a:solidFill>
                  <a:latin typeface="Arial" panose="020B0604020202020204"/>
                </a:rPr>
                <a:t>SPLIT</a:t>
              </a:r>
              <a:endParaRPr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2283" y="4810"/>
              <a:ext cx="1201" cy="58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400" b="1">
                  <a:solidFill>
                    <a:srgbClr val="2DD4BF"/>
                  </a:solidFill>
                  <a:latin typeface="Arial" panose="020B0604020202020204"/>
                </a:rPr>
                <a:t>80/20</a:t>
              </a:r>
              <a:endParaRPr sz="2400" b="1">
                <a:solidFill>
                  <a:srgbClr val="2DD4BF"/>
                </a:solidFill>
                <a:latin typeface="Arial" panose="020B0604020202020204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2283" y="5515"/>
              <a:ext cx="1580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0">
                  <a:solidFill>
                    <a:srgbClr val="9AA9BD"/>
                  </a:solidFill>
                  <a:latin typeface="Arial" panose="020B0604020202020204"/>
                </a:rPr>
                <a:t>train / test</a:t>
              </a:r>
              <a:endParaRPr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7635305" y="4362034"/>
            <a:ext cx="2514600" cy="1127125"/>
            <a:chOff x="12024" y="5904"/>
            <a:chExt cx="3960" cy="1775"/>
          </a:xfrm>
        </p:grpSpPr>
        <p:sp>
          <p:nvSpPr>
            <p:cNvPr id="18" name="Rectangle 17"/>
            <p:cNvSpPr/>
            <p:nvPr/>
          </p:nvSpPr>
          <p:spPr>
            <a:xfrm>
              <a:off x="12024" y="5904"/>
              <a:ext cx="3960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2283" y="6134"/>
              <a:ext cx="1480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1">
                  <a:solidFill>
                    <a:srgbClr val="9AA9BD"/>
                  </a:solidFill>
                  <a:latin typeface="Arial" panose="020B0604020202020204"/>
                </a:rPr>
                <a:t>OUTPUT</a:t>
              </a:r>
              <a:endParaRPr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2283" y="6538"/>
              <a:ext cx="1879" cy="58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400" b="1">
                  <a:solidFill>
                    <a:srgbClr val="A855F7"/>
                  </a:solidFill>
                  <a:latin typeface="Arial" panose="020B0604020202020204"/>
                </a:rPr>
                <a:t>R² + line</a:t>
              </a:r>
              <a:endParaRPr sz="2400" b="1">
                <a:solidFill>
                  <a:srgbClr val="A855F7"/>
                </a:solidFill>
                <a:latin typeface="Arial" panose="020B0604020202020204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2283" y="7243"/>
              <a:ext cx="2520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0">
                  <a:solidFill>
                    <a:srgbClr val="9AA9BD"/>
                  </a:solidFill>
                  <a:latin typeface="Arial" panose="020B0604020202020204"/>
                </a:rPr>
                <a:t>fit quality visible</a:t>
              </a:r>
              <a:endParaRPr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pic>
        <p:nvPicPr>
          <p:cNvPr id="22" name="Picture 21" descr="regression_vie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25880"/>
            <a:ext cx="6583680" cy="3474720"/>
          </a:xfrm>
          <a:prstGeom prst="rect">
            <a:avLst/>
          </a:prstGeom>
          <a:ln w="10160">
            <a:solidFill>
              <a:srgbClr val="27364D"/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18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501078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Prediction:Gradient Boosting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pic>
        <p:nvPicPr>
          <p:cNvPr id="9" name="Picture 8" descr="image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228" y="1328909"/>
            <a:ext cx="11397025" cy="2568877"/>
          </a:xfrm>
          <a:prstGeom prst="rect">
            <a:avLst/>
          </a:prstGeom>
        </p:spPr>
      </p:pic>
      <p:grpSp>
        <p:nvGrpSpPr>
          <p:cNvPr id="42" name="组合 41"/>
          <p:cNvGrpSpPr/>
          <p:nvPr userDrawn="1"/>
        </p:nvGrpSpPr>
        <p:grpSpPr>
          <a:xfrm>
            <a:off x="7003286" y="4086928"/>
            <a:ext cx="2194560" cy="1065530"/>
            <a:chOff x="11592" y="2232"/>
            <a:chExt cx="3456" cy="1678"/>
          </a:xfrm>
        </p:grpSpPr>
        <p:sp>
          <p:nvSpPr>
            <p:cNvPr id="10" name="Rectangle 9"/>
            <p:cNvSpPr/>
            <p:nvPr/>
          </p:nvSpPr>
          <p:spPr>
            <a:xfrm>
              <a:off x="11592" y="2232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1851" y="2462"/>
              <a:ext cx="2938" cy="31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800" b="1">
                  <a:solidFill>
                    <a:srgbClr val="9AA9BD"/>
                  </a:solidFill>
                  <a:latin typeface="Arial" panose="020B0604020202020204"/>
                </a:rPr>
                <a:t>FEATURE 1</a:t>
              </a:r>
              <a:endParaRPr sz="8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1851" y="2866"/>
              <a:ext cx="2938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3B82F6"/>
                  </a:solidFill>
                  <a:latin typeface="Arial" panose="020B0604020202020204"/>
                </a:rPr>
                <a:t>log(budget)</a:t>
              </a:r>
              <a:endParaRPr sz="2200" b="1">
                <a:solidFill>
                  <a:srgbClr val="3B82F6"/>
                </a:solidFill>
                <a:latin typeface="Arial" panose="020B0604020202020204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1851" y="3571"/>
              <a:ext cx="2196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scale stabilisation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3" name="组合 42"/>
          <p:cNvGrpSpPr/>
          <p:nvPr userDrawn="1"/>
        </p:nvGrpSpPr>
        <p:grpSpPr>
          <a:xfrm>
            <a:off x="9756124" y="4086928"/>
            <a:ext cx="1828800" cy="1065530"/>
            <a:chOff x="15336" y="2232"/>
            <a:chExt cx="2880" cy="1678"/>
          </a:xfrm>
        </p:grpSpPr>
        <p:sp>
          <p:nvSpPr>
            <p:cNvPr id="14" name="Rectangle 13"/>
            <p:cNvSpPr/>
            <p:nvPr/>
          </p:nvSpPr>
          <p:spPr>
            <a:xfrm>
              <a:off x="15336" y="2232"/>
              <a:ext cx="2880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5595" y="2462"/>
              <a:ext cx="2362" cy="31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800" b="1">
                  <a:solidFill>
                    <a:srgbClr val="9AA9BD"/>
                  </a:solidFill>
                  <a:latin typeface="Arial" panose="020B0604020202020204"/>
                </a:rPr>
                <a:t>FEATURE 2</a:t>
              </a:r>
              <a:endParaRPr sz="8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5595" y="2866"/>
              <a:ext cx="2362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2DD4BF"/>
                  </a:solidFill>
                  <a:latin typeface="Arial" panose="020B0604020202020204"/>
                </a:rPr>
                <a:t>genre</a:t>
              </a:r>
              <a:endParaRPr sz="2200" b="1">
                <a:solidFill>
                  <a:srgbClr val="2DD4BF"/>
                </a:solidFill>
                <a:latin typeface="Arial" panose="020B0604020202020204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5595" y="3571"/>
              <a:ext cx="1947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OrdinalEncoder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4" name="组合 43"/>
          <p:cNvGrpSpPr/>
          <p:nvPr userDrawn="1"/>
        </p:nvGrpSpPr>
        <p:grpSpPr>
          <a:xfrm>
            <a:off x="7003337" y="5311470"/>
            <a:ext cx="2194560" cy="1065530"/>
            <a:chOff x="11592" y="3960"/>
            <a:chExt cx="3456" cy="1678"/>
          </a:xfrm>
        </p:grpSpPr>
        <p:sp>
          <p:nvSpPr>
            <p:cNvPr id="18" name="Rectangle 17"/>
            <p:cNvSpPr/>
            <p:nvPr/>
          </p:nvSpPr>
          <p:spPr>
            <a:xfrm>
              <a:off x="11592" y="3960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1851" y="4190"/>
              <a:ext cx="2938" cy="31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800" b="1">
                  <a:solidFill>
                    <a:srgbClr val="9AA9BD"/>
                  </a:solidFill>
                  <a:latin typeface="Arial" panose="020B0604020202020204"/>
                </a:rPr>
                <a:t>FEATURE 3</a:t>
              </a:r>
              <a:endParaRPr sz="8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1851" y="4594"/>
              <a:ext cx="2938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A855F7"/>
                  </a:solidFill>
                  <a:latin typeface="Arial" panose="020B0604020202020204"/>
                </a:rPr>
                <a:t>month</a:t>
              </a:r>
              <a:endParaRPr sz="2200" b="1">
                <a:solidFill>
                  <a:srgbClr val="A855F7"/>
                </a:solidFill>
                <a:latin typeface="Arial" panose="020B0604020202020204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1851" y="5299"/>
              <a:ext cx="1744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release timing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5" name="组合 44"/>
          <p:cNvGrpSpPr/>
          <p:nvPr userDrawn="1"/>
        </p:nvGrpSpPr>
        <p:grpSpPr>
          <a:xfrm>
            <a:off x="9756175" y="5311470"/>
            <a:ext cx="1828800" cy="1065530"/>
            <a:chOff x="15336" y="3960"/>
            <a:chExt cx="2880" cy="1678"/>
          </a:xfrm>
        </p:grpSpPr>
        <p:sp>
          <p:nvSpPr>
            <p:cNvPr id="22" name="Rectangle 21"/>
            <p:cNvSpPr/>
            <p:nvPr/>
          </p:nvSpPr>
          <p:spPr>
            <a:xfrm>
              <a:off x="15336" y="3960"/>
              <a:ext cx="2880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5595" y="4190"/>
              <a:ext cx="2362" cy="31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800" b="1">
                  <a:solidFill>
                    <a:srgbClr val="9AA9BD"/>
                  </a:solidFill>
                  <a:latin typeface="Arial" panose="020B0604020202020204"/>
                </a:rPr>
                <a:t>FEATURE 4</a:t>
              </a:r>
              <a:endParaRPr sz="8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5595" y="4594"/>
              <a:ext cx="2362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FBBF24"/>
                  </a:solidFill>
                  <a:latin typeface="Arial" panose="020B0604020202020204"/>
                </a:rPr>
                <a:t>runtime</a:t>
              </a:r>
              <a:endParaRPr sz="2200" b="1">
                <a:solidFill>
                  <a:srgbClr val="FBBF24"/>
                </a:solidFill>
                <a:latin typeface="Arial" panose="020B0604020202020204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5595" y="5299"/>
              <a:ext cx="981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minutes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6" name="组合 45"/>
          <p:cNvGrpSpPr/>
          <p:nvPr userDrawn="1"/>
        </p:nvGrpSpPr>
        <p:grpSpPr>
          <a:xfrm>
            <a:off x="761336" y="3897843"/>
            <a:ext cx="2194560" cy="1079500"/>
            <a:chOff x="1440" y="7272"/>
            <a:chExt cx="3456" cy="1700"/>
          </a:xfrm>
        </p:grpSpPr>
        <p:sp>
          <p:nvSpPr>
            <p:cNvPr id="26" name="Rectangle 25"/>
            <p:cNvSpPr/>
            <p:nvPr/>
          </p:nvSpPr>
          <p:spPr>
            <a:xfrm>
              <a:off x="1440" y="7272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699" y="7502"/>
              <a:ext cx="1354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1">
                  <a:solidFill>
                    <a:srgbClr val="9AA9BD"/>
                  </a:solidFill>
                  <a:latin typeface="Arial" panose="020B0604020202020204"/>
                </a:rPr>
                <a:t>REVENUE</a:t>
              </a:r>
              <a:endParaRPr sz="14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699" y="7906"/>
              <a:ext cx="2938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3B82F6"/>
                  </a:solidFill>
                  <a:latin typeface="Arial" panose="020B0604020202020204"/>
                </a:rPr>
                <a:t>GB Regressor</a:t>
              </a:r>
              <a:endParaRPr sz="2200" b="1">
                <a:solidFill>
                  <a:srgbClr val="3B82F6"/>
                </a:solidFill>
                <a:latin typeface="Arial" panose="020B0604020202020204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699" y="8634"/>
              <a:ext cx="2260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log revenue target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7" name="组合 46"/>
          <p:cNvGrpSpPr/>
          <p:nvPr userDrawn="1"/>
        </p:nvGrpSpPr>
        <p:grpSpPr>
          <a:xfrm>
            <a:off x="761336" y="5296901"/>
            <a:ext cx="2194560" cy="1079500"/>
            <a:chOff x="5400" y="7272"/>
            <a:chExt cx="3456" cy="1700"/>
          </a:xfrm>
        </p:grpSpPr>
        <p:sp>
          <p:nvSpPr>
            <p:cNvPr id="30" name="Rectangle 29"/>
            <p:cNvSpPr/>
            <p:nvPr/>
          </p:nvSpPr>
          <p:spPr>
            <a:xfrm>
              <a:off x="5400" y="7272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659" y="7502"/>
              <a:ext cx="498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1">
                  <a:solidFill>
                    <a:srgbClr val="9AA9BD"/>
                  </a:solidFill>
                  <a:latin typeface="Arial" panose="020B0604020202020204"/>
                </a:rPr>
                <a:t>ROI</a:t>
              </a:r>
              <a:endParaRPr sz="14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659" y="7906"/>
              <a:ext cx="2938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A855F7"/>
                  </a:solidFill>
                  <a:latin typeface="Arial" panose="020B0604020202020204"/>
                </a:rPr>
                <a:t>GB Regressor</a:t>
              </a:r>
              <a:endParaRPr sz="2200" b="1">
                <a:solidFill>
                  <a:srgbClr val="A855F7"/>
                </a:solidFill>
                <a:latin typeface="Arial" panose="020B0604020202020204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659" y="8634"/>
              <a:ext cx="2369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97th percentile cap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8" name="组合 47"/>
          <p:cNvGrpSpPr/>
          <p:nvPr userDrawn="1"/>
        </p:nvGrpSpPr>
        <p:grpSpPr>
          <a:xfrm>
            <a:off x="3517952" y="3897785"/>
            <a:ext cx="2194560" cy="1080095"/>
            <a:chOff x="9360" y="7272"/>
            <a:chExt cx="3456" cy="1701"/>
          </a:xfrm>
        </p:grpSpPr>
        <p:sp>
          <p:nvSpPr>
            <p:cNvPr id="34" name="Rectangle 33"/>
            <p:cNvSpPr/>
            <p:nvPr/>
          </p:nvSpPr>
          <p:spPr>
            <a:xfrm>
              <a:off x="9360" y="7272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9619" y="7502"/>
              <a:ext cx="1027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1">
                  <a:solidFill>
                    <a:srgbClr val="9AA9BD"/>
                  </a:solidFill>
                  <a:latin typeface="Arial" panose="020B0604020202020204"/>
                </a:rPr>
                <a:t>PROFIT</a:t>
              </a:r>
              <a:endParaRPr sz="14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619" y="7906"/>
              <a:ext cx="2764" cy="533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indent="0" algn="l" defTabSz="457200" rtl="0" eaLnBrk="1" latinLnBrk="0" hangingPunct="1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sz="2200" b="1">
                  <a:solidFill>
                    <a:srgbClr val="2DD4BF"/>
                  </a:solidFill>
                  <a:latin typeface="Arial" panose="020B0604020202020204" pitchFamily="34" charset="0"/>
                </a:rPr>
                <a:t>GB Classifier</a:t>
              </a:r>
              <a:endParaRPr sz="2200" b="1">
                <a:solidFill>
                  <a:srgbClr val="2DD4B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619" y="8634"/>
              <a:ext cx="2191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revenue &gt; budget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9" name="组合 48"/>
          <p:cNvGrpSpPr/>
          <p:nvPr userDrawn="1"/>
        </p:nvGrpSpPr>
        <p:grpSpPr>
          <a:xfrm>
            <a:off x="3517912" y="5296864"/>
            <a:ext cx="2194560" cy="1079500"/>
            <a:chOff x="13320" y="7272"/>
            <a:chExt cx="3456" cy="1700"/>
          </a:xfrm>
        </p:grpSpPr>
        <p:sp>
          <p:nvSpPr>
            <p:cNvPr id="38" name="Rectangle 37"/>
            <p:cNvSpPr/>
            <p:nvPr/>
          </p:nvSpPr>
          <p:spPr>
            <a:xfrm>
              <a:off x="13320" y="7272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3579" y="7502"/>
              <a:ext cx="1192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1">
                  <a:solidFill>
                    <a:srgbClr val="9AA9BD"/>
                  </a:solidFill>
                  <a:latin typeface="Arial" panose="020B0604020202020204"/>
                </a:rPr>
                <a:t>PARAMS</a:t>
              </a:r>
              <a:endParaRPr sz="14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3579" y="7906"/>
              <a:ext cx="2938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FBBF24"/>
                  </a:solidFill>
                  <a:latin typeface="Arial" panose="020B0604020202020204"/>
                </a:rPr>
                <a:t>300 · 0.05 · 4</a:t>
              </a:r>
              <a:endParaRPr sz="2200" b="1">
                <a:solidFill>
                  <a:srgbClr val="FBBF24"/>
                </a:solidFill>
                <a:latin typeface="Arial" panose="020B0604020202020204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3579" y="8634"/>
              <a:ext cx="1978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trees · lr · depth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19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67640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Prediction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25880"/>
            <a:ext cx="2057400" cy="896112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399992"/>
            <a:ext cx="6858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1">
                <a:solidFill>
                  <a:srgbClr val="9AA9BD"/>
                </a:solidFill>
                <a:latin typeface="Arial" panose="020B0604020202020204"/>
              </a:rPr>
              <a:t>INPUT</a:t>
            </a:r>
            <a:endParaRPr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6112" y="1742654"/>
            <a:ext cx="762635" cy="3689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3B82F6"/>
                </a:solidFill>
                <a:latin typeface="Arial" panose="020B0604020202020204"/>
              </a:rPr>
              <a:t>$80M</a:t>
            </a:r>
            <a:endParaRPr sz="24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6167" y="2248464"/>
            <a:ext cx="20066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>
                <a:solidFill>
                  <a:srgbClr val="9AA9BD"/>
                </a:solidFill>
                <a:latin typeface="Arial" panose="020B0604020202020204"/>
              </a:rPr>
              <a:t>Action·July·125 min</a:t>
            </a:r>
            <a:endParaRPr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063240" y="1325880"/>
            <a:ext cx="2057400" cy="896112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7832" y="1399992"/>
            <a:ext cx="11049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1">
                <a:solidFill>
                  <a:srgbClr val="9AA9BD"/>
                </a:solidFill>
                <a:latin typeface="Arial" panose="020B0604020202020204"/>
              </a:rPr>
              <a:t>REVENUE</a:t>
            </a:r>
            <a:endParaRPr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27832" y="1742654"/>
            <a:ext cx="1186180" cy="3689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2DD4BF"/>
                </a:solidFill>
                <a:latin typeface="Arial" panose="020B0604020202020204"/>
              </a:rPr>
              <a:t>$184.1M</a:t>
            </a:r>
            <a:endParaRPr sz="24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97887" y="2248464"/>
            <a:ext cx="19812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>
                <a:solidFill>
                  <a:srgbClr val="9AA9BD"/>
                </a:solidFill>
                <a:latin typeface="Arial" panose="020B0604020202020204"/>
              </a:rPr>
              <a:t>$132.5M - $261.4M</a:t>
            </a:r>
            <a:endParaRPr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394960" y="1325880"/>
            <a:ext cx="2057400" cy="896112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59552" y="1399992"/>
            <a:ext cx="4064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1">
                <a:solidFill>
                  <a:srgbClr val="9AA9BD"/>
                </a:solidFill>
                <a:latin typeface="Arial" panose="020B0604020202020204"/>
              </a:rPr>
              <a:t>ROI</a:t>
            </a:r>
            <a:endParaRPr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559552" y="1742654"/>
            <a:ext cx="762635" cy="3689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A855F7"/>
                </a:solidFill>
                <a:latin typeface="Arial" panose="020B0604020202020204"/>
              </a:rPr>
              <a:t>3.35x</a:t>
            </a:r>
            <a:endParaRPr sz="24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29607" y="2248464"/>
            <a:ext cx="19177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>
                <a:solidFill>
                  <a:srgbClr val="9AA9BD"/>
                </a:solidFill>
                <a:latin typeface="Arial" panose="020B0604020202020204"/>
              </a:rPr>
              <a:t>predicted multiplier</a:t>
            </a:r>
            <a:endParaRPr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726679" y="1325880"/>
            <a:ext cx="2057400" cy="896112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91271" y="1399992"/>
            <a:ext cx="16256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1">
                <a:solidFill>
                  <a:srgbClr val="9AA9BD"/>
                </a:solidFill>
                <a:latin typeface="Arial" panose="020B0604020202020204"/>
              </a:rPr>
              <a:t>PROFIT PROB.</a:t>
            </a:r>
            <a:endParaRPr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891271" y="1742654"/>
            <a:ext cx="864235" cy="3689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86EFAC"/>
                </a:solidFill>
                <a:latin typeface="Arial" panose="020B0604020202020204"/>
              </a:rPr>
              <a:t>84.9%</a:t>
            </a:r>
            <a:endParaRPr sz="2400" b="1">
              <a:solidFill>
                <a:srgbClr val="86EFAC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761326" y="2248464"/>
            <a:ext cx="208915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>
                <a:solidFill>
                  <a:srgbClr val="9AA9BD"/>
                </a:solidFill>
                <a:latin typeface="Arial" panose="020B0604020202020204"/>
              </a:rPr>
              <a:t>P(revenue &gt; budget)</a:t>
            </a:r>
            <a:endParaRPr b="0">
              <a:solidFill>
                <a:srgbClr val="9AA9BD"/>
              </a:solidFill>
              <a:latin typeface="Arial" panose="020B0604020202020204"/>
            </a:endParaRP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731520" y="2743200"/>
          <a:ext cx="8030471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0626"/>
                <a:gridCol w="808549"/>
                <a:gridCol w="1068440"/>
                <a:gridCol w="1140632"/>
                <a:gridCol w="822988"/>
                <a:gridCol w="909618"/>
                <a:gridCol w="909618"/>
              </a:tblGrid>
              <a:tr h="4191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Title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Year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Budget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Revenue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ROI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Rating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Genre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Batman Returns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1992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$80.0M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$280.0M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3.50x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6.2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Action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The Mummy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1999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$80.0M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$415.9M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5.20x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6.6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Action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Face/Off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1997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$80.0M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$245.7M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3.07x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6.9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Action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Mission: Impossible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1996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$80.0M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$457.7M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5.72x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7.1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Action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The Time Machine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2002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$80.0M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$123.7M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1.55x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4.3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Action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48363" y="5379552"/>
            <a:ext cx="91567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>
                <a:solidFill>
                  <a:srgbClr val="9AA9BD"/>
                </a:solidFill>
                <a:latin typeface="Arial" panose="020B0604020202020204"/>
              </a:rPr>
              <a:t>Comparable rows are real films selected by nearest budget within the same primary genre.</a:t>
            </a:r>
            <a:endParaRPr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441" y="0"/>
            <a:ext cx="12216217" cy="685798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02920" y="292608"/>
            <a:ext cx="69215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 pitchFamily="34" charset="0"/>
              </a:rPr>
              <a:t>C</a:t>
            </a:r>
            <a:r>
              <a:rPr lang="en-US" altLang="zh-CN" sz="900" b="1">
                <a:solidFill>
                  <a:srgbClr val="3B82F6"/>
                </a:solidFill>
                <a:latin typeface="Arial" panose="020B0604020202020204" pitchFamily="34" charset="0"/>
              </a:rPr>
              <a:t>hen Ziming</a:t>
            </a:r>
            <a:endParaRPr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20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706691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Insights View — Automated Data Discovery</a:t>
            </a:r>
            <a:endParaRPr lang="en-US" altLang="zh-CN"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745363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 b="0">
                <a:solidFill>
                  <a:srgbClr val="9AA9BD"/>
                </a:solidFill>
                <a:latin typeface="Arial" panose="020B0604020202020204"/>
              </a:rPr>
              <a:t>Four headline KPIs + four trend charts + two qualitative findings, all recomputed live from 5,375 validated films.</a:t>
            </a:r>
            <a:endParaRPr lang="en-US" altLang="zh-CN"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图片 34" descr="post_object_image_26264169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241" y="1560221"/>
            <a:ext cx="10362854" cy="4233041"/>
          </a:xfrm>
          <a:prstGeom prst="rect">
            <a:avLst/>
          </a:prstGeom>
        </p:spPr>
      </p:pic>
      <p:pic>
        <p:nvPicPr>
          <p:cNvPr id="21" name="图片 20" descr="post_object_image_10256547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487" y="1614974"/>
            <a:ext cx="2430528" cy="1180330"/>
          </a:xfrm>
          <a:prstGeom prst="rect">
            <a:avLst/>
          </a:prstGeom>
        </p:spPr>
      </p:pic>
      <p:pic>
        <p:nvPicPr>
          <p:cNvPr id="22" name="图片 21" descr="post_object_image_392282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409" y="1614994"/>
            <a:ext cx="2422836" cy="1146893"/>
          </a:xfrm>
          <a:prstGeom prst="rect">
            <a:avLst/>
          </a:prstGeom>
        </p:spPr>
      </p:pic>
      <p:pic>
        <p:nvPicPr>
          <p:cNvPr id="23" name="图片 22" descr="post_object_image_158479500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9602" y="1595431"/>
            <a:ext cx="2462080" cy="1199885"/>
          </a:xfrm>
          <a:prstGeom prst="rect">
            <a:avLst/>
          </a:prstGeom>
        </p:spPr>
      </p:pic>
      <p:pic>
        <p:nvPicPr>
          <p:cNvPr id="24" name="图片 23" descr="post_object_image_26231480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7038" y="1614994"/>
            <a:ext cx="2440241" cy="1146863"/>
          </a:xfrm>
          <a:prstGeom prst="rect">
            <a:avLst/>
          </a:prstGeom>
        </p:spPr>
      </p:pic>
      <p:pic>
        <p:nvPicPr>
          <p:cNvPr id="25" name="图片 24" descr="post_object_image_7120073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2491" y="2777486"/>
            <a:ext cx="2430517" cy="1641932"/>
          </a:xfrm>
          <a:prstGeom prst="rect">
            <a:avLst/>
          </a:prstGeom>
        </p:spPr>
      </p:pic>
      <p:pic>
        <p:nvPicPr>
          <p:cNvPr id="27" name="图片 26" descr="post_object_image_274521915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6806" y="2795316"/>
            <a:ext cx="2447432" cy="1606358"/>
          </a:xfrm>
          <a:prstGeom prst="rect">
            <a:avLst/>
          </a:prstGeom>
        </p:spPr>
      </p:pic>
      <p:pic>
        <p:nvPicPr>
          <p:cNvPr id="28" name="图片 27" descr="post_object_image_12547422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19594" y="2795316"/>
            <a:ext cx="2462070" cy="1641934"/>
          </a:xfrm>
          <a:prstGeom prst="rect">
            <a:avLst/>
          </a:prstGeom>
        </p:spPr>
      </p:pic>
      <p:pic>
        <p:nvPicPr>
          <p:cNvPr id="30" name="图片 29" descr="post_object_image_349812529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93191" y="2795316"/>
            <a:ext cx="2683902" cy="1606383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1221650" y="4923162"/>
            <a:ext cx="4897968" cy="53460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800" b="1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91%</a:t>
            </a:r>
            <a:r>
              <a:rPr lang="en-US" altLang="zh-CN" sz="800" b="1">
                <a:solidFill>
                  <a:srgbClr val="9AA9B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of films span two or more genres. Blending genres broadens audience reach — pure single-genre films are now the minority. The most common pairings are Comedy + Drama and Drama + Romance, both of which combine broad appeal with lower production costs.</a:t>
            </a:r>
            <a:endParaRPr lang="en-US" altLang="zh-CN" sz="800" b="1">
              <a:solidFill>
                <a:srgbClr val="9AA9BD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112461" y="4542484"/>
            <a:ext cx="3999964" cy="39979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🎭 </a:t>
            </a:r>
            <a:r>
              <a:rPr lang="en-US" altLang="zh-CN" b="1">
                <a:solidFill>
                  <a:schemeClr val="accent1"/>
                </a:solidFill>
              </a:rPr>
              <a:t>FINDING · MULTI-GENRE STRATEGY</a:t>
            </a:r>
            <a:endParaRPr lang="en-US" altLang="zh-CN" b="1">
              <a:solidFill>
                <a:schemeClr val="accent1"/>
              </a:solidFill>
            </a:endParaRPr>
          </a:p>
          <a:p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6119618" y="4542506"/>
            <a:ext cx="3936844" cy="38065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>
                <a:solidFill>
                  <a:srgbClr val="FFFF00"/>
                </a:solidFill>
              </a:rPr>
              <a:t>⭐ FINDING · THE RATING SWEET SPOT</a:t>
            </a:r>
            <a:endParaRPr lang="en-US" altLang="zh-CN">
              <a:solidFill>
                <a:srgbClr val="FFFF00"/>
              </a:solidFill>
            </a:endParaRPr>
          </a:p>
          <a:p>
            <a:endParaRPr lang="en-US" altLang="zh-CN">
              <a:solidFill>
                <a:srgbClr val="FFFF00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202895" y="4923162"/>
            <a:ext cx="4874363" cy="53462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800" b="1">
                <a:solidFill>
                  <a:srgbClr val="9AA9B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Films rated </a:t>
            </a:r>
            <a:r>
              <a:rPr lang="en-US" altLang="zh-CN" sz="800" b="1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6 – 7</a:t>
            </a:r>
            <a:r>
              <a:rPr lang="en-US" altLang="zh-CN" sz="800" b="1">
                <a:solidFill>
                  <a:srgbClr val="9AA9B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earn the highest average box office ($304.3M), outperforming even 8+ critically acclaimed films. Mass-market entertainment that satisfies without polarising audiences consistently captures the widest theatrical audience.</a:t>
            </a:r>
            <a:endParaRPr lang="en-US" altLang="zh-CN" sz="800" b="1">
              <a:solidFill>
                <a:srgbClr val="9AA9BD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16217" cy="685798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02920" y="292608"/>
            <a:ext cx="69215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 pitchFamily="34" charset="0"/>
              </a:rPr>
              <a:t>C</a:t>
            </a:r>
            <a:r>
              <a:rPr lang="en-US" altLang="zh-CN" sz="900" b="1">
                <a:solidFill>
                  <a:srgbClr val="3B82F6"/>
                </a:solidFill>
                <a:latin typeface="Arial" panose="020B0604020202020204" pitchFamily="34" charset="0"/>
              </a:rPr>
              <a:t>hen Ziming</a:t>
            </a:r>
            <a:endParaRPr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21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08585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Export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19515" cy="23510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altLang="zh-CN" sz="1200" b="0">
                <a:solidFill>
                  <a:srgbClr val="9AA9BD"/>
                </a:solidFill>
                <a:latin typeface="Arial" panose="020B0604020202020204"/>
              </a:rPr>
              <a:t>Every filter slice can be downloaded as a CSV — bring your own analysis stack: Excel, R, Python, Tableau, anything that reads UTF-8 CSV.</a:t>
            </a:r>
            <a:endParaRPr lang="en-US" altLang="zh-CN" sz="1200" b="0">
              <a:solidFill>
                <a:srgbClr val="9AA9BD"/>
              </a:solidFill>
              <a:latin typeface="Arial" panose="020B0604020202020204"/>
            </a:endParaRPr>
          </a:p>
          <a:p>
            <a:pPr algn="l"/>
            <a:endParaRPr lang="en-US" altLang="zh-CN"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export_view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5" y="1234440"/>
            <a:ext cx="10131552" cy="5056632"/>
          </a:xfrm>
          <a:prstGeom prst="rect">
            <a:avLst/>
          </a:prstGeom>
          <a:ln w="10160">
            <a:solidFill>
              <a:srgbClr val="27364D"/>
            </a:solidFill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16217" cy="685798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02920" y="292608"/>
            <a:ext cx="69215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 pitchFamily="34" charset="0"/>
              </a:rPr>
              <a:t>C</a:t>
            </a:r>
            <a:r>
              <a:rPr lang="en-US" altLang="zh-CN" sz="900" b="1">
                <a:solidFill>
                  <a:srgbClr val="3B82F6"/>
                </a:solidFill>
                <a:latin typeface="Arial" panose="020B0604020202020204" pitchFamily="34" charset="0"/>
              </a:rPr>
              <a:t>hen Ziming</a:t>
            </a:r>
            <a:endParaRPr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22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86690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 pitchFamily="34" charset="0"/>
              </a:rPr>
              <a:t>C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 pitchFamily="34" charset="0"/>
              </a:rPr>
              <a:t>onclusion</a:t>
            </a:r>
            <a:endParaRPr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19515" cy="23510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 pitchFamily="34" charset="0"/>
              </a:rPr>
              <a:t>Summary </a:t>
            </a:r>
            <a:r>
              <a:rPr lang="zh-CN" altLang="en-US" sz="1200">
                <a:solidFill>
                  <a:srgbClr val="9AA9BD"/>
                </a:solidFill>
                <a:latin typeface="Arial" panose="020B0604020202020204" pitchFamily="34" charset="0"/>
              </a:rPr>
              <a:t>&amp;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 pitchFamily="34" charset="0"/>
              </a:rPr>
              <a:t>future work</a:t>
            </a:r>
            <a:endParaRPr lang="en-US" altLang="zh-CN"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图片 8" descr="post_object_image_245825169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040" y="1322131"/>
            <a:ext cx="3990975" cy="4800600"/>
          </a:xfrm>
          <a:prstGeom prst="rect">
            <a:avLst/>
          </a:prstGeom>
        </p:spPr>
      </p:pic>
      <p:pic>
        <p:nvPicPr>
          <p:cNvPr id="10" name="图片 9" descr="post_object_image_20543798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015" y="1322131"/>
            <a:ext cx="3990975" cy="48006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013064" y="2466329"/>
            <a:ext cx="3026210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8 analytical views</a:t>
            </a:r>
            <a:r>
              <a:rPr lang="en-US" altLang="zh-CN" sz="2400"/>
              <a:t> </a:t>
            </a:r>
            <a:endParaRPr lang="en-US" altLang="zh-CN" sz="2400"/>
          </a:p>
        </p:txBody>
      </p:sp>
      <p:pic>
        <p:nvPicPr>
          <p:cNvPr id="12" name="图片 11" descr="post_object_image_308013390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4040" y="1563918"/>
            <a:ext cx="469051" cy="469051"/>
          </a:xfrm>
          <a:prstGeom prst="rect">
            <a:avLst/>
          </a:prstGeom>
        </p:spPr>
      </p:pic>
      <p:pic>
        <p:nvPicPr>
          <p:cNvPr id="13" name="图片 12" descr="post_object_image_191154000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994" y="1563920"/>
            <a:ext cx="469049" cy="469049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2977375" y="3339422"/>
            <a:ext cx="2605596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3 machine learning </a:t>
            </a:r>
            <a:r>
              <a:rPr lang="en-US" altLang="zh-CN" sz="2400"/>
              <a:t> </a:t>
            </a:r>
            <a:endParaRPr lang="en-US" altLang="zh-CN" sz="2400"/>
          </a:p>
        </p:txBody>
      </p:sp>
      <p:sp>
        <p:nvSpPr>
          <p:cNvPr id="15" name="文本框 14"/>
          <p:cNvSpPr txBox="1"/>
          <p:nvPr/>
        </p:nvSpPr>
        <p:spPr>
          <a:xfrm>
            <a:off x="3190891" y="4212454"/>
            <a:ext cx="2178609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2 statistical test </a:t>
            </a:r>
            <a:r>
              <a:rPr lang="en-US" altLang="zh-CN" sz="2400"/>
              <a:t> </a:t>
            </a:r>
            <a:endParaRPr lang="en-US" altLang="zh-CN" sz="2400"/>
          </a:p>
        </p:txBody>
      </p:sp>
      <p:sp>
        <p:nvSpPr>
          <p:cNvPr id="16" name="文本框 15"/>
          <p:cNvSpPr txBox="1"/>
          <p:nvPr/>
        </p:nvSpPr>
        <p:spPr>
          <a:xfrm>
            <a:off x="7098206" y="2466329"/>
            <a:ext cx="2178609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Live TMDB API </a:t>
            </a:r>
            <a:r>
              <a:rPr lang="en-US" altLang="zh-CN" sz="2400"/>
              <a:t> </a:t>
            </a:r>
            <a:endParaRPr lang="en-US" altLang="zh-CN" sz="2400"/>
          </a:p>
        </p:txBody>
      </p:sp>
      <p:sp>
        <p:nvSpPr>
          <p:cNvPr id="17" name="文本框 16"/>
          <p:cNvSpPr txBox="1"/>
          <p:nvPr/>
        </p:nvSpPr>
        <p:spPr>
          <a:xfrm>
            <a:off x="6879910" y="4212451"/>
            <a:ext cx="2615201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Sentiment analysis </a:t>
            </a:r>
            <a:r>
              <a:rPr lang="en-US" altLang="zh-CN" sz="2400"/>
              <a:t> </a:t>
            </a:r>
            <a:endParaRPr lang="en-US" altLang="zh-CN" sz="2400"/>
          </a:p>
        </p:txBody>
      </p:sp>
      <p:sp>
        <p:nvSpPr>
          <p:cNvPr id="18" name="文本框 17"/>
          <p:cNvSpPr txBox="1"/>
          <p:nvPr/>
        </p:nvSpPr>
        <p:spPr>
          <a:xfrm>
            <a:off x="6661669" y="3339422"/>
            <a:ext cx="3051684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Director and cast data </a:t>
            </a:r>
            <a:r>
              <a:rPr lang="en-US" altLang="zh-CN" sz="2400"/>
              <a:t> </a:t>
            </a:r>
            <a:endParaRPr lang="en-US" altLang="zh-CN" sz="2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16217" cy="685798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85800" y="594360"/>
            <a:ext cx="50292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Arial" panose="020B0604020202020204"/>
              </a:rPr>
              <a:t>26DPWPROJECT · END OF PRESENTATION</a:t>
            </a:r>
            <a:endParaRPr sz="10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502920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4400" b="1">
                <a:solidFill>
                  <a:srgbClr val="F2F6FF"/>
                </a:solidFill>
                <a:latin typeface="Arial" panose="020B0604020202020204"/>
              </a:rPr>
              <a:t>Thank you.</a:t>
            </a:r>
            <a:endParaRPr sz="44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2148840"/>
            <a:ext cx="23495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2DD4BF"/>
                </a:solidFill>
                <a:latin typeface="Arial" panose="020B0604020202020204"/>
              </a:rPr>
              <a:t>Questions welcomed.</a:t>
            </a:r>
            <a:endParaRPr sz="18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5074920"/>
            <a:ext cx="10058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0">
                <a:solidFill>
                  <a:srgbClr val="9AA9BD"/>
                </a:solidFill>
                <a:latin typeface="Arial" panose="020B0604020202020204"/>
              </a:rPr>
              <a:t>Team: ZHOU Can · CHEN Ziming · DAI Ling · LIAO Shuaiyu · PAN Meihao · ZHU Junyu</a:t>
            </a:r>
            <a:endParaRPr sz="14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8288</Words>
  <Application>WPS Office WWO_wpscloud_20260508175737-a9385e8bc7</Application>
  <PresentationFormat>On-screen Show (4:3)</PresentationFormat>
  <Paragraphs>697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4" baseType="lpstr">
      <vt:lpstr>Arial</vt:lpstr>
      <vt:lpstr>宋体</vt:lpstr>
      <vt:lpstr>Wingdings</vt:lpstr>
      <vt:lpstr>Arial</vt:lpstr>
      <vt:lpstr>Calibri</vt:lpstr>
      <vt:lpstr>微软雅黑</vt:lpstr>
      <vt:lpstr>汉仪旗黑KW 55S</vt:lpstr>
      <vt:lpstr>汉仪书宋二KW</vt:lpstr>
      <vt:lpstr>Kingsoft Confetti</vt:lpstr>
      <vt:lpstr>宋体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Steve Canny</cp:lastModifiedBy>
  <dcterms:created xsi:type="dcterms:W3CDTF">2026-05-17T17:08:02Z</dcterms:created>
  <dcterms:modified xsi:type="dcterms:W3CDTF">2026-05-17T17:08:02Z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3DEAA9961D1E2DDC7CB7056A15C7B56A_42</vt:lpwstr>
  </property>
  <property fmtid="{D5CDD505-2E9C-101B-9397-08002B2CF9AE}" pid="3" name="KSOProductBuildVer">
    <vt:lpwstr>2052-12.9.0.26427</vt:lpwstr>
  </property>
</Properties>
</file>